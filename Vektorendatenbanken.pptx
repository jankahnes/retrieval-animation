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1" r:id="rId1"/>
  </p:sldMasterIdLst>
  <p:notesMasterIdLst>
    <p:notesMasterId r:id="rId16"/>
  </p:notesMasterIdLst>
  <p:sldIdLst>
    <p:sldId id="256" r:id="rId2"/>
    <p:sldId id="269" r:id="rId3"/>
    <p:sldId id="270" r:id="rId4"/>
    <p:sldId id="282" r:id="rId5"/>
    <p:sldId id="271" r:id="rId6"/>
    <p:sldId id="272" r:id="rId7"/>
    <p:sldId id="273" r:id="rId8"/>
    <p:sldId id="274" r:id="rId9"/>
    <p:sldId id="275" r:id="rId10"/>
    <p:sldId id="277" r:id="rId11"/>
    <p:sldId id="280" r:id="rId12"/>
    <p:sldId id="283" r:id="rId13"/>
    <p:sldId id="284" r:id="rId14"/>
    <p:sldId id="285" r:id="rId15"/>
  </p:sldIdLst>
  <p:sldSz cx="9144000" cy="5143500" type="screen16x9"/>
  <p:notesSz cx="6858000" cy="9144000"/>
  <p:custShowLst>
    <p:custShow name="Vortrag" id="0">
      <p:sldLst>
        <p:sld r:id="rId2"/>
        <p:sld r:id="rId3"/>
        <p:sld r:id="rId4"/>
        <p:sld r:id="rId5"/>
        <p:sld r:id="rId4"/>
        <p:sld r:id="rId6"/>
        <p:sld r:id="rId7"/>
        <p:sld r:id="rId8"/>
        <p:sld r:id="rId9"/>
        <p:sld r:id="rId10"/>
        <p:sld r:id="rId11"/>
        <p:sld r:id="rId12"/>
        <p:sld r:id="rId13"/>
        <p:sld r:id="rId14"/>
        <p:sld r:id="rId15"/>
      </p:sldLst>
    </p:custShow>
  </p:custShow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an Kahnes" initials="JK" lastIdx="2" clrIdx="0">
    <p:extLst>
      <p:ext uri="{19B8F6BF-5375-455C-9EA6-DF929625EA0E}">
        <p15:presenceInfo xmlns:p15="http://schemas.microsoft.com/office/powerpoint/2012/main" userId="e99c5500197493b2"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E2E8F0"/>
    <a:srgbClr val="FA410E"/>
    <a:srgbClr val="2609FF"/>
    <a:srgbClr val="F1F5F9"/>
    <a:srgbClr val="0F172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327" autoAdjust="0"/>
    <p:restoredTop sz="84320" autoAdjust="0"/>
  </p:normalViewPr>
  <p:slideViewPr>
    <p:cSldViewPr snapToGrid="0">
      <p:cViewPr varScale="1">
        <p:scale>
          <a:sx n="132" d="100"/>
          <a:sy n="132" d="100"/>
        </p:scale>
        <p:origin x="978" y="1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0E4365-AF31-4992-8948-6604A2900B26}" type="datetimeFigureOut">
              <a:rPr lang="de-DE" smtClean="0"/>
              <a:t>04.05.2026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B70021-DA43-4856-9A18-BCB44C5242AB}" type="slidenum">
              <a:rPr lang="de-DE" smtClean="0"/>
              <a:t>‹Nr.›</a:t>
            </a:fld>
            <a:endParaRPr lang="de-DE"/>
          </a:p>
        </p:txBody>
      </p:sp>
    </p:spTree>
    <p:extLst>
      <p:ext uri="{BB962C8B-B14F-4D97-AF65-F5344CB8AC3E}">
        <p14:creationId xmlns:p14="http://schemas.microsoft.com/office/powerpoint/2010/main" val="2785443651"/>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Hallo zusammen. Im folgenden Vortrag geht es um Vektordatenbanken: Also was Wortvektoren sind, wie sie funktionieren, und wozu wir sie in unserem Reverse-Chatbot-Projekt brauchen.</a:t>
            </a:r>
          </a:p>
          <a:p>
            <a:r>
              <a:rPr lang="de-DE" dirty="0"/>
              <a:t>Ich knüpfe damit an Roberts Vortrag zu RAG an und vertiefe den Retrieval-Teil - also den Schritt, in dem aus unserer Wissensbasis die für eine Anfrage relevanten Dokumente herausgesucht werden.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171450" marR="0" lvl="0" indent="-171450" algn="l" defTabSz="685800" rtl="0" eaLnBrk="1" fontAlgn="auto" latinLnBrk="0" hangingPunct="1">
              <a:lnSpc>
                <a:spcPct val="100000"/>
              </a:lnSpc>
              <a:spcBef>
                <a:spcPts val="0"/>
              </a:spcBef>
              <a:spcAft>
                <a:spcPts val="0"/>
              </a:spcAft>
              <a:buClrTx/>
              <a:buSzTx/>
              <a:buFontTx/>
              <a:buChar char="-"/>
              <a:tabLst/>
              <a:defRPr/>
            </a:pPr>
            <a:r>
              <a:rPr lang="de-DE" dirty="0"/>
              <a:t>Eine klassische Suche - etwa über SQL oder einen Volltextindex - findet exakte Übereinstimmungen. Sucht ein Nutzer nach „Kosten der Produktion", findet er kein Dokument, das nur den Begriff „Herstellungsaufwand" enthält, obwohl beide Formulierungen dasselbe bedeuten. Genau diese Lücke ist für eine intelligente Suche auf einer Wissensbasis problematisch.</a:t>
            </a:r>
          </a:p>
          <a:p>
            <a:pPr marL="171450" marR="0" lvl="0" indent="-171450" algn="l" defTabSz="685800" rtl="0" eaLnBrk="1" fontAlgn="auto" latinLnBrk="0" hangingPunct="1">
              <a:lnSpc>
                <a:spcPct val="100000"/>
              </a:lnSpc>
              <a:spcBef>
                <a:spcPts val="0"/>
              </a:spcBef>
              <a:spcAft>
                <a:spcPts val="0"/>
              </a:spcAft>
              <a:buClrTx/>
              <a:buSzTx/>
              <a:buFontTx/>
              <a:buChar char="-"/>
              <a:tabLst/>
              <a:defRPr/>
            </a:pPr>
            <a:r>
              <a:rPr lang="de-DE" dirty="0"/>
              <a:t> </a:t>
            </a:r>
          </a:p>
          <a:p>
            <a:pPr marL="171450" marR="0" lvl="0" indent="-171450" algn="l" defTabSz="685800" rtl="0" eaLnBrk="1" fontAlgn="auto" latinLnBrk="0" hangingPunct="1">
              <a:lnSpc>
                <a:spcPct val="100000"/>
              </a:lnSpc>
              <a:spcBef>
                <a:spcPts val="0"/>
              </a:spcBef>
              <a:spcAft>
                <a:spcPts val="0"/>
              </a:spcAft>
              <a:buClrTx/>
              <a:buSzTx/>
              <a:buFontTx/>
              <a:buChar char="-"/>
              <a:tabLst/>
              <a:defRPr/>
            </a:pPr>
            <a:r>
              <a:rPr lang="de-DE" dirty="0"/>
              <a:t>Vektordatenbanken lösen das Problem über einen anderen Ansatz: Texte werden als Vektoren, auch "</a:t>
            </a:r>
            <a:r>
              <a:rPr lang="de-DE" dirty="0" err="1"/>
              <a:t>Embeddings</a:t>
            </a:r>
            <a:r>
              <a:rPr lang="de-DE" dirty="0"/>
              <a:t>", in einem hochdimensionalen Bedeutungsraum kodiert, und beim Suchen wird Nähe statt Gleichheit berechnet. Zwei Texte mit ähnlicher Bedeutung erhalten in diesem Raum ähnliche Koordinaten, unabhängig davon, ob sie dieselben Wörter verwenden.</a:t>
            </a:r>
          </a:p>
          <a:p>
            <a:pPr marL="171450" marR="0" lvl="0" indent="-171450" algn="l" defTabSz="685800" rtl="0" eaLnBrk="1" fontAlgn="auto" latinLnBrk="0" hangingPunct="1">
              <a:lnSpc>
                <a:spcPct val="100000"/>
              </a:lnSpc>
              <a:spcBef>
                <a:spcPts val="0"/>
              </a:spcBef>
              <a:spcAft>
                <a:spcPts val="0"/>
              </a:spcAft>
              <a:buClrTx/>
              <a:buSzTx/>
              <a:buFontTx/>
              <a:buChar char="-"/>
              <a:tabLst/>
              <a:defRPr/>
            </a:pPr>
            <a:r>
              <a:rPr lang="de-DE" dirty="0"/>
              <a:t> </a:t>
            </a:r>
          </a:p>
          <a:p>
            <a:pPr marL="171450" marR="0" lvl="0" indent="-171450" algn="l" defTabSz="685800" rtl="0" eaLnBrk="1" fontAlgn="auto" latinLnBrk="0" hangingPunct="1">
              <a:lnSpc>
                <a:spcPct val="100000"/>
              </a:lnSpc>
              <a:spcBef>
                <a:spcPts val="0"/>
              </a:spcBef>
              <a:spcAft>
                <a:spcPts val="0"/>
              </a:spcAft>
              <a:buClrTx/>
              <a:buSzTx/>
              <a:buFontTx/>
              <a:buChar char="-"/>
              <a:tabLst/>
              <a:defRPr/>
            </a:pPr>
            <a:r>
              <a:rPr lang="de-DE" dirty="0"/>
              <a:t>Solche </a:t>
            </a:r>
            <a:r>
              <a:rPr lang="de-DE" dirty="0" err="1"/>
              <a:t>Embeddings</a:t>
            </a:r>
            <a:r>
              <a:rPr lang="de-DE" dirty="0"/>
              <a:t> werden mittlerweile in vielen großen Systemen genutzt.</a:t>
            </a:r>
          </a:p>
          <a:p>
            <a:pPr marL="171450" marR="0" lvl="0" indent="-171450" algn="l" defTabSz="685800" rtl="0" eaLnBrk="1" fontAlgn="auto" latinLnBrk="0" hangingPunct="1">
              <a:lnSpc>
                <a:spcPct val="100000"/>
              </a:lnSpc>
              <a:spcBef>
                <a:spcPts val="0"/>
              </a:spcBef>
              <a:spcAft>
                <a:spcPts val="0"/>
              </a:spcAft>
              <a:buClrTx/>
              <a:buSzTx/>
              <a:buFontTx/>
              <a:buChar char="-"/>
              <a:tabLst/>
              <a:defRPr/>
            </a:pPr>
            <a:r>
              <a:rPr lang="de-DE" dirty="0"/>
              <a:t>Google nutzt sie seit 2019 für semantische Rankings.</a:t>
            </a:r>
          </a:p>
          <a:p>
            <a:pPr marL="171450" marR="0" lvl="0" indent="-171450" algn="l" defTabSz="685800" rtl="0" eaLnBrk="1" fontAlgn="auto" latinLnBrk="0" hangingPunct="1">
              <a:lnSpc>
                <a:spcPct val="100000"/>
              </a:lnSpc>
              <a:spcBef>
                <a:spcPts val="0"/>
              </a:spcBef>
              <a:spcAft>
                <a:spcPts val="0"/>
              </a:spcAft>
              <a:buClrTx/>
              <a:buSzTx/>
              <a:buFontTx/>
              <a:buChar char="-"/>
              <a:tabLst/>
              <a:defRPr/>
            </a:pPr>
            <a:r>
              <a:rPr lang="de-DE" dirty="0"/>
              <a:t>Praktisch jeder moderne Empfehlungsalgorithmus verwendet Vektoren als Grundlage, so zum Beispiel </a:t>
            </a:r>
            <a:r>
              <a:rPr lang="de-DE" dirty="0" err="1"/>
              <a:t>TikToks</a:t>
            </a:r>
            <a:r>
              <a:rPr lang="de-DE" dirty="0"/>
              <a:t> "</a:t>
            </a:r>
            <a:r>
              <a:rPr lang="de-DE" dirty="0" err="1"/>
              <a:t>For</a:t>
            </a:r>
            <a:r>
              <a:rPr lang="de-DE" dirty="0"/>
              <a:t>-</a:t>
            </a:r>
            <a:r>
              <a:rPr lang="de-DE" dirty="0" err="1"/>
              <a:t>You</a:t>
            </a:r>
            <a:r>
              <a:rPr lang="de-DE" dirty="0"/>
              <a:t>-Page".</a:t>
            </a:r>
          </a:p>
          <a:p>
            <a:pPr marL="171450" marR="0" lvl="0" indent="-171450" algn="l" defTabSz="685800" rtl="0" eaLnBrk="1" fontAlgn="auto" latinLnBrk="0" hangingPunct="1">
              <a:lnSpc>
                <a:spcPct val="100000"/>
              </a:lnSpc>
              <a:spcBef>
                <a:spcPts val="0"/>
              </a:spcBef>
              <a:spcAft>
                <a:spcPts val="0"/>
              </a:spcAft>
              <a:buClrTx/>
              <a:buSzTx/>
              <a:buFontTx/>
              <a:buChar char="-"/>
              <a:tabLst/>
              <a:defRPr/>
            </a:pPr>
            <a:r>
              <a:rPr lang="de-DE" dirty="0"/>
              <a:t>Außerdem in modernen LLMs sind sie der erste Verarbeitungsschritt jedes Inputs (Grundbaustein).</a:t>
            </a:r>
          </a:p>
          <a:p>
            <a:pPr marL="171450" marR="0" lvl="0" indent="-171450" algn="l" defTabSz="685800" rtl="0" eaLnBrk="1" fontAlgn="auto" latinLnBrk="0" hangingPunct="1">
              <a:lnSpc>
                <a:spcPct val="100000"/>
              </a:lnSpc>
              <a:spcBef>
                <a:spcPts val="0"/>
              </a:spcBef>
              <a:spcAft>
                <a:spcPts val="0"/>
              </a:spcAft>
              <a:buClrTx/>
              <a:buSzTx/>
              <a:buFontTx/>
              <a:buChar char="-"/>
              <a:tabLst/>
              <a:defRPr/>
            </a:pPr>
            <a:r>
              <a:rPr lang="de-DE" dirty="0"/>
              <a:t>Für unser Projekt sind sie die Grundlage der semantischen Dokumentensuche, auf der der Chatbot operiert. (RAG) </a:t>
            </a:r>
          </a:p>
        </p:txBody>
      </p:sp>
      <p:sp>
        <p:nvSpPr>
          <p:cNvPr id="4" name="Foliennummernplatzhalter 3"/>
          <p:cNvSpPr>
            <a:spLocks noGrp="1"/>
          </p:cNvSpPr>
          <p:nvPr>
            <p:ph type="sldNum" sz="quarter" idx="5"/>
          </p:nvPr>
        </p:nvSpPr>
        <p:spPr/>
        <p:txBody>
          <a:bodyPr/>
          <a:lstStyle/>
          <a:p>
            <a:fld id="{7EB70021-DA43-4856-9A18-BCB44C5242AB}" type="slidenum">
              <a:rPr lang="de-DE" smtClean="0"/>
              <a:t>2</a:t>
            </a:fld>
            <a:endParaRPr lang="de-DE"/>
          </a:p>
        </p:txBody>
      </p:sp>
    </p:spTree>
    <p:extLst>
      <p:ext uri="{BB962C8B-B14F-4D97-AF65-F5344CB8AC3E}">
        <p14:creationId xmlns:p14="http://schemas.microsoft.com/office/powerpoint/2010/main" val="6491752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171450" indent="-171450">
              <a:buFontTx/>
              <a:buChar char="-"/>
            </a:pPr>
            <a:r>
              <a:rPr lang="de-DE" dirty="0" err="1"/>
              <a:t>Embeddings</a:t>
            </a:r>
            <a:r>
              <a:rPr lang="de-DE" dirty="0"/>
              <a:t> werden von KI-Modellen erzeugt - das heißt, für die Vektorsuche werden wir, wie beim LLM auch, so ein Modell auf einem eigenen Server hosten.</a:t>
            </a:r>
          </a:p>
          <a:p>
            <a:pPr marL="171450" indent="-171450">
              <a:buFontTx/>
              <a:buChar char="-"/>
            </a:pPr>
            <a:endParaRPr lang="de-DE" dirty="0"/>
          </a:p>
          <a:p>
            <a:pPr marL="171450" indent="-171450">
              <a:buFontTx/>
              <a:buChar char="-"/>
            </a:pPr>
            <a:r>
              <a:rPr lang="de-DE" dirty="0"/>
              <a:t>Diese Embedding-Modelle werden auf riesigen Textkorpora trainiert, die größtenteils aus dem Internet stammen. </a:t>
            </a:r>
          </a:p>
          <a:p>
            <a:pPr marL="171450" indent="-171450">
              <a:buFontTx/>
              <a:buChar char="-"/>
            </a:pPr>
            <a:endParaRPr lang="de-DE" dirty="0"/>
          </a:p>
          <a:p>
            <a:pPr marL="171450" indent="-171450">
              <a:buFontTx/>
              <a:buChar char="-"/>
            </a:pPr>
            <a:r>
              <a:rPr lang="de-DE" dirty="0"/>
              <a:t>Das Trainingsverfahren ist selbstüberwacht - das heißt, es werden keine manuell beschrifteten Daten benötigt, das Modell erzeugt sich seine Lernsignale selbst aus dem Text.</a:t>
            </a:r>
          </a:p>
          <a:p>
            <a:pPr marL="171450" indent="-171450">
              <a:buFontTx/>
              <a:buChar char="-"/>
            </a:pPr>
            <a:r>
              <a:rPr lang="de-DE" dirty="0"/>
              <a:t>Konkret bekommt es Sätze, in denen einzelne Wörter maskiert sind, und muss aus dem Kontext rekonstruieren, welches Wort an dieser Stelle gestanden hat. Zum Beispiel: "Der (...) bellt heute laut im Garten".</a:t>
            </a:r>
          </a:p>
          <a:p>
            <a:pPr marL="171450" indent="-171450">
              <a:buFontTx/>
              <a:buChar char="-"/>
            </a:pPr>
            <a:r>
              <a:rPr lang="de-DE" dirty="0"/>
              <a:t>Über Milliarden solcher Beispiele lernt es dann implizit, wie Wörter zusammenhängen und welche Bedeutung sie im Kontext tragen. </a:t>
            </a:r>
          </a:p>
          <a:p>
            <a:pPr marL="171450" indent="-171450">
              <a:buFontTx/>
              <a:buChar char="-"/>
            </a:pPr>
            <a:endParaRPr lang="de-DE" dirty="0"/>
          </a:p>
          <a:p>
            <a:pPr marL="171450" indent="-171450">
              <a:buFontTx/>
              <a:buChar char="-"/>
            </a:pPr>
            <a:r>
              <a:rPr lang="de-DE" dirty="0"/>
              <a:t>Architektonisch ist das Modell ein Transformer; der zentrale Mechanismus darin heißt Attention und sorgt dafür, dass jedes Token sich an allen anderen Tokens im Satz orientieren kann. </a:t>
            </a:r>
          </a:p>
          <a:p>
            <a:pPr marL="171450" indent="-171450">
              <a:buFontTx/>
              <a:buChar char="-"/>
            </a:pPr>
            <a:r>
              <a:rPr lang="de-DE" dirty="0"/>
              <a:t>Dadurch erhält zum Beispiel das Wort „Harry" eine andere Bedeutung, wenn „Prinz" davorsteht (-&gt; Monarchie, royal, britisch) als wenn "Potter" danach steht (-&gt; Magisch, Fiktion, Fantasy).</a:t>
            </a:r>
          </a:p>
          <a:p>
            <a:pPr marL="171450" indent="-171450">
              <a:buFontTx/>
              <a:buChar char="-"/>
            </a:pPr>
            <a:endParaRPr lang="de-DE" dirty="0"/>
          </a:p>
          <a:p>
            <a:pPr marL="171450" indent="-171450">
              <a:buFontTx/>
              <a:buChar char="-"/>
            </a:pPr>
            <a:r>
              <a:rPr lang="de-DE" dirty="0"/>
              <a:t>Das Ergebnis dieses Trainings ist ein Modell, das für jeden Eingabetext - egal wie lang - einen Vektor mit fester Anzahl an Dimensionen erzeugt.</a:t>
            </a:r>
          </a:p>
          <a:p>
            <a:pPr marL="171450" indent="-171450">
              <a:buFontTx/>
              <a:buChar char="-"/>
            </a:pPr>
            <a:r>
              <a:rPr lang="de-DE" dirty="0"/>
              <a:t>Aktuelle Top-Modelle bewegen sich im Bereich von ca. 3000 Dimensionen.</a:t>
            </a:r>
          </a:p>
          <a:p>
            <a:pPr marL="171450" indent="-171450">
              <a:buFontTx/>
              <a:buChar char="-"/>
            </a:pPr>
            <a:endParaRPr lang="de-DE" dirty="0"/>
          </a:p>
          <a:p>
            <a:pPr marL="171450" indent="-171450">
              <a:buFontTx/>
              <a:buChar char="-"/>
            </a:pPr>
            <a:r>
              <a:rPr lang="de-DE" dirty="0"/>
              <a:t>Ihr könnt euch diese Dimensionen vereinfacht wie ganz viele Stellschrauben mit kleinen Zahlenwerten vorstellen, mit denen das Modell die Bedeutung von Sprache kodiert.</a:t>
            </a:r>
          </a:p>
          <a:p>
            <a:pPr marL="171450" indent="-171450">
              <a:buFontTx/>
              <a:buChar char="-"/>
            </a:pPr>
            <a:r>
              <a:rPr lang="de-DE" dirty="0"/>
              <a:t>Welche einzelne Dimension wofür „zuständig" ist, lässt sich allerdings nicht interpretieren - das ist KI-typisch eine Black Box.</a:t>
            </a:r>
          </a:p>
          <a:p>
            <a:pPr marL="171450" indent="-171450">
              <a:buFontTx/>
              <a:buChar char="-"/>
            </a:pPr>
            <a:r>
              <a:rPr lang="de-DE" dirty="0"/>
              <a:t>Die Bedeutung eines Vektors entsteht erst aus seiner geometrischen Lage relativ zu allen anderen Vektoren: Texte mit ähnlicher Bedeutung liegen nahe beieinander, verschiedene Texte weiter auseinander. Auf der nächsten Folie zeige ich dazu ein klassisches Beispiel.</a:t>
            </a:r>
          </a:p>
        </p:txBody>
      </p:sp>
      <p:sp>
        <p:nvSpPr>
          <p:cNvPr id="4" name="Foliennummernplatzhalter 3"/>
          <p:cNvSpPr>
            <a:spLocks noGrp="1"/>
          </p:cNvSpPr>
          <p:nvPr>
            <p:ph type="sldNum" sz="quarter" idx="5"/>
          </p:nvPr>
        </p:nvSpPr>
        <p:spPr/>
        <p:txBody>
          <a:bodyPr/>
          <a:lstStyle/>
          <a:p>
            <a:fld id="{7EB70021-DA43-4856-9A18-BCB44C5242AB}" type="slidenum">
              <a:rPr lang="de-DE" smtClean="0"/>
              <a:t>3</a:t>
            </a:fld>
            <a:endParaRPr lang="de-DE"/>
          </a:p>
        </p:txBody>
      </p:sp>
    </p:spTree>
    <p:extLst>
      <p:ext uri="{BB962C8B-B14F-4D97-AF65-F5344CB8AC3E}">
        <p14:creationId xmlns:p14="http://schemas.microsoft.com/office/powerpoint/2010/main" val="33871704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171450" indent="-171450">
              <a:buFontTx/>
              <a:buChar char="-"/>
            </a:pPr>
            <a:r>
              <a:rPr lang="de-DE" dirty="0" err="1"/>
              <a:t>Embeddings</a:t>
            </a:r>
            <a:r>
              <a:rPr lang="de-DE" dirty="0"/>
              <a:t> werden von KI-Modellen erzeugt - das heißt, für die Vektorsuche werden wir, wie beim LLM auch, so ein Modell auf einem eigenen Server hosten.</a:t>
            </a:r>
          </a:p>
          <a:p>
            <a:pPr marL="171450" indent="-171450">
              <a:buFontTx/>
              <a:buChar char="-"/>
            </a:pPr>
            <a:endParaRPr lang="de-DE" dirty="0"/>
          </a:p>
          <a:p>
            <a:pPr marL="171450" indent="-171450">
              <a:buFontTx/>
              <a:buChar char="-"/>
            </a:pPr>
            <a:r>
              <a:rPr lang="de-DE" dirty="0"/>
              <a:t>Diese Embedding-Modelle werden auf riesigen Textkorpora trainiert, die größtenteils aus dem Internet stammen. </a:t>
            </a:r>
          </a:p>
          <a:p>
            <a:pPr marL="171450" indent="-171450">
              <a:buFontTx/>
              <a:buChar char="-"/>
            </a:pPr>
            <a:endParaRPr lang="de-DE" dirty="0"/>
          </a:p>
          <a:p>
            <a:pPr marL="171450" indent="-171450">
              <a:buFontTx/>
              <a:buChar char="-"/>
            </a:pPr>
            <a:r>
              <a:rPr lang="de-DE" dirty="0"/>
              <a:t>Das Trainingsverfahren ist selbstüberwacht - das heißt, es werden keine manuell beschrifteten Daten benötigt, das Modell erzeugt sich seine Lernsignale selbst aus dem Text.</a:t>
            </a:r>
          </a:p>
          <a:p>
            <a:pPr marL="171450" indent="-171450">
              <a:buFontTx/>
              <a:buChar char="-"/>
            </a:pPr>
            <a:r>
              <a:rPr lang="de-DE" dirty="0"/>
              <a:t>Konkret bekommt es Sätze, in denen einzelne Wörter maskiert sind, und muss aus dem Kontext rekonstruieren, welches Wort an dieser Stelle gestanden hat. Zum Beispiel: "Der (...) bellt heute laut im Garten".</a:t>
            </a:r>
          </a:p>
          <a:p>
            <a:pPr marL="171450" indent="-171450">
              <a:buFontTx/>
              <a:buChar char="-"/>
            </a:pPr>
            <a:r>
              <a:rPr lang="de-DE" dirty="0"/>
              <a:t>Über Milliarden solcher Beispiele lernt es dann implizit, wie Wörter zusammenhängen und welche Bedeutung sie im Kontext tragen. </a:t>
            </a:r>
          </a:p>
          <a:p>
            <a:pPr marL="171450" indent="-171450">
              <a:buFontTx/>
              <a:buChar char="-"/>
            </a:pPr>
            <a:endParaRPr lang="de-DE" dirty="0"/>
          </a:p>
          <a:p>
            <a:pPr marL="171450" indent="-171450">
              <a:buFontTx/>
              <a:buChar char="-"/>
            </a:pPr>
            <a:r>
              <a:rPr lang="de-DE" dirty="0"/>
              <a:t>Architektonisch ist das Modell ein Transformer; der zentrale Mechanismus darin heißt Attention und sorgt dafür, dass jedes Token sich an allen anderen Tokens im Satz orientieren kann. </a:t>
            </a:r>
          </a:p>
          <a:p>
            <a:pPr marL="171450" indent="-171450">
              <a:buFontTx/>
              <a:buChar char="-"/>
            </a:pPr>
            <a:r>
              <a:rPr lang="de-DE" dirty="0"/>
              <a:t>Dadurch erhält zum Beispiel das Wort „Harry" eine andere Bedeutung, wenn „Prinz" davorsteht (-&gt; Monarchie, royal, britisch) als wenn "Potter" danach steht (-&gt; Magisch, Fiktion, Fantasy).</a:t>
            </a:r>
          </a:p>
          <a:p>
            <a:pPr marL="171450" indent="-171450">
              <a:buFontTx/>
              <a:buChar char="-"/>
            </a:pPr>
            <a:endParaRPr lang="de-DE" dirty="0"/>
          </a:p>
          <a:p>
            <a:pPr marL="171450" indent="-171450">
              <a:buFontTx/>
              <a:buChar char="-"/>
            </a:pPr>
            <a:r>
              <a:rPr lang="de-DE" dirty="0"/>
              <a:t>Das Ergebnis dieses Trainings ist ein Modell, das für jeden Eingabetext - egal wie lang - einen Vektor mit fester Anzahl an Dimensionen erzeugt.</a:t>
            </a:r>
          </a:p>
          <a:p>
            <a:pPr marL="171450" indent="-171450">
              <a:buFontTx/>
              <a:buChar char="-"/>
            </a:pPr>
            <a:r>
              <a:rPr lang="de-DE" dirty="0"/>
              <a:t>Aktuelle Top-Modelle bewegen sich im Bereich von ca. 3000 Dimensionen.</a:t>
            </a:r>
          </a:p>
          <a:p>
            <a:pPr marL="171450" indent="-171450">
              <a:buFontTx/>
              <a:buChar char="-"/>
            </a:pPr>
            <a:endParaRPr lang="de-DE" dirty="0"/>
          </a:p>
          <a:p>
            <a:pPr marL="171450" indent="-171450">
              <a:buFontTx/>
              <a:buChar char="-"/>
            </a:pPr>
            <a:r>
              <a:rPr lang="de-DE" dirty="0"/>
              <a:t>Ihr könnt euch diese Dimensionen vereinfacht wie ganz viele Stellschrauben mit kleinen Zahlenwerten vorstellen, mit denen das Modell die Bedeutung von Sprache kodiert.</a:t>
            </a:r>
          </a:p>
          <a:p>
            <a:pPr marL="171450" indent="-171450">
              <a:buFontTx/>
              <a:buChar char="-"/>
            </a:pPr>
            <a:r>
              <a:rPr lang="de-DE" dirty="0"/>
              <a:t>Welche einzelne Dimension wofür „zuständig" ist, lässt sich allerdings nicht interpretieren - das ist KI-typisch eine Black Box.</a:t>
            </a:r>
          </a:p>
          <a:p>
            <a:pPr marL="171450" indent="-171450">
              <a:buFontTx/>
              <a:buChar char="-"/>
            </a:pPr>
            <a:r>
              <a:rPr lang="de-DE" dirty="0"/>
              <a:t>Die Bedeutung eines Vektors entsteht erst aus seiner geometrischen Lage relativ zu allen anderen Vektoren: Texte mit ähnlicher Bedeutung liegen nahe beieinander, verschiedene Texte weiter auseinander. Auf der nächsten Folie zeige ich dazu ein klassisches Beispiel.</a:t>
            </a:r>
          </a:p>
        </p:txBody>
      </p:sp>
      <p:sp>
        <p:nvSpPr>
          <p:cNvPr id="4" name="Foliennummernplatzhalter 3"/>
          <p:cNvSpPr>
            <a:spLocks noGrp="1"/>
          </p:cNvSpPr>
          <p:nvPr>
            <p:ph type="sldNum" sz="quarter" idx="5"/>
          </p:nvPr>
        </p:nvSpPr>
        <p:spPr/>
        <p:txBody>
          <a:bodyPr/>
          <a:lstStyle/>
          <a:p>
            <a:fld id="{7EB70021-DA43-4856-9A18-BCB44C5242AB}" type="slidenum">
              <a:rPr lang="de-DE" smtClean="0"/>
              <a:t>4</a:t>
            </a:fld>
            <a:endParaRPr lang="de-DE"/>
          </a:p>
        </p:txBody>
      </p:sp>
    </p:spTree>
    <p:extLst>
      <p:ext uri="{BB962C8B-B14F-4D97-AF65-F5344CB8AC3E}">
        <p14:creationId xmlns:p14="http://schemas.microsoft.com/office/powerpoint/2010/main" val="28071294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171450" indent="-171450">
              <a:buFontTx/>
              <a:buChar char="-"/>
            </a:pPr>
            <a:r>
              <a:rPr lang="de-DE" dirty="0"/>
              <a:t>Dieses Beispiel ist eine Vereinfachung, aber ist trotzdem gut zum Verständnis.</a:t>
            </a:r>
          </a:p>
          <a:p>
            <a:pPr marL="171450" indent="-171450">
              <a:buFontTx/>
              <a:buChar char="-"/>
            </a:pPr>
            <a:r>
              <a:rPr lang="de-DE" dirty="0"/>
              <a:t>Nehmen wir für die Visualisierung an, dass der Bedeutungsraum hier nur zwei Dimensionen hat. </a:t>
            </a:r>
          </a:p>
          <a:p>
            <a:pPr marL="171450" indent="-171450">
              <a:buFontTx/>
              <a:buChar char="-"/>
            </a:pPr>
            <a:r>
              <a:rPr lang="de-DE" dirty="0"/>
              <a:t>Wir betrachten die Wortvektoren von „Mann" und „Frau" und ziehen dazwischen einen Differenzvektor.</a:t>
            </a:r>
          </a:p>
          <a:p>
            <a:pPr marL="171450" indent="-171450">
              <a:buFontTx/>
              <a:buChar char="-"/>
            </a:pPr>
            <a:r>
              <a:rPr lang="de-DE" dirty="0"/>
              <a:t>Wendet man denselben Vektor auf den Punkt „König" an, landet man ungefähr beim Punkt „Königin". Das heißt: Der Differenzvektor entspricht in diesem Bedeutungsraum näherungsweise der semantischen Beziehung männlich zu weiblich. </a:t>
            </a:r>
          </a:p>
          <a:p>
            <a:pPr marL="171450" indent="-171450">
              <a:buFontTx/>
              <a:buChar char="-"/>
            </a:pPr>
            <a:endParaRPr lang="de-DE" dirty="0"/>
          </a:p>
          <a:p>
            <a:pPr marL="171450" indent="-171450">
              <a:buFontTx/>
              <a:buChar char="-"/>
            </a:pPr>
            <a:r>
              <a:rPr lang="de-DE" dirty="0"/>
              <a:t>Analog kann man Differenzvektoren finden, die etwa der Beziehung „Land zu typischer Speise" entsprechen - „Deutschland zu Bratwurst" verhält sich ähnlich wie „Japan zu Sushi".</a:t>
            </a:r>
          </a:p>
          <a:p>
            <a:pPr marL="171450" indent="-171450">
              <a:buFontTx/>
              <a:buChar char="-"/>
            </a:pPr>
            <a:r>
              <a:rPr lang="de-DE" dirty="0"/>
              <a:t> </a:t>
            </a:r>
          </a:p>
          <a:p>
            <a:pPr marL="171450" indent="-171450">
              <a:buFontTx/>
              <a:buChar char="-"/>
            </a:pPr>
            <a:r>
              <a:rPr lang="de-DE" dirty="0"/>
              <a:t>Wichtig zur Einordnung: Dieses Beispiel ist schon über 10 Jahre alt, und weil Embedding-Modelle heute eher mit </a:t>
            </a:r>
            <a:r>
              <a:rPr lang="de-DE" dirty="0" err="1"/>
              <a:t>Textabschitten</a:t>
            </a:r>
            <a:r>
              <a:rPr lang="de-DE" dirty="0"/>
              <a:t> und nicht mehr mit einzelnen Wörtern arbeiten, ist es nicht mehr wirklich so reproduzierbar. Die Grundidee bleibt jedoch die gleiche, und es ist trotzdem ein gutes Beispiel zum Verständnis.</a:t>
            </a:r>
          </a:p>
        </p:txBody>
      </p:sp>
      <p:sp>
        <p:nvSpPr>
          <p:cNvPr id="4" name="Foliennummernplatzhalter 3"/>
          <p:cNvSpPr>
            <a:spLocks noGrp="1"/>
          </p:cNvSpPr>
          <p:nvPr>
            <p:ph type="sldNum" sz="quarter" idx="5"/>
          </p:nvPr>
        </p:nvSpPr>
        <p:spPr/>
        <p:txBody>
          <a:bodyPr/>
          <a:lstStyle/>
          <a:p>
            <a:fld id="{7EB70021-DA43-4856-9A18-BCB44C5242AB}" type="slidenum">
              <a:rPr lang="de-DE" smtClean="0"/>
              <a:t>5</a:t>
            </a:fld>
            <a:endParaRPr lang="de-DE"/>
          </a:p>
        </p:txBody>
      </p:sp>
    </p:spTree>
    <p:extLst>
      <p:ext uri="{BB962C8B-B14F-4D97-AF65-F5344CB8AC3E}">
        <p14:creationId xmlns:p14="http://schemas.microsoft.com/office/powerpoint/2010/main" val="5133586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171450" indent="-171450">
              <a:buFontTx/>
              <a:buChar char="-"/>
            </a:pPr>
            <a:r>
              <a:rPr lang="de-DE" dirty="0"/>
              <a:t>Damit ihr die Vektordatenbanken besser einordnen könnt, vergleiche ich sie kurz mit relationalen Datenbanken, die euch vermutlich vertrauter sind.</a:t>
            </a:r>
          </a:p>
          <a:p>
            <a:pPr marL="171450" indent="-171450">
              <a:buFontTx/>
              <a:buChar char="-"/>
            </a:pPr>
            <a:r>
              <a:rPr lang="de-DE" dirty="0"/>
              <a:t>Der Kern von diesem Vergleich ist: Relationale Datenbanken arbeiten mit Wahr und Falsch. Also bei einer Abfrage wird geschaut: </a:t>
            </a:r>
          </a:p>
          <a:p>
            <a:pPr marL="171450" indent="-171450">
              <a:buFontTx/>
              <a:buChar char="-"/>
            </a:pPr>
            <a:r>
              <a:rPr lang="de-DE" dirty="0"/>
              <a:t>Gilt X,Y,Z für eine Reihe? Und das Ergebnis wird als Boolesche Treffermenge zurückgegeben.</a:t>
            </a:r>
          </a:p>
          <a:p>
            <a:pPr marL="171450" indent="-171450">
              <a:buFontTx/>
              <a:buChar char="-"/>
            </a:pPr>
            <a:r>
              <a:rPr lang="de-DE" dirty="0"/>
              <a:t>Vektordatenbanken sind hingegen nicht so: Hier wird hauptsächlich nach Ähnlichkeit sortiert; und die Top-k zurückgegeben.</a:t>
            </a:r>
          </a:p>
          <a:p>
            <a:pPr marL="171450" indent="-171450">
              <a:buFontTx/>
              <a:buChar char="-"/>
            </a:pPr>
            <a:endParaRPr lang="de-DE" dirty="0"/>
          </a:p>
          <a:p>
            <a:pPr marL="171450" indent="-171450">
              <a:buFontTx/>
              <a:buChar char="-"/>
            </a:pPr>
            <a:r>
              <a:rPr lang="de-DE" dirty="0"/>
              <a:t>Rechts seht ihr ein Beispiel, wie ein Eintrag in einer Vektordatenbank aussehen kann. Neben dem eigentlichen Vektor enthält der Eintrag eine ID und ein Payload-Feld, in dem der ursprüngliche Text und Metadaten wie die Quelle gespeichert sind. </a:t>
            </a:r>
          </a:p>
          <a:p>
            <a:pPr marL="171450" indent="-171450">
              <a:buFontTx/>
              <a:buChar char="-"/>
            </a:pPr>
            <a:r>
              <a:rPr lang="de-DE" dirty="0"/>
              <a:t>Diese Felder erfüllen zwei Zwecke: Sie ermöglichen es, einen Treffer wieder auf seine Quelle zurückzuführen, und sie erlauben Filteroperationen über Metadaten - etwa „nur Dokumente vom Typ PDF" oder „nur Einträge ab einem bestimmten Datum".</a:t>
            </a:r>
          </a:p>
          <a:p>
            <a:pPr marL="171450" indent="-171450">
              <a:buFontTx/>
              <a:buChar char="-"/>
            </a:pPr>
            <a:r>
              <a:rPr lang="de-DE" dirty="0"/>
              <a:t> </a:t>
            </a:r>
          </a:p>
          <a:p>
            <a:pPr marL="171450" indent="-171450">
              <a:buFontTx/>
              <a:buChar char="-"/>
            </a:pPr>
            <a:r>
              <a:rPr lang="de-DE" dirty="0"/>
              <a:t>Zusammenfassen lässt sich der Unterschied so: Vektordatenbanken beantworten die Frage „Was ist ähnlich?" - relationale Datenbanken beantworten die Frage „Was ist gleich?".</a:t>
            </a:r>
          </a:p>
        </p:txBody>
      </p:sp>
      <p:sp>
        <p:nvSpPr>
          <p:cNvPr id="4" name="Foliennummernplatzhalter 3"/>
          <p:cNvSpPr>
            <a:spLocks noGrp="1"/>
          </p:cNvSpPr>
          <p:nvPr>
            <p:ph type="sldNum" sz="quarter" idx="5"/>
          </p:nvPr>
        </p:nvSpPr>
        <p:spPr/>
        <p:txBody>
          <a:bodyPr/>
          <a:lstStyle/>
          <a:p>
            <a:fld id="{7EB70021-DA43-4856-9A18-BCB44C5242AB}" type="slidenum">
              <a:rPr lang="de-DE" smtClean="0"/>
              <a:t>6</a:t>
            </a:fld>
            <a:endParaRPr lang="de-DE"/>
          </a:p>
        </p:txBody>
      </p:sp>
    </p:spTree>
    <p:extLst>
      <p:ext uri="{BB962C8B-B14F-4D97-AF65-F5344CB8AC3E}">
        <p14:creationId xmlns:p14="http://schemas.microsoft.com/office/powerpoint/2010/main" val="34569722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171450" indent="-171450">
              <a:buFontTx/>
              <a:buChar char="-"/>
            </a:pPr>
            <a:r>
              <a:rPr lang="de-DE" dirty="0"/>
              <a:t>Um jetzt das Thema Retrieval nochmal mit diesem Wissen über Vektoren und Vektordatenbanken zu vervollständigen, habe ich euch eine Animation mitgebracht. </a:t>
            </a:r>
          </a:p>
          <a:p>
            <a:pPr marL="171450" indent="-171450">
              <a:buFontTx/>
              <a:buChar char="-"/>
            </a:pPr>
            <a:r>
              <a:rPr lang="de-DE" dirty="0"/>
              <a:t>S1: Wie ihr in der Mitte sehen könnt, ist das unser Vektormodell.</a:t>
            </a:r>
          </a:p>
          <a:p>
            <a:pPr marL="171450" indent="-171450">
              <a:buFontTx/>
              <a:buChar char="-"/>
            </a:pPr>
            <a:r>
              <a:rPr lang="de-DE" dirty="0"/>
              <a:t>S2: Dann haben wir hier unsere Wissensbasis - also alle möglichen Input-Texte, auf denen wir suchen wollen.</a:t>
            </a:r>
          </a:p>
          <a:p>
            <a:pPr marL="171450" indent="-171450">
              <a:buFontTx/>
              <a:buChar char="-"/>
            </a:pPr>
            <a:r>
              <a:rPr lang="de-DE" dirty="0"/>
              <a:t>S3: Und wie Robert schon erklärt hatte, werden diese </a:t>
            </a:r>
            <a:r>
              <a:rPr lang="de-DE" dirty="0" err="1"/>
              <a:t>gechunkt</a:t>
            </a:r>
            <a:r>
              <a:rPr lang="de-DE" dirty="0"/>
              <a:t> - also in Textabschnitte eingeteilt.</a:t>
            </a:r>
          </a:p>
          <a:p>
            <a:pPr marL="171450" indent="-171450">
              <a:buFontTx/>
              <a:buChar char="-"/>
            </a:pPr>
            <a:r>
              <a:rPr lang="de-DE" dirty="0"/>
              <a:t>S4: Jetzt kommt unsere Vektordatenbank ins Spiel: Die Chunks werden vektorisiert, und können dann in unserer Datenbank gespeichert und indexiert werden.</a:t>
            </a:r>
          </a:p>
          <a:p>
            <a:pPr marL="171450" indent="-171450">
              <a:buFontTx/>
              <a:buChar char="-"/>
            </a:pPr>
            <a:r>
              <a:rPr lang="de-DE" dirty="0"/>
              <a:t>S5: Sagen wir, jetzt haben wir eine Suchanfrage.</a:t>
            </a:r>
          </a:p>
          <a:p>
            <a:pPr marL="171450" indent="-171450">
              <a:buFontTx/>
              <a:buChar char="-"/>
            </a:pPr>
            <a:r>
              <a:rPr lang="de-DE" dirty="0"/>
              <a:t>S6: Diese müssen wir auch vor dem Abgleich erst vektorisieren.</a:t>
            </a:r>
          </a:p>
          <a:p>
            <a:pPr marL="171450" indent="-171450">
              <a:buFontTx/>
              <a:buChar char="-"/>
            </a:pPr>
            <a:r>
              <a:rPr lang="de-DE" dirty="0"/>
              <a:t>S7: Jetzt kommt der Abgleich an sich. Hier wird also die Ähnlichkeit des Query-Vektors zu jedem Chunk-Vektor berechnet. Dafür nehmen wir üblicherweise die Cosinus-Ähnlichkeit. Diese schaut nur auf den Winkel zwischen den Vektoren - und gibt zurück von 0 bis 1, wie spitz dieser ist. Desto spitzer, desto ähnlicher.</a:t>
            </a:r>
          </a:p>
          <a:p>
            <a:pPr marL="171450" indent="-171450">
              <a:buFontTx/>
              <a:buChar char="-"/>
            </a:pPr>
            <a:r>
              <a:rPr lang="de-DE" dirty="0"/>
              <a:t>S8: Das wird dann mit allen Chunks wiederholt.</a:t>
            </a:r>
          </a:p>
          <a:p>
            <a:pPr marL="171450" indent="-171450">
              <a:buFontTx/>
              <a:buChar char="-"/>
            </a:pPr>
            <a:r>
              <a:rPr lang="de-DE" dirty="0"/>
              <a:t>S9: Nun, da wir uns alle Ähnlichkeiten gemerkt haben, können wir nach ihnen ranken.</a:t>
            </a:r>
          </a:p>
          <a:p>
            <a:pPr marL="171450" indent="-171450">
              <a:buFontTx/>
              <a:buChar char="-"/>
            </a:pPr>
            <a:r>
              <a:rPr lang="de-DE" dirty="0"/>
              <a:t>S10: Am Ende werden die top-k (also </a:t>
            </a:r>
            <a:r>
              <a:rPr lang="de-DE" dirty="0" err="1"/>
              <a:t>zb</a:t>
            </a:r>
            <a:r>
              <a:rPr lang="de-DE" dirty="0"/>
              <a:t>. top 3) Chunks gewählt. Das sind jetzt die Suchergebnisse - und werden wie Robert schon sagte, als Kontext für unseren Chatbot zurückgegeben.</a:t>
            </a:r>
          </a:p>
          <a:p>
            <a:pPr marL="171450" indent="-171450">
              <a:buFontTx/>
              <a:buChar char="-"/>
            </a:pPr>
            <a:endParaRPr lang="de-DE" dirty="0"/>
          </a:p>
          <a:p>
            <a:pPr marL="171450" indent="-171450">
              <a:buFontTx/>
              <a:buChar char="-"/>
            </a:pPr>
            <a:r>
              <a:rPr lang="de-DE" dirty="0"/>
              <a:t>Das ist natürlich wieder eine Vereinfachung gewesen. Ich sagte ja schon, dass es auf Vektordatenbanken auch Indexe gibt. Mit einem solchen Index (</a:t>
            </a:r>
            <a:r>
              <a:rPr lang="de-DE" dirty="0" err="1"/>
              <a:t>zb</a:t>
            </a:r>
            <a:r>
              <a:rPr lang="de-DE" dirty="0"/>
              <a:t>. HNSW) muss man eben nicht mit jedem Chunk vergleichen, sondern nur mit einem Bruchteil. Somit kann ermöglicht werden, dass man die Top-k von Millionen Chunks in Millisekunden bekommt.</a:t>
            </a:r>
          </a:p>
        </p:txBody>
      </p:sp>
      <p:sp>
        <p:nvSpPr>
          <p:cNvPr id="4" name="Foliennummernplatzhalter 3"/>
          <p:cNvSpPr>
            <a:spLocks noGrp="1"/>
          </p:cNvSpPr>
          <p:nvPr>
            <p:ph type="sldNum" sz="quarter" idx="5"/>
          </p:nvPr>
        </p:nvSpPr>
        <p:spPr/>
        <p:txBody>
          <a:bodyPr/>
          <a:lstStyle/>
          <a:p>
            <a:fld id="{7EB70021-DA43-4856-9A18-BCB44C5242AB}" type="slidenum">
              <a:rPr lang="de-DE" smtClean="0"/>
              <a:t>7</a:t>
            </a:fld>
            <a:endParaRPr lang="de-DE"/>
          </a:p>
        </p:txBody>
      </p:sp>
    </p:spTree>
    <p:extLst>
      <p:ext uri="{BB962C8B-B14F-4D97-AF65-F5344CB8AC3E}">
        <p14:creationId xmlns:p14="http://schemas.microsoft.com/office/powerpoint/2010/main" val="10955259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171450" indent="-171450">
              <a:buFontTx/>
              <a:buChar char="-"/>
            </a:pPr>
            <a:r>
              <a:rPr lang="de-DE" dirty="0"/>
              <a:t>Auch wenn Vektorsuche für RAG unentbehrlich ist, hat sie in der Praxis einige Blind-Spots, die man kennen sollte.</a:t>
            </a:r>
          </a:p>
          <a:p>
            <a:pPr marL="171450" indent="-171450">
              <a:buFontTx/>
              <a:buChar char="-"/>
            </a:pPr>
            <a:r>
              <a:rPr lang="de-DE" dirty="0"/>
              <a:t> </a:t>
            </a:r>
          </a:p>
          <a:p>
            <a:pPr marL="171450" indent="-171450">
              <a:buFontTx/>
              <a:buChar char="-"/>
            </a:pPr>
            <a:r>
              <a:rPr lang="de-DE" dirty="0"/>
              <a:t>Stellen wir uns vor, wir haben unseren Reverse-Chatbot bei einer Firma deployt und stellen ihm als einziges Retrieval-Tool die Vektorsuche zur Verfügung. </a:t>
            </a:r>
          </a:p>
          <a:p>
            <a:pPr marL="171450" indent="-171450">
              <a:buFontTx/>
              <a:buChar char="-"/>
            </a:pPr>
            <a:endParaRPr lang="de-DE" dirty="0"/>
          </a:p>
          <a:p>
            <a:pPr marL="171450" indent="-171450">
              <a:buFontTx/>
              <a:buChar char="-"/>
            </a:pPr>
            <a:r>
              <a:rPr lang="de-DE" dirty="0"/>
              <a:t>Der Chatbot sucht nach Informationen über den CEO der Firma, mit der Query „CEO". Das eigentlich gesuchte Dokument beschreibt den CEO persönlich, etwa seine Motivation und seinen beruflichen Werdegang - das Wort „CEO" kommt darin aber vielleicht nur ein- oder zweimal vor. </a:t>
            </a:r>
          </a:p>
          <a:p>
            <a:pPr marL="171450" indent="-171450">
              <a:buFontTx/>
              <a:buChar char="-"/>
            </a:pPr>
            <a:endParaRPr lang="de-DE" dirty="0"/>
          </a:p>
          <a:p>
            <a:pPr marL="171450" indent="-171450">
              <a:buFontTx/>
              <a:buChar char="-"/>
            </a:pPr>
            <a:r>
              <a:rPr lang="de-DE" dirty="0"/>
              <a:t>Andere Dokumente, etwa über den CFO, enthalten dagegen viel öfter Begriffe, die im Bedeutungsraum sehr nahe an „CEO" liegen: „CFO", „COO", „Geschäftsleitung", „Führungsebene".</a:t>
            </a:r>
          </a:p>
          <a:p>
            <a:pPr marL="171450" indent="-171450">
              <a:buFontTx/>
              <a:buChar char="-"/>
            </a:pPr>
            <a:r>
              <a:rPr lang="de-DE" dirty="0"/>
              <a:t>In der Folge können diese CFO-Dokumente in der Vektorsuche höher ranken als das eigentliche CEO-Dokument, obwohl sie inhaltlich gar nicht relevant sind. Diesen Effekt habe ich mit einem aktuellen Embedding-Modell selbst reproduziert.</a:t>
            </a:r>
          </a:p>
          <a:p>
            <a:pPr marL="171450" indent="-171450">
              <a:buFontTx/>
              <a:buChar char="-"/>
            </a:pPr>
            <a:r>
              <a:rPr lang="de-DE" dirty="0"/>
              <a:t> </a:t>
            </a:r>
          </a:p>
          <a:p>
            <a:pPr marL="171450" indent="-171450">
              <a:buFontTx/>
              <a:buChar char="-"/>
            </a:pPr>
            <a:r>
              <a:rPr lang="de-DE" dirty="0"/>
              <a:t>Es gibt weitere typische Schwachstellen. Seltene Fachbegriffe, IDs oder Produktcodes haben für ein Embedding-Modell keine gelernte Semantik - wenn ein interner Code wie „X-42/B" im Trainingsmaterial nicht häufig genug vorkommt, kann das Modell ihn schlicht nicht sinnvoll im Bedeutungsraum platzieren - das nennt man dann "OOC/Out </a:t>
            </a:r>
            <a:r>
              <a:rPr lang="de-DE" dirty="0" err="1"/>
              <a:t>of</a:t>
            </a:r>
            <a:r>
              <a:rPr lang="de-DE" dirty="0"/>
              <a:t> </a:t>
            </a:r>
            <a:r>
              <a:rPr lang="de-DE" dirty="0" err="1"/>
              <a:t>vocabulary</a:t>
            </a:r>
            <a:r>
              <a:rPr lang="de-DE" dirty="0"/>
              <a:t>". Für unseren Use Case ist das relevant, weil interne Produkt- oder Vorgangscodes in Firmendokumenten häufig vorkommen werden. </a:t>
            </a:r>
          </a:p>
          <a:p>
            <a:pPr marL="171450" indent="-171450">
              <a:buFontTx/>
              <a:buChar char="-"/>
            </a:pPr>
            <a:r>
              <a:rPr lang="de-DE" dirty="0"/>
              <a:t>Auch Negationen sind problematisch: „nicht toxisch" liegt im Vektorraum sehr nahe an „toxisch", weil die Bedeutungsverschiebung durch ein einziges Wort vom Modell oft nicht stark genug aufgelöst wird.</a:t>
            </a:r>
          </a:p>
          <a:p>
            <a:pPr marL="171450" indent="-171450">
              <a:buFontTx/>
              <a:buChar char="-"/>
            </a:pPr>
            <a:r>
              <a:rPr lang="de-DE" dirty="0"/>
              <a:t> </a:t>
            </a:r>
          </a:p>
          <a:p>
            <a:pPr marL="171450" indent="-171450">
              <a:buFontTx/>
              <a:buChar char="-"/>
            </a:pPr>
            <a:r>
              <a:rPr lang="de-DE" dirty="0"/>
              <a:t>Die etablierte Lösung dafür ist Hybrid-Retrieval. Dabei kombiniert man Vektorsuche mit einem klassischen Keyword-Verfahren - meist BM25, das sich seit langem als Standard für Keyword-Suche etabliert hat - und fusioniert die Ergebnisse anschließend gewichtet, typischerweise über </a:t>
            </a:r>
            <a:r>
              <a:rPr lang="de-DE" dirty="0" err="1"/>
              <a:t>Reciprocal</a:t>
            </a:r>
            <a:r>
              <a:rPr lang="de-DE" dirty="0"/>
              <a:t> Rank Fusion. Dadurch werden exakte Treffer auf Codes, Eigennamen und seltene Begriffe nicht mehr verschluckt, und die semantische Komponente sorgt weiterhin dafür, dass auch sinngemäße Treffer erkannt werden.</a:t>
            </a:r>
          </a:p>
        </p:txBody>
      </p:sp>
      <p:sp>
        <p:nvSpPr>
          <p:cNvPr id="4" name="Foliennummernplatzhalter 3"/>
          <p:cNvSpPr>
            <a:spLocks noGrp="1"/>
          </p:cNvSpPr>
          <p:nvPr>
            <p:ph type="sldNum" sz="quarter" idx="5"/>
          </p:nvPr>
        </p:nvSpPr>
        <p:spPr/>
        <p:txBody>
          <a:bodyPr/>
          <a:lstStyle/>
          <a:p>
            <a:fld id="{7EB70021-DA43-4856-9A18-BCB44C5242AB}" type="slidenum">
              <a:rPr lang="de-DE" smtClean="0"/>
              <a:t>8</a:t>
            </a:fld>
            <a:endParaRPr lang="de-DE"/>
          </a:p>
        </p:txBody>
      </p:sp>
    </p:spTree>
    <p:extLst>
      <p:ext uri="{BB962C8B-B14F-4D97-AF65-F5344CB8AC3E}">
        <p14:creationId xmlns:p14="http://schemas.microsoft.com/office/powerpoint/2010/main" val="21715668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171450" indent="-171450">
              <a:buFontTx/>
              <a:buChar char="-"/>
            </a:pPr>
            <a:r>
              <a:rPr lang="de-DE" dirty="0"/>
              <a:t>Hier seht ihr dann, wie so ein Retrieval-Tool konkret für den Chatbot aussehen könnte: Es nimmt eine Vektor-Query und eine getrennte BM25-Query entgegen, als auch (optional) eine Gewichtung zwischen beiden und optionale Ausschlusswörter.</a:t>
            </a:r>
          </a:p>
          <a:p>
            <a:pPr marL="171450" indent="-171450">
              <a:buFontTx/>
              <a:buChar char="-"/>
            </a:pPr>
            <a:r>
              <a:rPr lang="de-DE" dirty="0"/>
              <a:t> </a:t>
            </a:r>
          </a:p>
          <a:p>
            <a:pPr marL="171450" indent="-171450">
              <a:buFontTx/>
              <a:buChar char="-"/>
            </a:pPr>
            <a:r>
              <a:rPr lang="de-DE" dirty="0"/>
              <a:t>Auf Basis dieser Überlegungen ist hier ein konkreter Architekturvorschlag für unser Projekt.</a:t>
            </a:r>
          </a:p>
          <a:p>
            <a:pPr marL="171450" indent="-171450">
              <a:buFontTx/>
              <a:buChar char="-"/>
            </a:pPr>
            <a:r>
              <a:rPr lang="de-DE" dirty="0"/>
              <a:t> </a:t>
            </a:r>
          </a:p>
          <a:p>
            <a:pPr marL="171450" indent="-171450">
              <a:buFontTx/>
              <a:buChar char="-"/>
            </a:pPr>
            <a:r>
              <a:rPr lang="de-DE" dirty="0"/>
              <a:t>Hier oben ist nochmal die Zusammenfassung von der Architektur, die ihr in der Animation gesehen habt.</a:t>
            </a:r>
          </a:p>
          <a:p>
            <a:pPr marL="171450" indent="-171450">
              <a:buFontTx/>
              <a:buChar char="-"/>
            </a:pPr>
            <a:r>
              <a:rPr lang="de-DE" dirty="0"/>
              <a:t>Als konkreten Vorschlag für das Embedding-Modell nenne ich Qwen3-Embedding-0.6B: Es ist open-</a:t>
            </a:r>
            <a:r>
              <a:rPr lang="de-DE" dirty="0" err="1"/>
              <a:t>weights</a:t>
            </a:r>
            <a:r>
              <a:rPr lang="de-DE" dirty="0"/>
              <a:t>, multilingual, was für deutsch- und englischsprachige Dokumente wichtig ist, hat 1024 Dimensionen und erzielt aktuell Top-Werte im MTEB-Benchmark für Retrieval - dem etablierten Vergleichsmaßstab für Embedding-Modelle.</a:t>
            </a:r>
          </a:p>
          <a:p>
            <a:pPr marL="171450" indent="-171450">
              <a:buFontTx/>
              <a:buChar char="-"/>
            </a:pPr>
            <a:r>
              <a:rPr lang="de-DE" dirty="0"/>
              <a:t> </a:t>
            </a:r>
          </a:p>
          <a:p>
            <a:pPr marL="171450" indent="-171450">
              <a:buFontTx/>
              <a:buChar char="-"/>
            </a:pPr>
            <a:r>
              <a:rPr lang="de-DE" dirty="0"/>
              <a:t>Als Vektordatenbank schlage ich </a:t>
            </a:r>
            <a:r>
              <a:rPr lang="de-DE" dirty="0" err="1"/>
              <a:t>Qdrant</a:t>
            </a:r>
            <a:r>
              <a:rPr lang="de-DE" dirty="0"/>
              <a:t> vor. </a:t>
            </a:r>
            <a:r>
              <a:rPr lang="de-DE" dirty="0" err="1"/>
              <a:t>Qdrant</a:t>
            </a:r>
            <a:r>
              <a:rPr lang="de-DE" dirty="0"/>
              <a:t> ist eine native Vektordatenbank - also eine, die von Grund auf für diesen Zweck entworfen wurde - und nicht eine relationale Datenbank mit nachgerüstetem Vektorsupport. Sie ist Open Source, lässt sich lokal hosten - das spart API-Kosten und ist aus Datenschutzsicht relevant, weil die Dokumente die eigene Infrastruktur nicht verlassen müssen. Und besonders wichtig für uns: </a:t>
            </a:r>
            <a:r>
              <a:rPr lang="de-DE" dirty="0" err="1"/>
              <a:t>Qdrant</a:t>
            </a:r>
            <a:r>
              <a:rPr lang="de-DE" dirty="0"/>
              <a:t> unterstützt die im vorherigen Abschnitt skizzierte Hybridsuche aus Vektor- und BM25-Komponente nativ, ohne dass ein zusätzlicher Suchindex gepflegt werden müsste. Einen kurzen Vergleich mit anderen Open-Source-Vektordatenbanken wie </a:t>
            </a:r>
            <a:r>
              <a:rPr lang="de-DE" dirty="0" err="1"/>
              <a:t>ChromaDB</a:t>
            </a:r>
            <a:r>
              <a:rPr lang="de-DE" dirty="0"/>
              <a:t> und </a:t>
            </a:r>
            <a:r>
              <a:rPr lang="de-DE" dirty="0" err="1"/>
              <a:t>pg_vector</a:t>
            </a:r>
            <a:r>
              <a:rPr lang="de-DE" dirty="0"/>
              <a:t> findet ihr im Anhang.</a:t>
            </a:r>
          </a:p>
        </p:txBody>
      </p:sp>
      <p:sp>
        <p:nvSpPr>
          <p:cNvPr id="4" name="Foliennummernplatzhalter 3"/>
          <p:cNvSpPr>
            <a:spLocks noGrp="1"/>
          </p:cNvSpPr>
          <p:nvPr>
            <p:ph type="sldNum" sz="quarter" idx="5"/>
          </p:nvPr>
        </p:nvSpPr>
        <p:spPr/>
        <p:txBody>
          <a:bodyPr/>
          <a:lstStyle/>
          <a:p>
            <a:fld id="{7EB70021-DA43-4856-9A18-BCB44C5242AB}" type="slidenum">
              <a:rPr lang="de-DE" smtClean="0"/>
              <a:t>9</a:t>
            </a:fld>
            <a:endParaRPr lang="de-DE"/>
          </a:p>
        </p:txBody>
      </p:sp>
    </p:spTree>
    <p:extLst>
      <p:ext uri="{BB962C8B-B14F-4D97-AF65-F5344CB8AC3E}">
        <p14:creationId xmlns:p14="http://schemas.microsoft.com/office/powerpoint/2010/main" val="37563028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Wie die Anmerkung sagt, ist die Grafik eben erst entstanden &amp; nur ein Entwurf. </a:t>
            </a:r>
          </a:p>
          <a:p>
            <a:r>
              <a:rPr lang="de-DE" dirty="0"/>
              <a:t>Ich weiß nicht, wie genau ich die Grafik beim Vortrag beschreiben könnte (hinsichtlich Zeit). Wären wahrscheinlich nur ein paar Sätze.</a:t>
            </a:r>
          </a:p>
          <a:p>
            <a:r>
              <a:rPr lang="de-DE" dirty="0"/>
              <a:t>Fände es aber ganz gut als Abschluss, weil es das besprochene von beiden Vorträgen als praxisnahen Überblick in einen Screen bringt (auch als Referenz)</a:t>
            </a:r>
          </a:p>
          <a:p>
            <a:r>
              <a:rPr lang="de-DE" dirty="0"/>
              <a:t>Zum runterkürzen könnte ich auch </a:t>
            </a:r>
          </a:p>
          <a:p>
            <a:endParaRPr lang="de-DE" dirty="0"/>
          </a:p>
          <a:p>
            <a:r>
              <a:rPr lang="de-DE" dirty="0"/>
              <a:t>Wenn zu viel / schwer verständlich als Abschluss -&gt; Stattdessen in den Anhang</a:t>
            </a:r>
          </a:p>
        </p:txBody>
      </p:sp>
      <p:sp>
        <p:nvSpPr>
          <p:cNvPr id="4" name="Foliennummernplatzhalter 3"/>
          <p:cNvSpPr>
            <a:spLocks noGrp="1"/>
          </p:cNvSpPr>
          <p:nvPr>
            <p:ph type="sldNum" sz="quarter" idx="5"/>
          </p:nvPr>
        </p:nvSpPr>
        <p:spPr/>
        <p:txBody>
          <a:bodyPr/>
          <a:lstStyle/>
          <a:p>
            <a:fld id="{7EB70021-DA43-4856-9A18-BCB44C5242AB}" type="slidenum">
              <a:rPr lang="de-DE" smtClean="0"/>
              <a:t>10</a:t>
            </a:fld>
            <a:endParaRPr lang="de-DE"/>
          </a:p>
        </p:txBody>
      </p:sp>
    </p:spTree>
    <p:extLst>
      <p:ext uri="{BB962C8B-B14F-4D97-AF65-F5344CB8AC3E}">
        <p14:creationId xmlns:p14="http://schemas.microsoft.com/office/powerpoint/2010/main" val="19847385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7EB70021-DA43-4856-9A18-BCB44C5242AB}" type="slidenum">
              <a:rPr lang="de-DE" smtClean="0"/>
              <a:t>11</a:t>
            </a:fld>
            <a:endParaRPr lang="de-DE"/>
          </a:p>
        </p:txBody>
      </p:sp>
    </p:spTree>
    <p:extLst>
      <p:ext uri="{BB962C8B-B14F-4D97-AF65-F5344CB8AC3E}">
        <p14:creationId xmlns:p14="http://schemas.microsoft.com/office/powerpoint/2010/main" val="16758429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7EB70021-DA43-4856-9A18-BCB44C5242AB}" type="slidenum">
              <a:rPr lang="de-DE" smtClean="0"/>
              <a:t>12</a:t>
            </a:fld>
            <a:endParaRPr lang="de-DE"/>
          </a:p>
        </p:txBody>
      </p:sp>
    </p:spTree>
    <p:extLst>
      <p:ext uri="{BB962C8B-B14F-4D97-AF65-F5344CB8AC3E}">
        <p14:creationId xmlns:p14="http://schemas.microsoft.com/office/powerpoint/2010/main" val="9201171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7EB70021-DA43-4856-9A18-BCB44C5242AB}" type="slidenum">
              <a:rPr lang="de-DE" smtClean="0"/>
              <a:t>13</a:t>
            </a:fld>
            <a:endParaRPr lang="de-DE"/>
          </a:p>
        </p:txBody>
      </p:sp>
    </p:spTree>
    <p:extLst>
      <p:ext uri="{BB962C8B-B14F-4D97-AF65-F5344CB8AC3E}">
        <p14:creationId xmlns:p14="http://schemas.microsoft.com/office/powerpoint/2010/main" val="16860366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7EB70021-DA43-4856-9A18-BCB44C5242AB}" type="slidenum">
              <a:rPr lang="de-DE" smtClean="0"/>
              <a:t>14</a:t>
            </a:fld>
            <a:endParaRPr lang="de-DE"/>
          </a:p>
        </p:txBody>
      </p:sp>
    </p:spTree>
    <p:extLst>
      <p:ext uri="{BB962C8B-B14F-4D97-AF65-F5344CB8AC3E}">
        <p14:creationId xmlns:p14="http://schemas.microsoft.com/office/powerpoint/2010/main" val="35655722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de-DE"/>
              <a:t>Mastertitelformat bearbeiten</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de-DE"/>
              <a:t>Master-Untertitelformat bearbeiten</a:t>
            </a:r>
            <a:endParaRPr lang="en-US" dirty="0"/>
          </a:p>
        </p:txBody>
      </p:sp>
      <p:sp>
        <p:nvSpPr>
          <p:cNvPr id="4" name="Date Placeholder 3"/>
          <p:cNvSpPr>
            <a:spLocks noGrp="1"/>
          </p:cNvSpPr>
          <p:nvPr>
            <p:ph type="dt" sz="half" idx="10"/>
          </p:nvPr>
        </p:nvSpPr>
        <p:spPr/>
        <p:txBody>
          <a:bodyPr/>
          <a:lstStyle/>
          <a:p>
            <a:fld id="{9B08298B-0153-4647-BCFB-68E8BDE8F92D}" type="datetime1">
              <a:rPr lang="de-DE" smtClean="0"/>
              <a:t>04.05.2026</a:t>
            </a:fld>
            <a:endParaRPr lang="de-DE"/>
          </a:p>
        </p:txBody>
      </p:sp>
      <p:sp>
        <p:nvSpPr>
          <p:cNvPr id="5" name="Footer Placeholder 4"/>
          <p:cNvSpPr>
            <a:spLocks noGrp="1"/>
          </p:cNvSpPr>
          <p:nvPr>
            <p:ph type="ftr" sz="quarter" idx="11"/>
          </p:nvPr>
        </p:nvSpPr>
        <p:spPr/>
        <p:txBody>
          <a:bodyPr/>
          <a:lstStyle/>
          <a:p>
            <a:r>
              <a:rPr lang="de-DE"/>
              <a:t>5.5.2026 </a:t>
            </a:r>
          </a:p>
        </p:txBody>
      </p:sp>
      <p:sp>
        <p:nvSpPr>
          <p:cNvPr id="6" name="Slide Number Placeholder 5"/>
          <p:cNvSpPr>
            <a:spLocks noGrp="1"/>
          </p:cNvSpPr>
          <p:nvPr>
            <p:ph type="sldNum" sz="quarter" idx="12"/>
          </p:nvPr>
        </p:nvSpPr>
        <p:spPr/>
        <p:txBody>
          <a:bodyPr/>
          <a:lstStyle/>
          <a:p>
            <a:fld id="{0E836345-B243-4000-8050-9A1A9D10D9C9}" type="slidenum">
              <a:rPr lang="de-DE" smtClean="0"/>
              <a:t>‹Nr.›</a:t>
            </a:fld>
            <a:endParaRPr lang="de-DE"/>
          </a:p>
        </p:txBody>
      </p:sp>
    </p:spTree>
    <p:extLst>
      <p:ext uri="{BB962C8B-B14F-4D97-AF65-F5344CB8AC3E}">
        <p14:creationId xmlns:p14="http://schemas.microsoft.com/office/powerpoint/2010/main" val="27192257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0CEF43C8-CE6C-4062-B1A0-0C3336A36B52}" type="datetime1">
              <a:rPr lang="de-DE" smtClean="0"/>
              <a:t>04.05.2026</a:t>
            </a:fld>
            <a:endParaRPr lang="de-DE"/>
          </a:p>
        </p:txBody>
      </p:sp>
      <p:sp>
        <p:nvSpPr>
          <p:cNvPr id="5" name="Footer Placeholder 4"/>
          <p:cNvSpPr>
            <a:spLocks noGrp="1"/>
          </p:cNvSpPr>
          <p:nvPr>
            <p:ph type="ftr" sz="quarter" idx="11"/>
          </p:nvPr>
        </p:nvSpPr>
        <p:spPr/>
        <p:txBody>
          <a:bodyPr/>
          <a:lstStyle/>
          <a:p>
            <a:r>
              <a:rPr lang="de-DE"/>
              <a:t>5.5.2026 </a:t>
            </a:r>
          </a:p>
        </p:txBody>
      </p:sp>
      <p:sp>
        <p:nvSpPr>
          <p:cNvPr id="6" name="Slide Number Placeholder 5"/>
          <p:cNvSpPr>
            <a:spLocks noGrp="1"/>
          </p:cNvSpPr>
          <p:nvPr>
            <p:ph type="sldNum" sz="quarter" idx="12"/>
          </p:nvPr>
        </p:nvSpPr>
        <p:spPr/>
        <p:txBody>
          <a:bodyPr/>
          <a:lstStyle/>
          <a:p>
            <a:fld id="{0E836345-B243-4000-8050-9A1A9D10D9C9}" type="slidenum">
              <a:rPr lang="de-DE" smtClean="0"/>
              <a:t>‹Nr.›</a:t>
            </a:fld>
            <a:endParaRPr lang="de-DE"/>
          </a:p>
        </p:txBody>
      </p:sp>
    </p:spTree>
    <p:extLst>
      <p:ext uri="{BB962C8B-B14F-4D97-AF65-F5344CB8AC3E}">
        <p14:creationId xmlns:p14="http://schemas.microsoft.com/office/powerpoint/2010/main" val="12885359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de-DE"/>
              <a:t>Mastertitelformat bearbeiten</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de-DE"/>
              <a:t>Mastertextformat bearbeiten</a:t>
            </a:r>
          </a:p>
        </p:txBody>
      </p:sp>
      <p:sp>
        <p:nvSpPr>
          <p:cNvPr id="4" name="Date Placeholder 3"/>
          <p:cNvSpPr>
            <a:spLocks noGrp="1"/>
          </p:cNvSpPr>
          <p:nvPr>
            <p:ph type="dt" sz="half" idx="10"/>
          </p:nvPr>
        </p:nvSpPr>
        <p:spPr/>
        <p:txBody>
          <a:bodyPr/>
          <a:lstStyle/>
          <a:p>
            <a:fld id="{CBE32A0D-B8F0-4C87-9DCA-10A755427D81}" type="datetime1">
              <a:rPr lang="de-DE" smtClean="0"/>
              <a:t>04.05.2026</a:t>
            </a:fld>
            <a:endParaRPr lang="de-DE"/>
          </a:p>
        </p:txBody>
      </p:sp>
      <p:sp>
        <p:nvSpPr>
          <p:cNvPr id="5" name="Footer Placeholder 4"/>
          <p:cNvSpPr>
            <a:spLocks noGrp="1"/>
          </p:cNvSpPr>
          <p:nvPr>
            <p:ph type="ftr" sz="quarter" idx="11"/>
          </p:nvPr>
        </p:nvSpPr>
        <p:spPr/>
        <p:txBody>
          <a:bodyPr/>
          <a:lstStyle/>
          <a:p>
            <a:r>
              <a:rPr lang="de-DE"/>
              <a:t>5.5.2026 </a:t>
            </a:r>
          </a:p>
        </p:txBody>
      </p:sp>
      <p:sp>
        <p:nvSpPr>
          <p:cNvPr id="6" name="Slide Number Placeholder 5"/>
          <p:cNvSpPr>
            <a:spLocks noGrp="1"/>
          </p:cNvSpPr>
          <p:nvPr>
            <p:ph type="sldNum" sz="quarter" idx="12"/>
          </p:nvPr>
        </p:nvSpPr>
        <p:spPr/>
        <p:txBody>
          <a:bodyPr/>
          <a:lstStyle/>
          <a:p>
            <a:fld id="{0E836345-B243-4000-8050-9A1A9D10D9C9}" type="slidenum">
              <a:rPr lang="de-DE" smtClean="0"/>
              <a:t>‹Nr.›</a:t>
            </a:fld>
            <a:endParaRPr lang="de-DE"/>
          </a:p>
        </p:txBody>
      </p:sp>
    </p:spTree>
    <p:extLst>
      <p:ext uri="{BB962C8B-B14F-4D97-AF65-F5344CB8AC3E}">
        <p14:creationId xmlns:p14="http://schemas.microsoft.com/office/powerpoint/2010/main" val="15417748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Date Placeholder 4"/>
          <p:cNvSpPr>
            <a:spLocks noGrp="1"/>
          </p:cNvSpPr>
          <p:nvPr>
            <p:ph type="dt" sz="half" idx="10"/>
          </p:nvPr>
        </p:nvSpPr>
        <p:spPr/>
        <p:txBody>
          <a:bodyPr/>
          <a:lstStyle/>
          <a:p>
            <a:fld id="{43F2812E-7EF2-4C05-871D-0D3B34E019F6}" type="datetime1">
              <a:rPr lang="de-DE" smtClean="0"/>
              <a:t>04.05.2026</a:t>
            </a:fld>
            <a:endParaRPr lang="de-DE"/>
          </a:p>
        </p:txBody>
      </p:sp>
      <p:sp>
        <p:nvSpPr>
          <p:cNvPr id="6" name="Footer Placeholder 5"/>
          <p:cNvSpPr>
            <a:spLocks noGrp="1"/>
          </p:cNvSpPr>
          <p:nvPr>
            <p:ph type="ftr" sz="quarter" idx="11"/>
          </p:nvPr>
        </p:nvSpPr>
        <p:spPr/>
        <p:txBody>
          <a:bodyPr/>
          <a:lstStyle/>
          <a:p>
            <a:r>
              <a:rPr lang="de-DE"/>
              <a:t>5.5.2026 </a:t>
            </a:r>
          </a:p>
        </p:txBody>
      </p:sp>
      <p:sp>
        <p:nvSpPr>
          <p:cNvPr id="7" name="Slide Number Placeholder 6"/>
          <p:cNvSpPr>
            <a:spLocks noGrp="1"/>
          </p:cNvSpPr>
          <p:nvPr>
            <p:ph type="sldNum" sz="quarter" idx="12"/>
          </p:nvPr>
        </p:nvSpPr>
        <p:spPr/>
        <p:txBody>
          <a:bodyPr/>
          <a:lstStyle/>
          <a:p>
            <a:fld id="{0E836345-B243-4000-8050-9A1A9D10D9C9}" type="slidenum">
              <a:rPr lang="de-DE" smtClean="0"/>
              <a:t>‹Nr.›</a:t>
            </a:fld>
            <a:endParaRPr lang="de-DE"/>
          </a:p>
        </p:txBody>
      </p:sp>
    </p:spTree>
    <p:extLst>
      <p:ext uri="{BB962C8B-B14F-4D97-AF65-F5344CB8AC3E}">
        <p14:creationId xmlns:p14="http://schemas.microsoft.com/office/powerpoint/2010/main" val="39350565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de-DE"/>
              <a:t>Mastertitelformat bearbeiten</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de-DE"/>
              <a:t>Mastertextformat bearbeiten</a:t>
            </a:r>
          </a:p>
        </p:txBody>
      </p:sp>
      <p:sp>
        <p:nvSpPr>
          <p:cNvPr id="4" name="Content Placeholder 3"/>
          <p:cNvSpPr>
            <a:spLocks noGrp="1"/>
          </p:cNvSpPr>
          <p:nvPr>
            <p:ph sz="half" idx="2"/>
          </p:nvPr>
        </p:nvSpPr>
        <p:spPr>
          <a:xfrm>
            <a:off x="629842" y="1878806"/>
            <a:ext cx="3868340" cy="2763441"/>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de-DE"/>
              <a:t>Mastertextformat bearbeiten</a:t>
            </a:r>
          </a:p>
        </p:txBody>
      </p:sp>
      <p:sp>
        <p:nvSpPr>
          <p:cNvPr id="6" name="Content Placeholder 5"/>
          <p:cNvSpPr>
            <a:spLocks noGrp="1"/>
          </p:cNvSpPr>
          <p:nvPr>
            <p:ph sz="quarter" idx="4"/>
          </p:nvPr>
        </p:nvSpPr>
        <p:spPr>
          <a:xfrm>
            <a:off x="4629150" y="1878806"/>
            <a:ext cx="3887391" cy="2763441"/>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7" name="Date Placeholder 6"/>
          <p:cNvSpPr>
            <a:spLocks noGrp="1"/>
          </p:cNvSpPr>
          <p:nvPr>
            <p:ph type="dt" sz="half" idx="10"/>
          </p:nvPr>
        </p:nvSpPr>
        <p:spPr/>
        <p:txBody>
          <a:bodyPr/>
          <a:lstStyle/>
          <a:p>
            <a:fld id="{A31AE8A0-DA5B-41A8-96FB-D20EFBFF1CDC}" type="datetime1">
              <a:rPr lang="de-DE" smtClean="0"/>
              <a:t>04.05.2026</a:t>
            </a:fld>
            <a:endParaRPr lang="de-DE"/>
          </a:p>
        </p:txBody>
      </p:sp>
      <p:sp>
        <p:nvSpPr>
          <p:cNvPr id="8" name="Footer Placeholder 7"/>
          <p:cNvSpPr>
            <a:spLocks noGrp="1"/>
          </p:cNvSpPr>
          <p:nvPr>
            <p:ph type="ftr" sz="quarter" idx="11"/>
          </p:nvPr>
        </p:nvSpPr>
        <p:spPr/>
        <p:txBody>
          <a:bodyPr/>
          <a:lstStyle/>
          <a:p>
            <a:r>
              <a:rPr lang="de-DE"/>
              <a:t>5.5.2026 </a:t>
            </a:r>
          </a:p>
        </p:txBody>
      </p:sp>
      <p:sp>
        <p:nvSpPr>
          <p:cNvPr id="9" name="Slide Number Placeholder 8"/>
          <p:cNvSpPr>
            <a:spLocks noGrp="1"/>
          </p:cNvSpPr>
          <p:nvPr>
            <p:ph type="sldNum" sz="quarter" idx="12"/>
          </p:nvPr>
        </p:nvSpPr>
        <p:spPr/>
        <p:txBody>
          <a:bodyPr/>
          <a:lstStyle/>
          <a:p>
            <a:fld id="{0E836345-B243-4000-8050-9A1A9D10D9C9}" type="slidenum">
              <a:rPr lang="de-DE" smtClean="0"/>
              <a:t>‹Nr.›</a:t>
            </a:fld>
            <a:endParaRPr lang="de-DE"/>
          </a:p>
        </p:txBody>
      </p:sp>
    </p:spTree>
    <p:extLst>
      <p:ext uri="{BB962C8B-B14F-4D97-AF65-F5344CB8AC3E}">
        <p14:creationId xmlns:p14="http://schemas.microsoft.com/office/powerpoint/2010/main" val="38330813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Date Placeholder 2"/>
          <p:cNvSpPr>
            <a:spLocks noGrp="1"/>
          </p:cNvSpPr>
          <p:nvPr>
            <p:ph type="dt" sz="half" idx="10"/>
          </p:nvPr>
        </p:nvSpPr>
        <p:spPr/>
        <p:txBody>
          <a:bodyPr/>
          <a:lstStyle/>
          <a:p>
            <a:fld id="{271A509F-2FE0-4931-ADA1-BD5B37DEBEB9}" type="datetime1">
              <a:rPr lang="de-DE" smtClean="0"/>
              <a:t>04.05.2026</a:t>
            </a:fld>
            <a:endParaRPr lang="de-DE"/>
          </a:p>
        </p:txBody>
      </p:sp>
      <p:sp>
        <p:nvSpPr>
          <p:cNvPr id="4" name="Footer Placeholder 3"/>
          <p:cNvSpPr>
            <a:spLocks noGrp="1"/>
          </p:cNvSpPr>
          <p:nvPr>
            <p:ph type="ftr" sz="quarter" idx="11"/>
          </p:nvPr>
        </p:nvSpPr>
        <p:spPr/>
        <p:txBody>
          <a:bodyPr/>
          <a:lstStyle/>
          <a:p>
            <a:r>
              <a:rPr lang="de-DE"/>
              <a:t>5.5.2026 </a:t>
            </a:r>
          </a:p>
        </p:txBody>
      </p:sp>
      <p:sp>
        <p:nvSpPr>
          <p:cNvPr id="5" name="Slide Number Placeholder 4"/>
          <p:cNvSpPr>
            <a:spLocks noGrp="1"/>
          </p:cNvSpPr>
          <p:nvPr>
            <p:ph type="sldNum" sz="quarter" idx="12"/>
          </p:nvPr>
        </p:nvSpPr>
        <p:spPr/>
        <p:txBody>
          <a:bodyPr/>
          <a:lstStyle/>
          <a:p>
            <a:fld id="{0E836345-B243-4000-8050-9A1A9D10D9C9}" type="slidenum">
              <a:rPr lang="de-DE" smtClean="0"/>
              <a:t>‹Nr.›</a:t>
            </a:fld>
            <a:endParaRPr lang="de-DE"/>
          </a:p>
        </p:txBody>
      </p:sp>
    </p:spTree>
    <p:extLst>
      <p:ext uri="{BB962C8B-B14F-4D97-AF65-F5344CB8AC3E}">
        <p14:creationId xmlns:p14="http://schemas.microsoft.com/office/powerpoint/2010/main" val="24310210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2C8954B-20F7-49DF-A165-BD925879BA4B}" type="datetime1">
              <a:rPr lang="de-DE" smtClean="0"/>
              <a:t>04.05.2026</a:t>
            </a:fld>
            <a:endParaRPr lang="de-DE"/>
          </a:p>
        </p:txBody>
      </p:sp>
      <p:sp>
        <p:nvSpPr>
          <p:cNvPr id="3" name="Footer Placeholder 2"/>
          <p:cNvSpPr>
            <a:spLocks noGrp="1"/>
          </p:cNvSpPr>
          <p:nvPr>
            <p:ph type="ftr" sz="quarter" idx="11"/>
          </p:nvPr>
        </p:nvSpPr>
        <p:spPr/>
        <p:txBody>
          <a:bodyPr/>
          <a:lstStyle/>
          <a:p>
            <a:r>
              <a:rPr lang="de-DE"/>
              <a:t>5.5.2026 </a:t>
            </a:r>
          </a:p>
        </p:txBody>
      </p:sp>
      <p:sp>
        <p:nvSpPr>
          <p:cNvPr id="4" name="Slide Number Placeholder 3"/>
          <p:cNvSpPr>
            <a:spLocks noGrp="1"/>
          </p:cNvSpPr>
          <p:nvPr>
            <p:ph type="sldNum" sz="quarter" idx="12"/>
          </p:nvPr>
        </p:nvSpPr>
        <p:spPr/>
        <p:txBody>
          <a:bodyPr/>
          <a:lstStyle/>
          <a:p>
            <a:fld id="{0E836345-B243-4000-8050-9A1A9D10D9C9}" type="slidenum">
              <a:rPr lang="de-DE" smtClean="0"/>
              <a:t>‹Nr.›</a:t>
            </a:fld>
            <a:endParaRPr lang="de-DE"/>
          </a:p>
        </p:txBody>
      </p:sp>
    </p:spTree>
    <p:extLst>
      <p:ext uri="{BB962C8B-B14F-4D97-AF65-F5344CB8AC3E}">
        <p14:creationId xmlns:p14="http://schemas.microsoft.com/office/powerpoint/2010/main" val="7950202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de-DE"/>
              <a:t>Mastertitelformat bearbeiten</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de-DE"/>
              <a:t>Mastertextformat bearbeiten</a:t>
            </a:r>
          </a:p>
        </p:txBody>
      </p:sp>
      <p:sp>
        <p:nvSpPr>
          <p:cNvPr id="5" name="Date Placeholder 4"/>
          <p:cNvSpPr>
            <a:spLocks noGrp="1"/>
          </p:cNvSpPr>
          <p:nvPr>
            <p:ph type="dt" sz="half" idx="10"/>
          </p:nvPr>
        </p:nvSpPr>
        <p:spPr/>
        <p:txBody>
          <a:bodyPr/>
          <a:lstStyle/>
          <a:p>
            <a:fld id="{2CB6C589-CDE5-47EB-AA9A-92CA00DD4315}" type="datetime1">
              <a:rPr lang="de-DE" smtClean="0"/>
              <a:t>04.05.2026</a:t>
            </a:fld>
            <a:endParaRPr lang="de-DE"/>
          </a:p>
        </p:txBody>
      </p:sp>
      <p:sp>
        <p:nvSpPr>
          <p:cNvPr id="6" name="Footer Placeholder 5"/>
          <p:cNvSpPr>
            <a:spLocks noGrp="1"/>
          </p:cNvSpPr>
          <p:nvPr>
            <p:ph type="ftr" sz="quarter" idx="11"/>
          </p:nvPr>
        </p:nvSpPr>
        <p:spPr/>
        <p:txBody>
          <a:bodyPr/>
          <a:lstStyle/>
          <a:p>
            <a:r>
              <a:rPr lang="de-DE"/>
              <a:t>5.5.2026 </a:t>
            </a:r>
          </a:p>
        </p:txBody>
      </p:sp>
      <p:sp>
        <p:nvSpPr>
          <p:cNvPr id="7" name="Slide Number Placeholder 6"/>
          <p:cNvSpPr>
            <a:spLocks noGrp="1"/>
          </p:cNvSpPr>
          <p:nvPr>
            <p:ph type="sldNum" sz="quarter" idx="12"/>
          </p:nvPr>
        </p:nvSpPr>
        <p:spPr/>
        <p:txBody>
          <a:bodyPr/>
          <a:lstStyle/>
          <a:p>
            <a:fld id="{0E836345-B243-4000-8050-9A1A9D10D9C9}" type="slidenum">
              <a:rPr lang="de-DE" smtClean="0"/>
              <a:t>‹Nr.›</a:t>
            </a:fld>
            <a:endParaRPr lang="de-DE"/>
          </a:p>
        </p:txBody>
      </p:sp>
    </p:spTree>
    <p:extLst>
      <p:ext uri="{BB962C8B-B14F-4D97-AF65-F5344CB8AC3E}">
        <p14:creationId xmlns:p14="http://schemas.microsoft.com/office/powerpoint/2010/main" val="22247639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de-DE"/>
              <a:t>Mastertitelformat bearbeiten</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de-DE"/>
              <a:t>Bild durch Klicken auf Symbol hinzufügen</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de-DE"/>
              <a:t>Mastertextformat bearbeiten</a:t>
            </a:r>
          </a:p>
        </p:txBody>
      </p:sp>
      <p:sp>
        <p:nvSpPr>
          <p:cNvPr id="5" name="Date Placeholder 4"/>
          <p:cNvSpPr>
            <a:spLocks noGrp="1"/>
          </p:cNvSpPr>
          <p:nvPr>
            <p:ph type="dt" sz="half" idx="10"/>
          </p:nvPr>
        </p:nvSpPr>
        <p:spPr/>
        <p:txBody>
          <a:bodyPr/>
          <a:lstStyle/>
          <a:p>
            <a:fld id="{1B506EB8-042D-4C6C-B619-636950C3D9B7}" type="datetime1">
              <a:rPr lang="de-DE" smtClean="0"/>
              <a:t>04.05.2026</a:t>
            </a:fld>
            <a:endParaRPr lang="de-DE"/>
          </a:p>
        </p:txBody>
      </p:sp>
      <p:sp>
        <p:nvSpPr>
          <p:cNvPr id="6" name="Footer Placeholder 5"/>
          <p:cNvSpPr>
            <a:spLocks noGrp="1"/>
          </p:cNvSpPr>
          <p:nvPr>
            <p:ph type="ftr" sz="quarter" idx="11"/>
          </p:nvPr>
        </p:nvSpPr>
        <p:spPr/>
        <p:txBody>
          <a:bodyPr/>
          <a:lstStyle/>
          <a:p>
            <a:r>
              <a:rPr lang="de-DE"/>
              <a:t>5.5.2026 </a:t>
            </a:r>
          </a:p>
        </p:txBody>
      </p:sp>
      <p:sp>
        <p:nvSpPr>
          <p:cNvPr id="7" name="Slide Number Placeholder 6"/>
          <p:cNvSpPr>
            <a:spLocks noGrp="1"/>
          </p:cNvSpPr>
          <p:nvPr>
            <p:ph type="sldNum" sz="quarter" idx="12"/>
          </p:nvPr>
        </p:nvSpPr>
        <p:spPr/>
        <p:txBody>
          <a:bodyPr/>
          <a:lstStyle/>
          <a:p>
            <a:fld id="{0E836345-B243-4000-8050-9A1A9D10D9C9}" type="slidenum">
              <a:rPr lang="de-DE" smtClean="0"/>
              <a:t>‹Nr.›</a:t>
            </a:fld>
            <a:endParaRPr lang="de-DE"/>
          </a:p>
        </p:txBody>
      </p:sp>
    </p:spTree>
    <p:extLst>
      <p:ext uri="{BB962C8B-B14F-4D97-AF65-F5344CB8AC3E}">
        <p14:creationId xmlns:p14="http://schemas.microsoft.com/office/powerpoint/2010/main" val="29914354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Vertical Text Placeholder 2"/>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328E7F92-CB24-4AC9-B11A-12D17766EA77}" type="datetime1">
              <a:rPr lang="de-DE" smtClean="0"/>
              <a:t>04.05.2026</a:t>
            </a:fld>
            <a:endParaRPr lang="de-DE"/>
          </a:p>
        </p:txBody>
      </p:sp>
      <p:sp>
        <p:nvSpPr>
          <p:cNvPr id="5" name="Footer Placeholder 4"/>
          <p:cNvSpPr>
            <a:spLocks noGrp="1"/>
          </p:cNvSpPr>
          <p:nvPr>
            <p:ph type="ftr" sz="quarter" idx="11"/>
          </p:nvPr>
        </p:nvSpPr>
        <p:spPr/>
        <p:txBody>
          <a:bodyPr/>
          <a:lstStyle/>
          <a:p>
            <a:r>
              <a:rPr lang="de-DE"/>
              <a:t>5.5.2026 </a:t>
            </a:r>
          </a:p>
        </p:txBody>
      </p:sp>
      <p:sp>
        <p:nvSpPr>
          <p:cNvPr id="6" name="Slide Number Placeholder 5"/>
          <p:cNvSpPr>
            <a:spLocks noGrp="1"/>
          </p:cNvSpPr>
          <p:nvPr>
            <p:ph type="sldNum" sz="quarter" idx="12"/>
          </p:nvPr>
        </p:nvSpPr>
        <p:spPr/>
        <p:txBody>
          <a:bodyPr/>
          <a:lstStyle/>
          <a:p>
            <a:fld id="{0E836345-B243-4000-8050-9A1A9D10D9C9}" type="slidenum">
              <a:rPr lang="de-DE" smtClean="0"/>
              <a:t>‹Nr.›</a:t>
            </a:fld>
            <a:endParaRPr lang="de-DE"/>
          </a:p>
        </p:txBody>
      </p:sp>
    </p:spTree>
    <p:extLst>
      <p:ext uri="{BB962C8B-B14F-4D97-AF65-F5344CB8AC3E}">
        <p14:creationId xmlns:p14="http://schemas.microsoft.com/office/powerpoint/2010/main" val="12866067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de-DE"/>
              <a:t>Mastertitelformat bearbeiten</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E980BF1C-5C51-4249-A10C-0C9D6682EA97}" type="datetime1">
              <a:rPr lang="de-DE" smtClean="0"/>
              <a:t>04.05.2026</a:t>
            </a:fld>
            <a:endParaRPr lang="de-DE"/>
          </a:p>
        </p:txBody>
      </p:sp>
      <p:sp>
        <p:nvSpPr>
          <p:cNvPr id="5" name="Footer Placeholder 4"/>
          <p:cNvSpPr>
            <a:spLocks noGrp="1"/>
          </p:cNvSpPr>
          <p:nvPr>
            <p:ph type="ftr" sz="quarter" idx="11"/>
          </p:nvPr>
        </p:nvSpPr>
        <p:spPr/>
        <p:txBody>
          <a:bodyPr/>
          <a:lstStyle/>
          <a:p>
            <a:r>
              <a:rPr lang="de-DE"/>
              <a:t>5.5.2026 </a:t>
            </a:r>
          </a:p>
        </p:txBody>
      </p:sp>
      <p:sp>
        <p:nvSpPr>
          <p:cNvPr id="6" name="Slide Number Placeholder 5"/>
          <p:cNvSpPr>
            <a:spLocks noGrp="1"/>
          </p:cNvSpPr>
          <p:nvPr>
            <p:ph type="sldNum" sz="quarter" idx="12"/>
          </p:nvPr>
        </p:nvSpPr>
        <p:spPr/>
        <p:txBody>
          <a:bodyPr/>
          <a:lstStyle/>
          <a:p>
            <a:fld id="{0E836345-B243-4000-8050-9A1A9D10D9C9}" type="slidenum">
              <a:rPr lang="de-DE" smtClean="0"/>
              <a:t>‹Nr.›</a:t>
            </a:fld>
            <a:endParaRPr lang="de-DE"/>
          </a:p>
        </p:txBody>
      </p:sp>
    </p:spTree>
    <p:extLst>
      <p:ext uri="{BB962C8B-B14F-4D97-AF65-F5344CB8AC3E}">
        <p14:creationId xmlns:p14="http://schemas.microsoft.com/office/powerpoint/2010/main" val="20538133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288449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de-DE"/>
              <a:t>Mastertitelformat bearbeiten</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4587E5DC-9C05-40E3-8675-4D3ACCE1AC76}" type="datetime1">
              <a:rPr lang="de-DE" smtClean="0"/>
              <a:t>04.05.2026</a:t>
            </a:fld>
            <a:endParaRPr lang="de-DE"/>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de-DE"/>
              <a:t>5.5.2026 </a:t>
            </a:r>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0E836345-B243-4000-8050-9A1A9D10D9C9}" type="slidenum">
              <a:rPr lang="de-DE" smtClean="0"/>
              <a:t>‹Nr.›</a:t>
            </a:fld>
            <a:endParaRPr lang="de-DE"/>
          </a:p>
        </p:txBody>
      </p:sp>
    </p:spTree>
    <p:extLst>
      <p:ext uri="{BB962C8B-B14F-4D97-AF65-F5344CB8AC3E}">
        <p14:creationId xmlns:p14="http://schemas.microsoft.com/office/powerpoint/2010/main" val="3480414427"/>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hd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jankahnes.github.io/retrieval-animation/"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hyperlink" Target="https://qdrant.tech/documentation/manage-data/points/" TargetMode="External"/><Relationship Id="rId13" Type="http://schemas.openxmlformats.org/officeDocument/2006/relationships/hyperlink" Target="https://qdrant.tech/documentation/tutorials-and-examples/cloud-inference-hybrid-search/" TargetMode="External"/><Relationship Id="rId18" Type="http://schemas.openxmlformats.org/officeDocument/2006/relationships/hyperlink" Target="https://arxiv.org/abs/1810.04805" TargetMode="External"/><Relationship Id="rId3" Type="http://schemas.openxmlformats.org/officeDocument/2006/relationships/hyperlink" Target="https://blog.google/products/search/search-language-understanding-bert/" TargetMode="External"/><Relationship Id="rId7" Type="http://schemas.openxmlformats.org/officeDocument/2006/relationships/hyperlink" Target="https://arxiv.org/abs/1301.3781" TargetMode="External"/><Relationship Id="rId12" Type="http://schemas.openxmlformats.org/officeDocument/2006/relationships/hyperlink" Target="https://huggingface.co/spaces/mteb/leaderboard" TargetMode="External"/><Relationship Id="rId17" Type="http://schemas.openxmlformats.org/officeDocument/2006/relationships/hyperlink" Target="https://dev.to/gabrielanhaia/rag-without-embeddings-when-bm25-beats-your-020-per-1k-vector-index-2140" TargetMode="External"/><Relationship Id="rId2" Type="http://schemas.openxmlformats.org/officeDocument/2006/relationships/notesSlide" Target="../notesSlides/notesSlide11.xml"/><Relationship Id="rId16" Type="http://schemas.openxmlformats.org/officeDocument/2006/relationships/hyperlink" Target="https://arxiv.org/abs/2603.17580" TargetMode="External"/><Relationship Id="rId1" Type="http://schemas.openxmlformats.org/officeDocument/2006/relationships/slideLayout" Target="../slideLayouts/slideLayout2.xml"/><Relationship Id="rId6" Type="http://schemas.openxmlformats.org/officeDocument/2006/relationships/hyperlink" Target="https://openai.com/index/new-embedding-models-and-api-updates/" TargetMode="External"/><Relationship Id="rId11" Type="http://schemas.openxmlformats.org/officeDocument/2006/relationships/hyperlink" Target="https://arxiv.org/abs/2210.07316" TargetMode="External"/><Relationship Id="rId5" Type="http://schemas.openxmlformats.org/officeDocument/2006/relationships/hyperlink" Target="https://arxiv.org/abs/1706.03762" TargetMode="External"/><Relationship Id="rId15" Type="http://schemas.openxmlformats.org/officeDocument/2006/relationships/hyperlink" Target="https://github.com/tensorchord/VectorChord-bm25" TargetMode="External"/><Relationship Id="rId10" Type="http://schemas.openxmlformats.org/officeDocument/2006/relationships/hyperlink" Target="https://arxiv.org/abs/2104.08663" TargetMode="External"/><Relationship Id="rId4" Type="http://schemas.openxmlformats.org/officeDocument/2006/relationships/hyperlink" Target="https://arxiv.org/abs/2209.07663" TargetMode="External"/><Relationship Id="rId9" Type="http://schemas.openxmlformats.org/officeDocument/2006/relationships/hyperlink" Target="https://arxiv.org/abs/1603.09320" TargetMode="External"/><Relationship Id="rId14" Type="http://schemas.openxmlformats.org/officeDocument/2006/relationships/hyperlink" Target="https://www.trychroma.com/project/sparse-vector-search" TargetMode="Externa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1097280"/>
            <a:ext cx="8229600" cy="2286000"/>
          </a:xfrm>
          <a:prstGeom prst="rect">
            <a:avLst/>
          </a:prstGeom>
          <a:noFill/>
          <a:ln/>
        </p:spPr>
        <p:txBody>
          <a:bodyPr wrap="square" lIns="0" tIns="0" rIns="0" bIns="0" rtlCol="0" anchor="ctr"/>
          <a:lstStyle/>
          <a:p>
            <a:pPr>
              <a:lnSpc>
                <a:spcPct val="95000"/>
              </a:lnSpc>
            </a:pPr>
            <a:r>
              <a:rPr lang="en-US" sz="7200" b="1" dirty="0" err="1">
                <a:solidFill>
                  <a:srgbClr val="FFFFFF"/>
                </a:solidFill>
                <a:latin typeface="Cambria" pitchFamily="34" charset="0"/>
                <a:ea typeface="Cambria" pitchFamily="34" charset="-122"/>
                <a:cs typeface="Cambria" pitchFamily="34" charset="-120"/>
              </a:rPr>
              <a:t>Vektor</a:t>
            </a:r>
            <a:r>
              <a:rPr lang="en-US" sz="7200" b="1" dirty="0">
                <a:solidFill>
                  <a:srgbClr val="FFFFFF"/>
                </a:solidFill>
                <a:latin typeface="Cambria" pitchFamily="34" charset="0"/>
                <a:ea typeface="Cambria" pitchFamily="34" charset="-122"/>
                <a:cs typeface="Cambria" pitchFamily="34" charset="-120"/>
              </a:rPr>
              <a:t>-</a:t>
            </a:r>
            <a:endParaRPr lang="en-US" sz="7200" dirty="0"/>
          </a:p>
          <a:p>
            <a:pPr>
              <a:lnSpc>
                <a:spcPct val="95000"/>
              </a:lnSpc>
            </a:pPr>
            <a:r>
              <a:rPr lang="en-US" sz="7200" b="1" dirty="0" err="1">
                <a:solidFill>
                  <a:srgbClr val="FFFFFF"/>
                </a:solidFill>
                <a:latin typeface="Cambria" pitchFamily="34" charset="0"/>
                <a:ea typeface="Cambria" pitchFamily="34" charset="-122"/>
                <a:cs typeface="Cambria" pitchFamily="34" charset="-120"/>
              </a:rPr>
              <a:t>datenbanken</a:t>
            </a:r>
            <a:endParaRPr lang="en-US" sz="7200" dirty="0"/>
          </a:p>
        </p:txBody>
      </p:sp>
      <p:sp>
        <p:nvSpPr>
          <p:cNvPr id="3" name="Shape 1"/>
          <p:cNvSpPr/>
          <p:nvPr/>
        </p:nvSpPr>
        <p:spPr>
          <a:xfrm>
            <a:off x="457200" y="3520440"/>
            <a:ext cx="548640" cy="54864"/>
          </a:xfrm>
          <a:prstGeom prst="rect">
            <a:avLst/>
          </a:prstGeom>
          <a:solidFill>
            <a:srgbClr val="F97316"/>
          </a:solidFill>
          <a:ln w="12700">
            <a:solidFill>
              <a:srgbClr val="F97316"/>
            </a:solidFill>
            <a:prstDash val="solid"/>
          </a:ln>
        </p:spPr>
      </p:sp>
      <p:sp>
        <p:nvSpPr>
          <p:cNvPr id="4" name="Text 2"/>
          <p:cNvSpPr/>
          <p:nvPr/>
        </p:nvSpPr>
        <p:spPr>
          <a:xfrm>
            <a:off x="457200" y="3611880"/>
            <a:ext cx="8229600" cy="365760"/>
          </a:xfrm>
          <a:prstGeom prst="rect">
            <a:avLst/>
          </a:prstGeom>
          <a:noFill/>
          <a:ln/>
        </p:spPr>
        <p:txBody>
          <a:bodyPr wrap="square" lIns="0" tIns="0" rIns="0" bIns="0" rtlCol="0" anchor="ctr"/>
          <a:lstStyle/>
          <a:p>
            <a:r>
              <a:rPr lang="en-US" sz="1800" dirty="0">
                <a:solidFill>
                  <a:srgbClr val="CADCFC"/>
                </a:solidFill>
                <a:latin typeface="Calibri" pitchFamily="34" charset="0"/>
                <a:ea typeface="Calibri" pitchFamily="34" charset="-122"/>
                <a:cs typeface="Calibri" pitchFamily="34" charset="-120"/>
              </a:rPr>
              <a:t>Wortvektoren, Ähnlichkeitssuche und Hybrid-Retrieval</a:t>
            </a:r>
            <a:endParaRPr lang="en-US" sz="1800" dirty="0"/>
          </a:p>
        </p:txBody>
      </p:sp>
      <p:sp>
        <p:nvSpPr>
          <p:cNvPr id="5" name="Text 3"/>
          <p:cNvSpPr/>
          <p:nvPr/>
        </p:nvSpPr>
        <p:spPr>
          <a:xfrm>
            <a:off x="457200" y="4526280"/>
            <a:ext cx="8229600" cy="274320"/>
          </a:xfrm>
          <a:prstGeom prst="rect">
            <a:avLst/>
          </a:prstGeom>
          <a:noFill/>
          <a:ln/>
        </p:spPr>
        <p:txBody>
          <a:bodyPr wrap="square" lIns="0" tIns="0" rIns="0" bIns="0" rtlCol="0" anchor="ctr"/>
          <a:lstStyle/>
          <a:p>
            <a:r>
              <a:rPr lang="en-US" sz="1100" dirty="0">
                <a:solidFill>
                  <a:srgbClr val="94A3B8"/>
                </a:solidFill>
                <a:latin typeface="Calibri" pitchFamily="34" charset="0"/>
                <a:ea typeface="Calibri" pitchFamily="34" charset="-122"/>
                <a:cs typeface="Calibri" pitchFamily="34" charset="-120"/>
              </a:rPr>
              <a:t>Studienprojekt Reverse Chatbot  ·  </a:t>
            </a:r>
            <a:r>
              <a:rPr lang="en-US" sz="1100" dirty="0" err="1">
                <a:solidFill>
                  <a:srgbClr val="94A3B8"/>
                </a:solidFill>
                <a:latin typeface="Calibri" pitchFamily="34" charset="0"/>
                <a:ea typeface="Calibri" pitchFamily="34" charset="-122"/>
                <a:cs typeface="Calibri" pitchFamily="34" charset="-120"/>
              </a:rPr>
              <a:t>Seminarvortrag</a:t>
            </a:r>
            <a:r>
              <a:rPr lang="en-US" sz="1100" dirty="0">
                <a:solidFill>
                  <a:srgbClr val="94A3B8"/>
                </a:solidFill>
                <a:latin typeface="Calibri" pitchFamily="34" charset="0"/>
                <a:ea typeface="Calibri" pitchFamily="34" charset="-122"/>
                <a:cs typeface="Calibri" pitchFamily="34" charset="-120"/>
              </a:rPr>
              <a:t> · Jan Kahnes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67E8333-A12F-461B-8F36-964EF2A4A284}"/>
              </a:ext>
            </a:extLst>
          </p:cNvPr>
          <p:cNvSpPr>
            <a:spLocks noGrp="1"/>
          </p:cNvSpPr>
          <p:nvPr>
            <p:ph type="title"/>
          </p:nvPr>
        </p:nvSpPr>
        <p:spPr>
          <a:xfrm>
            <a:off x="326356" y="382496"/>
            <a:ext cx="5670527" cy="359255"/>
          </a:xfrm>
        </p:spPr>
        <p:txBody>
          <a:bodyPr>
            <a:normAutofit fontScale="90000"/>
          </a:bodyPr>
          <a:lstStyle/>
          <a:p>
            <a:r>
              <a:rPr lang="de-DE" sz="3100" b="1" dirty="0">
                <a:solidFill>
                  <a:srgbClr val="0F172A"/>
                </a:solidFill>
                <a:latin typeface="Cambria" panose="02040503050406030204" pitchFamily="18" charset="0"/>
                <a:ea typeface="Cambria" panose="02040503050406030204" pitchFamily="18" charset="0"/>
                <a:cs typeface="Arial" panose="020B0604020202020204" pitchFamily="34" charset="0"/>
              </a:rPr>
              <a:t>Wozu</a:t>
            </a:r>
            <a:r>
              <a:rPr lang="de-DE" sz="3000" b="1" dirty="0">
                <a:solidFill>
                  <a:srgbClr val="0F172A"/>
                </a:solidFill>
                <a:latin typeface="Cambria" panose="02040503050406030204" pitchFamily="18" charset="0"/>
                <a:ea typeface="Cambria" panose="02040503050406030204" pitchFamily="18" charset="0"/>
                <a:cs typeface="Arial" panose="020B0604020202020204" pitchFamily="34" charset="0"/>
              </a:rPr>
              <a:t> brauchen wir Vektoren?</a:t>
            </a:r>
          </a:p>
        </p:txBody>
      </p:sp>
      <p:sp>
        <p:nvSpPr>
          <p:cNvPr id="6" name="Rechteck 5">
            <a:extLst>
              <a:ext uri="{FF2B5EF4-FFF2-40B4-BE49-F238E27FC236}">
                <a16:creationId xmlns:a16="http://schemas.microsoft.com/office/drawing/2014/main" id="{9B1134CE-53FF-4066-B059-D6ACA70914F2}"/>
              </a:ext>
            </a:extLst>
          </p:cNvPr>
          <p:cNvSpPr/>
          <p:nvPr/>
        </p:nvSpPr>
        <p:spPr>
          <a:xfrm>
            <a:off x="452981" y="1083791"/>
            <a:ext cx="383507" cy="52083"/>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013"/>
          </a:p>
        </p:txBody>
      </p:sp>
      <p:sp>
        <p:nvSpPr>
          <p:cNvPr id="7" name="Titel 1">
            <a:extLst>
              <a:ext uri="{FF2B5EF4-FFF2-40B4-BE49-F238E27FC236}">
                <a16:creationId xmlns:a16="http://schemas.microsoft.com/office/drawing/2014/main" id="{8C89B5C6-61EC-420A-A7BF-D697C040511D}"/>
              </a:ext>
            </a:extLst>
          </p:cNvPr>
          <p:cNvSpPr txBox="1">
            <a:spLocks/>
          </p:cNvSpPr>
          <p:nvPr/>
        </p:nvSpPr>
        <p:spPr>
          <a:xfrm>
            <a:off x="371466" y="688385"/>
            <a:ext cx="4292206" cy="359255"/>
          </a:xfrm>
          <a:prstGeom prst="rect">
            <a:avLst/>
          </a:prstGeom>
        </p:spPr>
        <p:txBody>
          <a:bodyPr vert="horz" lIns="68580" tIns="34290" rIns="68580" bIns="3429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sz="1600" dirty="0">
                <a:solidFill>
                  <a:srgbClr val="0F172A"/>
                </a:solidFill>
                <a:latin typeface="Calibri Light" panose="020F0302020204030204" pitchFamily="34" charset="0"/>
                <a:ea typeface="Calibri Light" panose="020F0302020204030204" pitchFamily="34" charset="0"/>
                <a:cs typeface="Calibri Light" panose="020F0302020204030204" pitchFamily="34" charset="0"/>
              </a:rPr>
              <a:t>Motivation</a:t>
            </a:r>
            <a:endParaRPr lang="de-DE" sz="1500" dirty="0">
              <a:solidFill>
                <a:srgbClr val="0F172A"/>
              </a:solidFill>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8" name="Text 3">
            <a:extLst>
              <a:ext uri="{FF2B5EF4-FFF2-40B4-BE49-F238E27FC236}">
                <a16:creationId xmlns:a16="http://schemas.microsoft.com/office/drawing/2014/main" id="{7347B68C-897A-4705-8FE1-50302EB91E04}"/>
              </a:ext>
            </a:extLst>
          </p:cNvPr>
          <p:cNvSpPr/>
          <p:nvPr/>
        </p:nvSpPr>
        <p:spPr>
          <a:xfrm>
            <a:off x="452981" y="1503338"/>
            <a:ext cx="4136774" cy="1928708"/>
          </a:xfrm>
          <a:prstGeom prst="rect">
            <a:avLst/>
          </a:prstGeom>
          <a:noFill/>
          <a:ln/>
        </p:spPr>
        <p:txBody>
          <a:bodyPr wrap="square" lIns="0" tIns="0" rIns="0" bIns="0" rtlCol="0" anchor="ctr"/>
          <a:lstStyle/>
          <a:p>
            <a:pPr>
              <a:lnSpc>
                <a:spcPct val="130000"/>
              </a:lnSpc>
              <a:buClr>
                <a:schemeClr val="bg1">
                  <a:lumMod val="65000"/>
                </a:schemeClr>
              </a:buClr>
              <a:buSzPct val="70000"/>
            </a:pPr>
            <a:r>
              <a:rPr lang="en-US" sz="1400" dirty="0" err="1">
                <a:solidFill>
                  <a:srgbClr val="1E293B"/>
                </a:solidFill>
                <a:latin typeface="Calibri" pitchFamily="34" charset="0"/>
                <a:ea typeface="Calibri" pitchFamily="34" charset="-122"/>
                <a:cs typeface="Calibri" pitchFamily="34" charset="-120"/>
              </a:rPr>
              <a:t>Klassische</a:t>
            </a:r>
            <a:r>
              <a:rPr lang="en-US" sz="1400" dirty="0">
                <a:solidFill>
                  <a:srgbClr val="1E293B"/>
                </a:solidFill>
                <a:latin typeface="Calibri" pitchFamily="34" charset="0"/>
                <a:ea typeface="Calibri" pitchFamily="34" charset="-122"/>
                <a:cs typeface="Calibri" pitchFamily="34" charset="-120"/>
              </a:rPr>
              <a:t> Suche findet exakte Übereinstimmungen. </a:t>
            </a:r>
            <a:br>
              <a:rPr lang="en-US" sz="1400" dirty="0">
                <a:solidFill>
                  <a:srgbClr val="1E293B"/>
                </a:solidFill>
                <a:latin typeface="Calibri" pitchFamily="34" charset="0"/>
                <a:ea typeface="Calibri" pitchFamily="34" charset="-122"/>
                <a:cs typeface="Calibri" pitchFamily="34" charset="-120"/>
              </a:rPr>
            </a:br>
            <a:endParaRPr lang="en-US" sz="1400" dirty="0">
              <a:solidFill>
                <a:srgbClr val="1E293B"/>
              </a:solidFill>
              <a:latin typeface="Calibri" pitchFamily="34" charset="0"/>
              <a:ea typeface="Calibri" pitchFamily="34" charset="-122"/>
              <a:cs typeface="Calibri" pitchFamily="34" charset="-120"/>
            </a:endParaRPr>
          </a:p>
          <a:p>
            <a:pPr>
              <a:lnSpc>
                <a:spcPct val="130000"/>
              </a:lnSpc>
            </a:pPr>
            <a:r>
              <a:rPr lang="en-US" sz="1400" dirty="0" err="1">
                <a:solidFill>
                  <a:srgbClr val="1E293B"/>
                </a:solidFill>
                <a:latin typeface="Calibri" pitchFamily="34" charset="0"/>
                <a:ea typeface="Calibri" pitchFamily="34" charset="-122"/>
                <a:cs typeface="Calibri" pitchFamily="34" charset="-120"/>
              </a:rPr>
              <a:t>Für</a:t>
            </a:r>
            <a:r>
              <a:rPr lang="en-US" sz="1400" dirty="0">
                <a:solidFill>
                  <a:srgbClr val="1E293B"/>
                </a:solidFill>
                <a:latin typeface="Calibri" pitchFamily="34" charset="0"/>
                <a:ea typeface="Calibri" pitchFamily="34" charset="-122"/>
                <a:cs typeface="Calibri" pitchFamily="34" charset="-120"/>
              </a:rPr>
              <a:t> </a:t>
            </a:r>
            <a:r>
              <a:rPr lang="en-US" sz="1400" dirty="0" err="1">
                <a:solidFill>
                  <a:srgbClr val="1E293B"/>
                </a:solidFill>
                <a:latin typeface="Calibri" pitchFamily="34" charset="0"/>
                <a:ea typeface="Calibri" pitchFamily="34" charset="-122"/>
                <a:cs typeface="Calibri" pitchFamily="34" charset="-120"/>
              </a:rPr>
              <a:t>eine</a:t>
            </a:r>
            <a:r>
              <a:rPr lang="en-US" sz="1400" dirty="0">
                <a:solidFill>
                  <a:srgbClr val="1E293B"/>
                </a:solidFill>
                <a:latin typeface="Calibri" pitchFamily="34" charset="0"/>
                <a:ea typeface="Calibri" pitchFamily="34" charset="-122"/>
                <a:cs typeface="Calibri" pitchFamily="34" charset="-120"/>
              </a:rPr>
              <a:t> </a:t>
            </a:r>
            <a:r>
              <a:rPr lang="en-US" sz="1400" dirty="0" err="1">
                <a:solidFill>
                  <a:srgbClr val="1E293B"/>
                </a:solidFill>
                <a:latin typeface="Calibri" pitchFamily="34" charset="0"/>
                <a:ea typeface="Calibri" pitchFamily="34" charset="-122"/>
                <a:cs typeface="Calibri" pitchFamily="34" charset="-120"/>
              </a:rPr>
              <a:t>semantische</a:t>
            </a:r>
            <a:r>
              <a:rPr lang="en-US" sz="1400" dirty="0">
                <a:solidFill>
                  <a:srgbClr val="1E293B"/>
                </a:solidFill>
                <a:latin typeface="Calibri" pitchFamily="34" charset="0"/>
                <a:ea typeface="Calibri" pitchFamily="34" charset="-122"/>
                <a:cs typeface="Calibri" pitchFamily="34" charset="-120"/>
              </a:rPr>
              <a:t> </a:t>
            </a:r>
            <a:r>
              <a:rPr lang="en-US" sz="1400" dirty="0" err="1">
                <a:solidFill>
                  <a:srgbClr val="1E293B"/>
                </a:solidFill>
                <a:latin typeface="Calibri" pitchFamily="34" charset="0"/>
                <a:ea typeface="Calibri" pitchFamily="34" charset="-122"/>
                <a:cs typeface="Calibri" pitchFamily="34" charset="-120"/>
              </a:rPr>
              <a:t>Suche</a:t>
            </a:r>
            <a:r>
              <a:rPr lang="en-US" sz="1400" dirty="0">
                <a:solidFill>
                  <a:srgbClr val="1E293B"/>
                </a:solidFill>
                <a:latin typeface="Calibri" pitchFamily="34" charset="0"/>
                <a:ea typeface="Calibri" pitchFamily="34" charset="-122"/>
                <a:cs typeface="Calibri" pitchFamily="34" charset="-120"/>
              </a:rPr>
              <a:t> auf </a:t>
            </a:r>
            <a:r>
              <a:rPr lang="en-US" sz="1400" dirty="0" err="1">
                <a:solidFill>
                  <a:srgbClr val="1E293B"/>
                </a:solidFill>
                <a:latin typeface="Calibri" pitchFamily="34" charset="0"/>
                <a:ea typeface="Calibri" pitchFamily="34" charset="-122"/>
                <a:cs typeface="Calibri" pitchFamily="34" charset="-120"/>
              </a:rPr>
              <a:t>unserer</a:t>
            </a:r>
            <a:r>
              <a:rPr lang="en-US" sz="1400" dirty="0">
                <a:solidFill>
                  <a:srgbClr val="1E293B"/>
                </a:solidFill>
                <a:latin typeface="Calibri" pitchFamily="34" charset="0"/>
                <a:ea typeface="Calibri" pitchFamily="34" charset="-122"/>
                <a:cs typeface="Calibri" pitchFamily="34" charset="-120"/>
              </a:rPr>
              <a:t> </a:t>
            </a:r>
            <a:r>
              <a:rPr lang="en-US" sz="1400" dirty="0" err="1">
                <a:solidFill>
                  <a:srgbClr val="1E293B"/>
                </a:solidFill>
                <a:latin typeface="Calibri" pitchFamily="34" charset="0"/>
                <a:ea typeface="Calibri" pitchFamily="34" charset="-122"/>
                <a:cs typeface="Calibri" pitchFamily="34" charset="-120"/>
              </a:rPr>
              <a:t>Wissensbasis</a:t>
            </a:r>
            <a:r>
              <a:rPr lang="en-US" sz="1400" dirty="0">
                <a:solidFill>
                  <a:srgbClr val="1E293B"/>
                </a:solidFill>
                <a:latin typeface="Calibri" pitchFamily="34" charset="0"/>
                <a:ea typeface="Calibri" pitchFamily="34" charset="-122"/>
                <a:cs typeface="Calibri" pitchFamily="34" charset="-120"/>
              </a:rPr>
              <a:t> </a:t>
            </a:r>
            <a:r>
              <a:rPr lang="en-US" sz="1400" dirty="0" err="1">
                <a:solidFill>
                  <a:srgbClr val="1E293B"/>
                </a:solidFill>
                <a:latin typeface="Calibri" pitchFamily="34" charset="0"/>
                <a:ea typeface="Calibri" pitchFamily="34" charset="-122"/>
                <a:cs typeface="Calibri" pitchFamily="34" charset="-120"/>
              </a:rPr>
              <a:t>müssen</a:t>
            </a:r>
            <a:r>
              <a:rPr lang="en-US" sz="1400" dirty="0">
                <a:solidFill>
                  <a:srgbClr val="1E293B"/>
                </a:solidFill>
                <a:latin typeface="Calibri" pitchFamily="34" charset="0"/>
                <a:ea typeface="Calibri" pitchFamily="34" charset="-122"/>
                <a:cs typeface="Calibri" pitchFamily="34" charset="-120"/>
              </a:rPr>
              <a:t> </a:t>
            </a:r>
            <a:r>
              <a:rPr lang="en-US" sz="1400" dirty="0" err="1">
                <a:solidFill>
                  <a:srgbClr val="1E293B"/>
                </a:solidFill>
                <a:latin typeface="Calibri" pitchFamily="34" charset="0"/>
                <a:ea typeface="Calibri" pitchFamily="34" charset="-122"/>
                <a:cs typeface="Calibri" pitchFamily="34" charset="-120"/>
              </a:rPr>
              <a:t>wir</a:t>
            </a:r>
            <a:r>
              <a:rPr lang="en-US" sz="1400" dirty="0">
                <a:solidFill>
                  <a:srgbClr val="1E293B"/>
                </a:solidFill>
                <a:latin typeface="Calibri" pitchFamily="34" charset="0"/>
                <a:ea typeface="Calibri" pitchFamily="34" charset="-122"/>
                <a:cs typeface="Calibri" pitchFamily="34" charset="-120"/>
              </a:rPr>
              <a:t> </a:t>
            </a:r>
            <a:r>
              <a:rPr lang="en-US" sz="1400" dirty="0" err="1">
                <a:solidFill>
                  <a:srgbClr val="1E293B"/>
                </a:solidFill>
                <a:latin typeface="Calibri" pitchFamily="34" charset="0"/>
                <a:ea typeface="Calibri" pitchFamily="34" charset="-122"/>
                <a:cs typeface="Calibri" pitchFamily="34" charset="-120"/>
              </a:rPr>
              <a:t>hingegen</a:t>
            </a:r>
            <a:r>
              <a:rPr lang="en-US" sz="1400" dirty="0">
                <a:solidFill>
                  <a:srgbClr val="1E293B"/>
                </a:solidFill>
                <a:latin typeface="Calibri" pitchFamily="34" charset="0"/>
                <a:ea typeface="Calibri" pitchFamily="34" charset="-122"/>
                <a:cs typeface="Calibri" pitchFamily="34" charset="-120"/>
              </a:rPr>
              <a:t> die </a:t>
            </a:r>
            <a:r>
              <a:rPr lang="en-US" sz="1400" b="1" dirty="0" err="1">
                <a:solidFill>
                  <a:srgbClr val="1E293B"/>
                </a:solidFill>
                <a:latin typeface="Calibri" pitchFamily="34" charset="0"/>
                <a:ea typeface="Calibri" pitchFamily="34" charset="-122"/>
                <a:cs typeface="Calibri" pitchFamily="34" charset="-120"/>
              </a:rPr>
              <a:t>Bedeutung</a:t>
            </a:r>
            <a:r>
              <a:rPr lang="en-US" sz="1400" dirty="0">
                <a:solidFill>
                  <a:srgbClr val="1E293B"/>
                </a:solidFill>
                <a:latin typeface="Calibri" pitchFamily="34" charset="0"/>
                <a:ea typeface="Calibri" pitchFamily="34" charset="-122"/>
                <a:cs typeface="Calibri" pitchFamily="34" charset="-120"/>
              </a:rPr>
              <a:t> von </a:t>
            </a:r>
            <a:r>
              <a:rPr lang="en-US" sz="1400" dirty="0" err="1">
                <a:solidFill>
                  <a:srgbClr val="1E293B"/>
                </a:solidFill>
                <a:latin typeface="Calibri" pitchFamily="34" charset="0"/>
                <a:ea typeface="Calibri" pitchFamily="34" charset="-122"/>
                <a:cs typeface="Calibri" pitchFamily="34" charset="-120"/>
              </a:rPr>
              <a:t>Wörtern</a:t>
            </a:r>
            <a:r>
              <a:rPr lang="en-US" sz="1400" dirty="0">
                <a:solidFill>
                  <a:srgbClr val="1E293B"/>
                </a:solidFill>
                <a:latin typeface="Calibri" pitchFamily="34" charset="0"/>
                <a:ea typeface="Calibri" pitchFamily="34" charset="-122"/>
                <a:cs typeface="Calibri" pitchFamily="34" charset="-120"/>
              </a:rPr>
              <a:t> </a:t>
            </a:r>
            <a:r>
              <a:rPr lang="en-US" sz="1400" dirty="0" err="1">
                <a:solidFill>
                  <a:srgbClr val="1E293B"/>
                </a:solidFill>
                <a:latin typeface="Calibri" pitchFamily="34" charset="0"/>
                <a:ea typeface="Calibri" pitchFamily="34" charset="-122"/>
                <a:cs typeface="Calibri" pitchFamily="34" charset="-120"/>
              </a:rPr>
              <a:t>vergleichen</a:t>
            </a:r>
            <a:r>
              <a:rPr lang="en-US" sz="1400" dirty="0">
                <a:solidFill>
                  <a:srgbClr val="1E293B"/>
                </a:solidFill>
                <a:latin typeface="Calibri" pitchFamily="34" charset="0"/>
                <a:ea typeface="Calibri" pitchFamily="34" charset="-122"/>
                <a:cs typeface="Calibri" pitchFamily="34" charset="-120"/>
              </a:rPr>
              <a:t>.</a:t>
            </a:r>
          </a:p>
          <a:p>
            <a:pPr>
              <a:lnSpc>
                <a:spcPct val="130000"/>
              </a:lnSpc>
            </a:pPr>
            <a:r>
              <a:rPr lang="en-US" sz="1400" i="1" dirty="0">
                <a:solidFill>
                  <a:srgbClr val="1E293B"/>
                </a:solidFill>
                <a:latin typeface="Calibri" pitchFamily="34" charset="0"/>
                <a:ea typeface="Calibri" pitchFamily="34" charset="-122"/>
                <a:cs typeface="Calibri" pitchFamily="34" charset="-120"/>
              </a:rPr>
              <a:t>→ </a:t>
            </a:r>
            <a:r>
              <a:rPr lang="en-US" sz="1400" dirty="0">
                <a:solidFill>
                  <a:srgbClr val="1E293B"/>
                </a:solidFill>
                <a:latin typeface="Calibri" pitchFamily="34" charset="0"/>
                <a:ea typeface="Calibri" pitchFamily="34" charset="-122"/>
                <a:cs typeface="Calibri" pitchFamily="34" charset="-120"/>
              </a:rPr>
              <a:t>Also beurteilen können, dass „Kosten der Produktion" und „Herstellungsaufwand" </a:t>
            </a:r>
            <a:r>
              <a:rPr lang="en-US" sz="1400" dirty="0" err="1">
                <a:solidFill>
                  <a:srgbClr val="1E293B"/>
                </a:solidFill>
                <a:latin typeface="Calibri" pitchFamily="34" charset="0"/>
                <a:ea typeface="Calibri" pitchFamily="34" charset="-122"/>
                <a:cs typeface="Calibri" pitchFamily="34" charset="-120"/>
              </a:rPr>
              <a:t>dasselbe</a:t>
            </a:r>
            <a:r>
              <a:rPr lang="en-US" sz="1400" dirty="0">
                <a:solidFill>
                  <a:srgbClr val="1E293B"/>
                </a:solidFill>
                <a:latin typeface="Calibri" pitchFamily="34" charset="0"/>
                <a:ea typeface="Calibri" pitchFamily="34" charset="-122"/>
                <a:cs typeface="Calibri" pitchFamily="34" charset="-120"/>
              </a:rPr>
              <a:t> </a:t>
            </a:r>
            <a:r>
              <a:rPr lang="en-US" sz="1400" dirty="0" err="1">
                <a:solidFill>
                  <a:srgbClr val="1E293B"/>
                </a:solidFill>
                <a:latin typeface="Calibri" pitchFamily="34" charset="0"/>
                <a:ea typeface="Calibri" pitchFamily="34" charset="-122"/>
                <a:cs typeface="Calibri" pitchFamily="34" charset="-120"/>
              </a:rPr>
              <a:t>bedeuten</a:t>
            </a:r>
            <a:r>
              <a:rPr lang="en-US" sz="1400" dirty="0">
                <a:solidFill>
                  <a:srgbClr val="1E293B"/>
                </a:solidFill>
                <a:latin typeface="Calibri" pitchFamily="34" charset="0"/>
                <a:ea typeface="Calibri" pitchFamily="34" charset="-122"/>
                <a:cs typeface="Calibri" pitchFamily="34" charset="-120"/>
              </a:rPr>
              <a:t>.</a:t>
            </a:r>
            <a:endParaRPr lang="en-US" sz="1400" dirty="0"/>
          </a:p>
        </p:txBody>
      </p:sp>
      <p:sp>
        <p:nvSpPr>
          <p:cNvPr id="11" name="Text 4">
            <a:extLst>
              <a:ext uri="{FF2B5EF4-FFF2-40B4-BE49-F238E27FC236}">
                <a16:creationId xmlns:a16="http://schemas.microsoft.com/office/drawing/2014/main" id="{F0573220-8916-443F-806F-2D3FBCF49C0F}"/>
              </a:ext>
            </a:extLst>
          </p:cNvPr>
          <p:cNvSpPr/>
          <p:nvPr/>
        </p:nvSpPr>
        <p:spPr>
          <a:xfrm>
            <a:off x="447368" y="3645220"/>
            <a:ext cx="4181161" cy="948611"/>
          </a:xfrm>
          <a:prstGeom prst="rect">
            <a:avLst/>
          </a:prstGeom>
          <a:noFill/>
          <a:ln/>
        </p:spPr>
        <p:txBody>
          <a:bodyPr wrap="square" lIns="0" tIns="0" rIns="0" bIns="0" rtlCol="0" anchor="ctr"/>
          <a:lstStyle/>
          <a:p>
            <a:pPr>
              <a:lnSpc>
                <a:spcPct val="130000"/>
              </a:lnSpc>
            </a:pPr>
            <a:r>
              <a:rPr lang="en-US" sz="1400" dirty="0">
                <a:solidFill>
                  <a:srgbClr val="F97316"/>
                </a:solidFill>
                <a:latin typeface="Calibri" pitchFamily="34" charset="0"/>
                <a:ea typeface="Calibri" pitchFamily="34" charset="-122"/>
                <a:cs typeface="Calibri" pitchFamily="34" charset="-120"/>
              </a:rPr>
              <a:t>Dafür kodieren wir Texte als </a:t>
            </a:r>
            <a:r>
              <a:rPr lang="en-US" sz="1400" b="1" dirty="0">
                <a:solidFill>
                  <a:srgbClr val="F97316"/>
                </a:solidFill>
                <a:latin typeface="Calibri" pitchFamily="34" charset="0"/>
                <a:ea typeface="Calibri" pitchFamily="34" charset="-122"/>
                <a:cs typeface="Calibri" pitchFamily="34" charset="-120"/>
              </a:rPr>
              <a:t>Vektoren</a:t>
            </a:r>
            <a:r>
              <a:rPr lang="en-US" sz="1400" dirty="0">
                <a:solidFill>
                  <a:srgbClr val="F97316"/>
                </a:solidFill>
                <a:latin typeface="Calibri" pitchFamily="34" charset="0"/>
                <a:ea typeface="Calibri" pitchFamily="34" charset="-122"/>
                <a:cs typeface="Calibri" pitchFamily="34" charset="-120"/>
              </a:rPr>
              <a:t> in einem </a:t>
            </a:r>
            <a:r>
              <a:rPr lang="en-US" sz="1400" dirty="0" err="1">
                <a:solidFill>
                  <a:srgbClr val="F97316"/>
                </a:solidFill>
                <a:latin typeface="Calibri" pitchFamily="34" charset="0"/>
                <a:ea typeface="Calibri" pitchFamily="34" charset="-122"/>
                <a:cs typeface="Calibri" pitchFamily="34" charset="-120"/>
              </a:rPr>
              <a:t>hochdimensionalen</a:t>
            </a:r>
            <a:r>
              <a:rPr lang="en-US" sz="1400" dirty="0">
                <a:solidFill>
                  <a:srgbClr val="F97316"/>
                </a:solidFill>
                <a:latin typeface="Calibri" pitchFamily="34" charset="0"/>
                <a:ea typeface="Calibri" pitchFamily="34" charset="-122"/>
                <a:cs typeface="Calibri" pitchFamily="34" charset="-120"/>
              </a:rPr>
              <a:t> </a:t>
            </a:r>
            <a:r>
              <a:rPr lang="en-US" sz="1400" dirty="0" err="1">
                <a:solidFill>
                  <a:srgbClr val="F97316"/>
                </a:solidFill>
                <a:latin typeface="Calibri" pitchFamily="34" charset="0"/>
                <a:ea typeface="Calibri" pitchFamily="34" charset="-122"/>
                <a:cs typeface="Calibri" pitchFamily="34" charset="-120"/>
              </a:rPr>
              <a:t>Bedeutungsraum</a:t>
            </a:r>
            <a:r>
              <a:rPr lang="en-US" sz="1400" dirty="0">
                <a:solidFill>
                  <a:srgbClr val="F97316"/>
                </a:solidFill>
                <a:latin typeface="Calibri" pitchFamily="34" charset="0"/>
                <a:ea typeface="Calibri" pitchFamily="34" charset="-122"/>
                <a:cs typeface="Calibri" pitchFamily="34" charset="-120"/>
              </a:rPr>
              <a:t>; und berechnen </a:t>
            </a:r>
            <a:r>
              <a:rPr lang="en-US" sz="1400" b="1" dirty="0">
                <a:solidFill>
                  <a:srgbClr val="F97316"/>
                </a:solidFill>
                <a:latin typeface="Calibri" pitchFamily="34" charset="0"/>
                <a:ea typeface="Calibri" pitchFamily="34" charset="-122"/>
                <a:cs typeface="Calibri" pitchFamily="34" charset="-120"/>
              </a:rPr>
              <a:t>Nähe</a:t>
            </a:r>
            <a:r>
              <a:rPr lang="en-US" sz="1400" dirty="0">
                <a:solidFill>
                  <a:srgbClr val="F97316"/>
                </a:solidFill>
                <a:latin typeface="Calibri" pitchFamily="34" charset="0"/>
                <a:ea typeface="Calibri" pitchFamily="34" charset="-122"/>
                <a:cs typeface="Calibri" pitchFamily="34" charset="-120"/>
              </a:rPr>
              <a:t> statt Gleichheit.</a:t>
            </a:r>
            <a:endParaRPr lang="en-US" sz="1400" dirty="0"/>
          </a:p>
        </p:txBody>
      </p:sp>
      <p:sp>
        <p:nvSpPr>
          <p:cNvPr id="58" name="Shape 5">
            <a:extLst>
              <a:ext uri="{FF2B5EF4-FFF2-40B4-BE49-F238E27FC236}">
                <a16:creationId xmlns:a16="http://schemas.microsoft.com/office/drawing/2014/main" id="{B71FC9FC-4D7A-4168-8DF6-25F38F7F8C7D}"/>
              </a:ext>
            </a:extLst>
          </p:cNvPr>
          <p:cNvSpPr/>
          <p:nvPr/>
        </p:nvSpPr>
        <p:spPr>
          <a:xfrm>
            <a:off x="4866738" y="1372077"/>
            <a:ext cx="1874520" cy="1554480"/>
          </a:xfrm>
          <a:prstGeom prst="rect">
            <a:avLst/>
          </a:prstGeom>
          <a:solidFill>
            <a:srgbClr val="F1F5F9"/>
          </a:solidFill>
          <a:ln w="9525">
            <a:solidFill>
              <a:srgbClr val="E2E8F0"/>
            </a:solidFill>
            <a:prstDash val="solid"/>
          </a:ln>
        </p:spPr>
      </p:sp>
      <p:sp>
        <p:nvSpPr>
          <p:cNvPr id="59" name="Shape 6">
            <a:extLst>
              <a:ext uri="{FF2B5EF4-FFF2-40B4-BE49-F238E27FC236}">
                <a16:creationId xmlns:a16="http://schemas.microsoft.com/office/drawing/2014/main" id="{BD45BC2D-942B-4EC1-AC88-FC7075849E9E}"/>
              </a:ext>
            </a:extLst>
          </p:cNvPr>
          <p:cNvSpPr/>
          <p:nvPr/>
        </p:nvSpPr>
        <p:spPr>
          <a:xfrm>
            <a:off x="4866738" y="1372077"/>
            <a:ext cx="54864" cy="1554480"/>
          </a:xfrm>
          <a:prstGeom prst="rect">
            <a:avLst/>
          </a:prstGeom>
          <a:solidFill>
            <a:srgbClr val="F97316"/>
          </a:solidFill>
          <a:ln w="12700">
            <a:solidFill>
              <a:srgbClr val="F97316"/>
            </a:solidFill>
            <a:prstDash val="solid"/>
          </a:ln>
        </p:spPr>
      </p:sp>
      <p:sp>
        <p:nvSpPr>
          <p:cNvPr id="60" name="Text 7">
            <a:extLst>
              <a:ext uri="{FF2B5EF4-FFF2-40B4-BE49-F238E27FC236}">
                <a16:creationId xmlns:a16="http://schemas.microsoft.com/office/drawing/2014/main" id="{309BE38D-EDB9-46B2-B40B-B467F4ED80C7}"/>
              </a:ext>
            </a:extLst>
          </p:cNvPr>
          <p:cNvSpPr/>
          <p:nvPr/>
        </p:nvSpPr>
        <p:spPr>
          <a:xfrm>
            <a:off x="5031330" y="1554957"/>
            <a:ext cx="1645920" cy="457200"/>
          </a:xfrm>
          <a:prstGeom prst="rect">
            <a:avLst/>
          </a:prstGeom>
          <a:noFill/>
          <a:ln/>
        </p:spPr>
        <p:txBody>
          <a:bodyPr wrap="square" lIns="0" tIns="0" rIns="0" bIns="0" rtlCol="0" anchor="ctr"/>
          <a:lstStyle/>
          <a:p>
            <a:pPr marL="0" indent="0">
              <a:buNone/>
            </a:pPr>
            <a:r>
              <a:rPr lang="en-US" sz="1300" b="1" dirty="0">
                <a:solidFill>
                  <a:srgbClr val="0F172A"/>
                </a:solidFill>
                <a:latin typeface="Cambria" pitchFamily="34" charset="0"/>
                <a:ea typeface="Cambria" pitchFamily="34" charset="-122"/>
                <a:cs typeface="Cambria" pitchFamily="34" charset="-120"/>
              </a:rPr>
              <a:t>Google-</a:t>
            </a:r>
            <a:r>
              <a:rPr lang="en-US" sz="1300" b="1" dirty="0" err="1">
                <a:solidFill>
                  <a:srgbClr val="0F172A"/>
                </a:solidFill>
                <a:latin typeface="Cambria" pitchFamily="34" charset="0"/>
                <a:ea typeface="Cambria" pitchFamily="34" charset="-122"/>
                <a:cs typeface="Cambria" pitchFamily="34" charset="-120"/>
              </a:rPr>
              <a:t>Suche</a:t>
            </a:r>
            <a:endParaRPr lang="en-US" sz="1300" dirty="0"/>
          </a:p>
        </p:txBody>
      </p:sp>
      <p:sp>
        <p:nvSpPr>
          <p:cNvPr id="61" name="Text 8">
            <a:extLst>
              <a:ext uri="{FF2B5EF4-FFF2-40B4-BE49-F238E27FC236}">
                <a16:creationId xmlns:a16="http://schemas.microsoft.com/office/drawing/2014/main" id="{705D85FA-59D9-45BF-8362-048D3C798C19}"/>
              </a:ext>
            </a:extLst>
          </p:cNvPr>
          <p:cNvSpPr/>
          <p:nvPr/>
        </p:nvSpPr>
        <p:spPr>
          <a:xfrm>
            <a:off x="5031330" y="2012157"/>
            <a:ext cx="1645920" cy="868680"/>
          </a:xfrm>
          <a:prstGeom prst="rect">
            <a:avLst/>
          </a:prstGeom>
          <a:noFill/>
          <a:ln/>
        </p:spPr>
        <p:txBody>
          <a:bodyPr wrap="square" lIns="0" tIns="0" rIns="0" bIns="0" rtlCol="0" anchor="ctr"/>
          <a:lstStyle/>
          <a:p>
            <a:pPr marL="0" indent="0">
              <a:lnSpc>
                <a:spcPct val="125000"/>
              </a:lnSpc>
              <a:buNone/>
            </a:pPr>
            <a:r>
              <a:rPr lang="en-US" sz="1050" dirty="0">
                <a:solidFill>
                  <a:srgbClr val="475569"/>
                </a:solidFill>
                <a:latin typeface="Calibri" pitchFamily="34" charset="0"/>
                <a:ea typeface="Calibri" pitchFamily="34" charset="-122"/>
                <a:cs typeface="Calibri" pitchFamily="34" charset="-120"/>
              </a:rPr>
              <a:t>Semantische Rankings seit BERT (2019) </a:t>
            </a:r>
            <a:r>
              <a:rPr lang="en-US" sz="800" dirty="0">
                <a:solidFill>
                  <a:schemeClr val="bg1">
                    <a:lumMod val="65000"/>
                  </a:schemeClr>
                </a:solidFill>
                <a:latin typeface="Calibri" pitchFamily="34" charset="0"/>
                <a:ea typeface="Calibri" pitchFamily="34" charset="-122"/>
                <a:cs typeface="Calibri" pitchFamily="34" charset="-120"/>
              </a:rPr>
              <a:t>[Q1]</a:t>
            </a:r>
            <a:endParaRPr lang="en-US" sz="800" dirty="0">
              <a:solidFill>
                <a:schemeClr val="bg1">
                  <a:lumMod val="65000"/>
                </a:schemeClr>
              </a:solidFill>
            </a:endParaRPr>
          </a:p>
        </p:txBody>
      </p:sp>
      <p:sp>
        <p:nvSpPr>
          <p:cNvPr id="62" name="Shape 9">
            <a:extLst>
              <a:ext uri="{FF2B5EF4-FFF2-40B4-BE49-F238E27FC236}">
                <a16:creationId xmlns:a16="http://schemas.microsoft.com/office/drawing/2014/main" id="{87010D2D-D6F6-47D3-B582-CFED153F0381}"/>
              </a:ext>
            </a:extLst>
          </p:cNvPr>
          <p:cNvSpPr/>
          <p:nvPr/>
        </p:nvSpPr>
        <p:spPr>
          <a:xfrm>
            <a:off x="6924138" y="1354172"/>
            <a:ext cx="1874520" cy="1554480"/>
          </a:xfrm>
          <a:prstGeom prst="rect">
            <a:avLst/>
          </a:prstGeom>
          <a:solidFill>
            <a:srgbClr val="F1F5F9"/>
          </a:solidFill>
          <a:ln w="9525">
            <a:solidFill>
              <a:srgbClr val="E2E8F0"/>
            </a:solidFill>
            <a:prstDash val="solid"/>
          </a:ln>
        </p:spPr>
      </p:sp>
      <p:sp>
        <p:nvSpPr>
          <p:cNvPr id="63" name="Shape 10">
            <a:extLst>
              <a:ext uri="{FF2B5EF4-FFF2-40B4-BE49-F238E27FC236}">
                <a16:creationId xmlns:a16="http://schemas.microsoft.com/office/drawing/2014/main" id="{D7E46D25-E1A7-4176-8566-4D48152509B2}"/>
              </a:ext>
            </a:extLst>
          </p:cNvPr>
          <p:cNvSpPr/>
          <p:nvPr/>
        </p:nvSpPr>
        <p:spPr>
          <a:xfrm>
            <a:off x="6924138" y="1372077"/>
            <a:ext cx="54864" cy="1554480"/>
          </a:xfrm>
          <a:prstGeom prst="rect">
            <a:avLst/>
          </a:prstGeom>
          <a:solidFill>
            <a:srgbClr val="F97316"/>
          </a:solidFill>
          <a:ln w="12700">
            <a:solidFill>
              <a:srgbClr val="F97316"/>
            </a:solidFill>
            <a:prstDash val="solid"/>
          </a:ln>
        </p:spPr>
      </p:sp>
      <p:sp>
        <p:nvSpPr>
          <p:cNvPr id="64" name="Text 11">
            <a:extLst>
              <a:ext uri="{FF2B5EF4-FFF2-40B4-BE49-F238E27FC236}">
                <a16:creationId xmlns:a16="http://schemas.microsoft.com/office/drawing/2014/main" id="{94356B45-B69A-4B21-B0D1-BD4401D8A894}"/>
              </a:ext>
            </a:extLst>
          </p:cNvPr>
          <p:cNvSpPr/>
          <p:nvPr/>
        </p:nvSpPr>
        <p:spPr>
          <a:xfrm>
            <a:off x="7088730" y="1545724"/>
            <a:ext cx="1948738" cy="531295"/>
          </a:xfrm>
          <a:prstGeom prst="rect">
            <a:avLst/>
          </a:prstGeom>
          <a:noFill/>
          <a:ln/>
        </p:spPr>
        <p:txBody>
          <a:bodyPr wrap="square" lIns="0" tIns="0" rIns="0" bIns="0" rtlCol="0" anchor="ctr"/>
          <a:lstStyle/>
          <a:p>
            <a:pPr marL="0" indent="0">
              <a:buNone/>
            </a:pPr>
            <a:r>
              <a:rPr lang="en-US" sz="1300" b="1" dirty="0" err="1">
                <a:solidFill>
                  <a:srgbClr val="0F172A"/>
                </a:solidFill>
                <a:latin typeface="Cambria" pitchFamily="34" charset="0"/>
                <a:ea typeface="Cambria" pitchFamily="34" charset="-122"/>
              </a:rPr>
              <a:t>Empfehlungs-Algorithmen</a:t>
            </a:r>
            <a:endParaRPr lang="en-US" sz="1300" b="1" dirty="0">
              <a:solidFill>
                <a:srgbClr val="0F172A"/>
              </a:solidFill>
              <a:latin typeface="Cambria" pitchFamily="34" charset="0"/>
              <a:ea typeface="Cambria" pitchFamily="34" charset="-122"/>
            </a:endParaRPr>
          </a:p>
          <a:p>
            <a:pPr marL="0" indent="0">
              <a:buNone/>
            </a:pPr>
            <a:r>
              <a:rPr lang="en-US" sz="1000" dirty="0" err="1"/>
              <a:t>z.B.</a:t>
            </a:r>
            <a:r>
              <a:rPr lang="en-US" sz="1000" dirty="0"/>
              <a:t> </a:t>
            </a:r>
            <a:r>
              <a:rPr lang="en-US" sz="1000" dirty="0" err="1"/>
              <a:t>TikTok</a:t>
            </a:r>
            <a:r>
              <a:rPr lang="en-US" sz="1000" dirty="0"/>
              <a:t> For You Page </a:t>
            </a:r>
            <a:r>
              <a:rPr lang="en-US" sz="800" dirty="0">
                <a:solidFill>
                  <a:schemeClr val="bg1">
                    <a:lumMod val="65000"/>
                  </a:schemeClr>
                </a:solidFill>
                <a:latin typeface="Calibri" pitchFamily="34" charset="0"/>
                <a:ea typeface="Calibri" pitchFamily="34" charset="-122"/>
                <a:cs typeface="Calibri" pitchFamily="34" charset="-120"/>
              </a:rPr>
              <a:t>[Q2]</a:t>
            </a:r>
          </a:p>
        </p:txBody>
      </p:sp>
      <p:sp>
        <p:nvSpPr>
          <p:cNvPr id="65" name="Text 12">
            <a:extLst>
              <a:ext uri="{FF2B5EF4-FFF2-40B4-BE49-F238E27FC236}">
                <a16:creationId xmlns:a16="http://schemas.microsoft.com/office/drawing/2014/main" id="{A8CE11E4-8D8A-460B-994D-F30D5FEE78DB}"/>
              </a:ext>
            </a:extLst>
          </p:cNvPr>
          <p:cNvSpPr/>
          <p:nvPr/>
        </p:nvSpPr>
        <p:spPr>
          <a:xfrm>
            <a:off x="7088730" y="2048925"/>
            <a:ext cx="1645920" cy="868680"/>
          </a:xfrm>
          <a:prstGeom prst="rect">
            <a:avLst/>
          </a:prstGeom>
          <a:noFill/>
          <a:ln/>
        </p:spPr>
        <p:txBody>
          <a:bodyPr wrap="square" lIns="0" tIns="0" rIns="0" bIns="0" rtlCol="0" anchor="ctr"/>
          <a:lstStyle/>
          <a:p>
            <a:pPr marL="0" indent="0">
              <a:lnSpc>
                <a:spcPct val="125000"/>
              </a:lnSpc>
              <a:buNone/>
            </a:pPr>
            <a:r>
              <a:rPr lang="en-US" sz="1050" dirty="0" err="1">
                <a:solidFill>
                  <a:srgbClr val="475569"/>
                </a:solidFill>
                <a:latin typeface="Calibri" pitchFamily="34" charset="0"/>
                <a:ea typeface="Calibri" pitchFamily="34" charset="-122"/>
                <a:cs typeface="Calibri" pitchFamily="34" charset="-120"/>
              </a:rPr>
              <a:t>Empfehlungen</a:t>
            </a:r>
            <a:r>
              <a:rPr lang="en-US" sz="1050" dirty="0">
                <a:solidFill>
                  <a:srgbClr val="475569"/>
                </a:solidFill>
                <a:latin typeface="Calibri" pitchFamily="34" charset="0"/>
                <a:ea typeface="Calibri" pitchFamily="34" charset="-122"/>
                <a:cs typeface="Calibri" pitchFamily="34" charset="-120"/>
              </a:rPr>
              <a:t> über Nutzer- &amp; Content-</a:t>
            </a:r>
            <a:r>
              <a:rPr lang="en-US" sz="1050" dirty="0" err="1">
                <a:solidFill>
                  <a:srgbClr val="475569"/>
                </a:solidFill>
                <a:latin typeface="Calibri" pitchFamily="34" charset="0"/>
                <a:ea typeface="Calibri" pitchFamily="34" charset="-122"/>
                <a:cs typeface="Calibri" pitchFamily="34" charset="-120"/>
              </a:rPr>
              <a:t>Vektoren</a:t>
            </a:r>
            <a:endParaRPr lang="en-US" sz="1050" dirty="0"/>
          </a:p>
        </p:txBody>
      </p:sp>
      <p:sp>
        <p:nvSpPr>
          <p:cNvPr id="66" name="Shape 13">
            <a:extLst>
              <a:ext uri="{FF2B5EF4-FFF2-40B4-BE49-F238E27FC236}">
                <a16:creationId xmlns:a16="http://schemas.microsoft.com/office/drawing/2014/main" id="{0878230E-A5B8-4C40-806E-C418419E9796}"/>
              </a:ext>
            </a:extLst>
          </p:cNvPr>
          <p:cNvSpPr/>
          <p:nvPr/>
        </p:nvSpPr>
        <p:spPr>
          <a:xfrm>
            <a:off x="4866738" y="3109437"/>
            <a:ext cx="1874520" cy="1554480"/>
          </a:xfrm>
          <a:prstGeom prst="rect">
            <a:avLst/>
          </a:prstGeom>
          <a:solidFill>
            <a:srgbClr val="F1F5F9"/>
          </a:solidFill>
          <a:ln w="9525">
            <a:solidFill>
              <a:srgbClr val="E2E8F0"/>
            </a:solidFill>
            <a:prstDash val="solid"/>
          </a:ln>
        </p:spPr>
      </p:sp>
      <p:sp>
        <p:nvSpPr>
          <p:cNvPr id="67" name="Shape 14">
            <a:extLst>
              <a:ext uri="{FF2B5EF4-FFF2-40B4-BE49-F238E27FC236}">
                <a16:creationId xmlns:a16="http://schemas.microsoft.com/office/drawing/2014/main" id="{7DD53737-93A9-4EBA-8DC3-AE0980E492B6}"/>
              </a:ext>
            </a:extLst>
          </p:cNvPr>
          <p:cNvSpPr/>
          <p:nvPr/>
        </p:nvSpPr>
        <p:spPr>
          <a:xfrm>
            <a:off x="4866738" y="3109437"/>
            <a:ext cx="54864" cy="1554480"/>
          </a:xfrm>
          <a:prstGeom prst="rect">
            <a:avLst/>
          </a:prstGeom>
          <a:solidFill>
            <a:srgbClr val="F97316"/>
          </a:solidFill>
          <a:ln w="12700">
            <a:solidFill>
              <a:srgbClr val="F97316"/>
            </a:solidFill>
            <a:prstDash val="solid"/>
          </a:ln>
        </p:spPr>
      </p:sp>
      <p:sp>
        <p:nvSpPr>
          <p:cNvPr id="68" name="Text 15">
            <a:extLst>
              <a:ext uri="{FF2B5EF4-FFF2-40B4-BE49-F238E27FC236}">
                <a16:creationId xmlns:a16="http://schemas.microsoft.com/office/drawing/2014/main" id="{A6668C93-BFAB-4C58-9C3E-1D9B370117DC}"/>
              </a:ext>
            </a:extLst>
          </p:cNvPr>
          <p:cNvSpPr/>
          <p:nvPr/>
        </p:nvSpPr>
        <p:spPr>
          <a:xfrm>
            <a:off x="5031330" y="3292317"/>
            <a:ext cx="1645920" cy="457200"/>
          </a:xfrm>
          <a:prstGeom prst="rect">
            <a:avLst/>
          </a:prstGeom>
          <a:noFill/>
          <a:ln/>
        </p:spPr>
        <p:txBody>
          <a:bodyPr wrap="square" lIns="0" tIns="0" rIns="0" bIns="0" rtlCol="0" anchor="ctr"/>
          <a:lstStyle/>
          <a:p>
            <a:pPr marL="0" indent="0">
              <a:buNone/>
            </a:pPr>
            <a:r>
              <a:rPr lang="en-US" sz="1300" b="1" dirty="0">
                <a:solidFill>
                  <a:srgbClr val="0F172A"/>
                </a:solidFill>
                <a:latin typeface="Cambria" pitchFamily="34" charset="0"/>
                <a:ea typeface="Cambria" pitchFamily="34" charset="-122"/>
                <a:cs typeface="Cambria" pitchFamily="34" charset="-120"/>
              </a:rPr>
              <a:t>Moderne LLMs</a:t>
            </a:r>
            <a:endParaRPr lang="en-US" sz="1300" dirty="0"/>
          </a:p>
        </p:txBody>
      </p:sp>
      <p:sp>
        <p:nvSpPr>
          <p:cNvPr id="69" name="Text 16">
            <a:extLst>
              <a:ext uri="{FF2B5EF4-FFF2-40B4-BE49-F238E27FC236}">
                <a16:creationId xmlns:a16="http://schemas.microsoft.com/office/drawing/2014/main" id="{5C438314-E636-4AAA-8F02-6010F642B21E}"/>
              </a:ext>
            </a:extLst>
          </p:cNvPr>
          <p:cNvSpPr/>
          <p:nvPr/>
        </p:nvSpPr>
        <p:spPr>
          <a:xfrm>
            <a:off x="5031330" y="3749517"/>
            <a:ext cx="1645920" cy="868680"/>
          </a:xfrm>
          <a:prstGeom prst="rect">
            <a:avLst/>
          </a:prstGeom>
          <a:noFill/>
          <a:ln/>
        </p:spPr>
        <p:txBody>
          <a:bodyPr wrap="square" lIns="0" tIns="0" rIns="0" bIns="0" rtlCol="0" anchor="ctr"/>
          <a:lstStyle/>
          <a:p>
            <a:pPr marL="0" indent="0">
              <a:lnSpc>
                <a:spcPct val="125000"/>
              </a:lnSpc>
              <a:buNone/>
            </a:pPr>
            <a:r>
              <a:rPr lang="en-US" sz="1050" dirty="0" err="1">
                <a:solidFill>
                  <a:srgbClr val="475569"/>
                </a:solidFill>
                <a:latin typeface="Calibri" pitchFamily="34" charset="0"/>
                <a:ea typeface="Calibri" pitchFamily="34" charset="-122"/>
                <a:cs typeface="Calibri" pitchFamily="34" charset="-120"/>
              </a:rPr>
              <a:t>Grundbaustein</a:t>
            </a:r>
            <a:r>
              <a:rPr lang="en-US" sz="1050" dirty="0"/>
              <a:t> </a:t>
            </a:r>
            <a:r>
              <a:rPr lang="en-US" sz="800" dirty="0">
                <a:solidFill>
                  <a:schemeClr val="bg1">
                    <a:lumMod val="65000"/>
                  </a:schemeClr>
                </a:solidFill>
                <a:latin typeface="Calibri" pitchFamily="34" charset="0"/>
                <a:ea typeface="Calibri" pitchFamily="34" charset="-122"/>
                <a:cs typeface="Calibri" pitchFamily="34" charset="-120"/>
              </a:rPr>
              <a:t>[Q3]</a:t>
            </a:r>
          </a:p>
        </p:txBody>
      </p:sp>
      <p:sp>
        <p:nvSpPr>
          <p:cNvPr id="70" name="Shape 17">
            <a:extLst>
              <a:ext uri="{FF2B5EF4-FFF2-40B4-BE49-F238E27FC236}">
                <a16:creationId xmlns:a16="http://schemas.microsoft.com/office/drawing/2014/main" id="{CBF79CA6-9167-4EA6-B3D0-C27E6E3872F8}"/>
              </a:ext>
            </a:extLst>
          </p:cNvPr>
          <p:cNvSpPr/>
          <p:nvPr/>
        </p:nvSpPr>
        <p:spPr>
          <a:xfrm>
            <a:off x="6924138" y="3109437"/>
            <a:ext cx="1874520" cy="1554480"/>
          </a:xfrm>
          <a:prstGeom prst="rect">
            <a:avLst/>
          </a:prstGeom>
          <a:solidFill>
            <a:srgbClr val="F1F5F9"/>
          </a:solidFill>
          <a:ln w="9525">
            <a:solidFill>
              <a:srgbClr val="E2E8F0"/>
            </a:solidFill>
            <a:prstDash val="solid"/>
          </a:ln>
        </p:spPr>
      </p:sp>
      <p:sp>
        <p:nvSpPr>
          <p:cNvPr id="71" name="Shape 18">
            <a:extLst>
              <a:ext uri="{FF2B5EF4-FFF2-40B4-BE49-F238E27FC236}">
                <a16:creationId xmlns:a16="http://schemas.microsoft.com/office/drawing/2014/main" id="{3847A090-391B-4BA8-BD08-9CC0F857FE48}"/>
              </a:ext>
            </a:extLst>
          </p:cNvPr>
          <p:cNvSpPr/>
          <p:nvPr/>
        </p:nvSpPr>
        <p:spPr>
          <a:xfrm>
            <a:off x="6924138" y="3109437"/>
            <a:ext cx="54864" cy="1554480"/>
          </a:xfrm>
          <a:prstGeom prst="rect">
            <a:avLst/>
          </a:prstGeom>
          <a:solidFill>
            <a:srgbClr val="0F172A"/>
          </a:solidFill>
          <a:ln w="12700">
            <a:noFill/>
            <a:prstDash val="solid"/>
          </a:ln>
        </p:spPr>
      </p:sp>
      <p:sp>
        <p:nvSpPr>
          <p:cNvPr id="72" name="Text 19">
            <a:extLst>
              <a:ext uri="{FF2B5EF4-FFF2-40B4-BE49-F238E27FC236}">
                <a16:creationId xmlns:a16="http://schemas.microsoft.com/office/drawing/2014/main" id="{D7AECBBB-98F2-4774-BDCA-3B81A83499DB}"/>
              </a:ext>
            </a:extLst>
          </p:cNvPr>
          <p:cNvSpPr/>
          <p:nvPr/>
        </p:nvSpPr>
        <p:spPr>
          <a:xfrm>
            <a:off x="7088730" y="3292317"/>
            <a:ext cx="1645920" cy="457200"/>
          </a:xfrm>
          <a:prstGeom prst="rect">
            <a:avLst/>
          </a:prstGeom>
          <a:noFill/>
          <a:ln/>
        </p:spPr>
        <p:txBody>
          <a:bodyPr wrap="square" lIns="0" tIns="0" rIns="0" bIns="0" rtlCol="0" anchor="ctr"/>
          <a:lstStyle/>
          <a:p>
            <a:pPr marL="0" indent="0">
              <a:buNone/>
            </a:pPr>
            <a:r>
              <a:rPr lang="en-US" sz="1300" b="1" dirty="0">
                <a:solidFill>
                  <a:srgbClr val="0F172A"/>
                </a:solidFill>
                <a:latin typeface="Cambria" pitchFamily="34" charset="0"/>
                <a:ea typeface="Cambria" pitchFamily="34" charset="-122"/>
                <a:cs typeface="Cambria" pitchFamily="34" charset="-120"/>
              </a:rPr>
              <a:t>Unser Projekt</a:t>
            </a:r>
            <a:endParaRPr lang="en-US" sz="1300" dirty="0"/>
          </a:p>
        </p:txBody>
      </p:sp>
      <p:sp>
        <p:nvSpPr>
          <p:cNvPr id="73" name="Text 20">
            <a:extLst>
              <a:ext uri="{FF2B5EF4-FFF2-40B4-BE49-F238E27FC236}">
                <a16:creationId xmlns:a16="http://schemas.microsoft.com/office/drawing/2014/main" id="{1CFC2E1A-D7F8-48C2-B0D9-420B041FD2E4}"/>
              </a:ext>
            </a:extLst>
          </p:cNvPr>
          <p:cNvSpPr/>
          <p:nvPr/>
        </p:nvSpPr>
        <p:spPr>
          <a:xfrm>
            <a:off x="7088730" y="3749517"/>
            <a:ext cx="1645920" cy="868680"/>
          </a:xfrm>
          <a:prstGeom prst="rect">
            <a:avLst/>
          </a:prstGeom>
          <a:noFill/>
          <a:ln/>
        </p:spPr>
        <p:txBody>
          <a:bodyPr wrap="square" lIns="0" tIns="0" rIns="0" bIns="0" rtlCol="0" anchor="ctr"/>
          <a:lstStyle/>
          <a:p>
            <a:pPr marL="0" indent="0">
              <a:lnSpc>
                <a:spcPct val="125000"/>
              </a:lnSpc>
              <a:buNone/>
            </a:pPr>
            <a:r>
              <a:rPr lang="en-US" sz="1050" dirty="0" err="1">
                <a:solidFill>
                  <a:srgbClr val="475569"/>
                </a:solidFill>
                <a:latin typeface="Calibri" pitchFamily="34" charset="0"/>
                <a:ea typeface="Calibri" pitchFamily="34" charset="-122"/>
                <a:cs typeface="Calibri" pitchFamily="34" charset="-120"/>
              </a:rPr>
              <a:t>Semantische</a:t>
            </a:r>
            <a:r>
              <a:rPr lang="en-US" sz="1050" dirty="0">
                <a:solidFill>
                  <a:srgbClr val="475569"/>
                </a:solidFill>
                <a:latin typeface="Calibri" pitchFamily="34" charset="0"/>
                <a:ea typeface="Calibri" pitchFamily="34" charset="-122"/>
                <a:cs typeface="Calibri" pitchFamily="34" charset="-120"/>
              </a:rPr>
              <a:t> </a:t>
            </a:r>
            <a:r>
              <a:rPr lang="en-US" sz="1050" dirty="0" err="1">
                <a:solidFill>
                  <a:srgbClr val="475569"/>
                </a:solidFill>
                <a:latin typeface="Calibri" pitchFamily="34" charset="0"/>
                <a:ea typeface="Calibri" pitchFamily="34" charset="-122"/>
                <a:cs typeface="Calibri" pitchFamily="34" charset="-120"/>
              </a:rPr>
              <a:t>Dokumentensuche</a:t>
            </a:r>
            <a:r>
              <a:rPr lang="en-US" sz="1050" dirty="0">
                <a:solidFill>
                  <a:srgbClr val="475569"/>
                </a:solidFill>
                <a:latin typeface="Calibri" pitchFamily="34" charset="0"/>
                <a:ea typeface="Calibri" pitchFamily="34" charset="-122"/>
                <a:cs typeface="Calibri" pitchFamily="34" charset="-120"/>
              </a:rPr>
              <a:t> </a:t>
            </a:r>
            <a:r>
              <a:rPr lang="en-US" sz="1050" dirty="0" err="1">
                <a:solidFill>
                  <a:srgbClr val="475569"/>
                </a:solidFill>
                <a:latin typeface="Calibri" pitchFamily="34" charset="0"/>
                <a:ea typeface="Calibri" pitchFamily="34" charset="-122"/>
                <a:cs typeface="Calibri" pitchFamily="34" charset="-120"/>
              </a:rPr>
              <a:t>für</a:t>
            </a:r>
            <a:r>
              <a:rPr lang="en-US" sz="1050" dirty="0">
                <a:solidFill>
                  <a:srgbClr val="475569"/>
                </a:solidFill>
                <a:latin typeface="Calibri" pitchFamily="34" charset="0"/>
                <a:ea typeface="Calibri" pitchFamily="34" charset="-122"/>
                <a:cs typeface="Calibri" pitchFamily="34" charset="-120"/>
              </a:rPr>
              <a:t> RAG</a:t>
            </a:r>
          </a:p>
        </p:txBody>
      </p:sp>
      <p:sp>
        <p:nvSpPr>
          <p:cNvPr id="76" name="Datumsplatzhalter 75">
            <a:extLst>
              <a:ext uri="{FF2B5EF4-FFF2-40B4-BE49-F238E27FC236}">
                <a16:creationId xmlns:a16="http://schemas.microsoft.com/office/drawing/2014/main" id="{FB534BCA-17DB-4EBE-9103-31EF5969BBD5}"/>
              </a:ext>
            </a:extLst>
          </p:cNvPr>
          <p:cNvSpPr>
            <a:spLocks noGrp="1"/>
          </p:cNvSpPr>
          <p:nvPr>
            <p:ph type="dt" sz="half" idx="10"/>
          </p:nvPr>
        </p:nvSpPr>
        <p:spPr>
          <a:xfrm>
            <a:off x="347840" y="4807006"/>
            <a:ext cx="2338210" cy="273844"/>
          </a:xfrm>
        </p:spPr>
        <p:txBody>
          <a:bodyPr/>
          <a:lstStyle/>
          <a:p>
            <a:fld id="{0D05602C-25EE-48A8-8786-3C51BA41DB9E}" type="datetime1">
              <a:rPr lang="de-DE"/>
              <a:t>04.05.2026</a:t>
            </a:fld>
            <a:endParaRPr lang="de-DE" dirty="0"/>
          </a:p>
        </p:txBody>
      </p:sp>
      <p:sp>
        <p:nvSpPr>
          <p:cNvPr id="77" name="Fußzeilenplatzhalter 76">
            <a:extLst>
              <a:ext uri="{FF2B5EF4-FFF2-40B4-BE49-F238E27FC236}">
                <a16:creationId xmlns:a16="http://schemas.microsoft.com/office/drawing/2014/main" id="{10A96F6C-9081-4668-9382-F92081EE73D0}"/>
              </a:ext>
            </a:extLst>
          </p:cNvPr>
          <p:cNvSpPr>
            <a:spLocks noGrp="1"/>
          </p:cNvSpPr>
          <p:nvPr>
            <p:ph type="ftr" sz="quarter" idx="11"/>
          </p:nvPr>
        </p:nvSpPr>
        <p:spPr>
          <a:xfrm>
            <a:off x="2686050" y="4807006"/>
            <a:ext cx="3812404" cy="273844"/>
          </a:xfrm>
        </p:spPr>
        <p:txBody>
          <a:bodyPr/>
          <a:lstStyle/>
          <a:p>
            <a:r>
              <a:rPr lang="de-DE" dirty="0"/>
              <a:t>Vektordatenbanken </a:t>
            </a:r>
            <a:r>
              <a:rPr lang="en-US" dirty="0"/>
              <a:t>· </a:t>
            </a:r>
            <a:r>
              <a:rPr lang="en-US" dirty="0" err="1"/>
              <a:t>Studienprojekt</a:t>
            </a:r>
            <a:r>
              <a:rPr lang="en-US" dirty="0"/>
              <a:t> Reverse Chatbots</a:t>
            </a:r>
            <a:endParaRPr lang="de-DE" dirty="0"/>
          </a:p>
        </p:txBody>
      </p:sp>
      <p:sp>
        <p:nvSpPr>
          <p:cNvPr id="78" name="Foliennummernplatzhalter 77">
            <a:extLst>
              <a:ext uri="{FF2B5EF4-FFF2-40B4-BE49-F238E27FC236}">
                <a16:creationId xmlns:a16="http://schemas.microsoft.com/office/drawing/2014/main" id="{2B507CAF-8A2B-4670-8A8F-519A0AECCF4A}"/>
              </a:ext>
            </a:extLst>
          </p:cNvPr>
          <p:cNvSpPr>
            <a:spLocks noGrp="1"/>
          </p:cNvSpPr>
          <p:nvPr>
            <p:ph type="sldNum" sz="quarter" idx="12"/>
          </p:nvPr>
        </p:nvSpPr>
        <p:spPr>
          <a:xfrm>
            <a:off x="6457950" y="4807006"/>
            <a:ext cx="2338210" cy="273844"/>
          </a:xfrm>
        </p:spPr>
        <p:txBody>
          <a:bodyPr/>
          <a:lstStyle/>
          <a:p>
            <a:fld id="{0E836345-B243-4000-8050-9A1A9D10D9C9}" type="slidenum">
              <a:rPr lang="de-DE" smtClean="0"/>
              <a:t>2</a:t>
            </a:fld>
            <a:r>
              <a:rPr lang="de-DE" dirty="0"/>
              <a:t> / 12</a:t>
            </a:r>
          </a:p>
        </p:txBody>
      </p:sp>
    </p:spTree>
    <p:extLst>
      <p:ext uri="{BB962C8B-B14F-4D97-AF65-F5344CB8AC3E}">
        <p14:creationId xmlns:p14="http://schemas.microsoft.com/office/powerpoint/2010/main" val="15385761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67E8333-A12F-461B-8F36-964EF2A4A284}"/>
              </a:ext>
            </a:extLst>
          </p:cNvPr>
          <p:cNvSpPr>
            <a:spLocks noGrp="1"/>
          </p:cNvSpPr>
          <p:nvPr>
            <p:ph type="title"/>
          </p:nvPr>
        </p:nvSpPr>
        <p:spPr>
          <a:xfrm>
            <a:off x="326356" y="382496"/>
            <a:ext cx="5670527" cy="359255"/>
          </a:xfrm>
        </p:spPr>
        <p:txBody>
          <a:bodyPr>
            <a:normAutofit fontScale="90000"/>
          </a:bodyPr>
          <a:lstStyle/>
          <a:p>
            <a:pPr marL="0" indent="0">
              <a:buNone/>
            </a:pPr>
            <a:r>
              <a:rPr lang="en-US" sz="3200" b="1" dirty="0">
                <a:solidFill>
                  <a:srgbClr val="0F172A"/>
                </a:solidFill>
                <a:latin typeface="Cambria" pitchFamily="34" charset="0"/>
                <a:ea typeface="Cambria" pitchFamily="34" charset="-122"/>
                <a:cs typeface="Cambria" pitchFamily="34" charset="-120"/>
              </a:rPr>
              <a:t>Wie </a:t>
            </a:r>
            <a:r>
              <a:rPr lang="en-US" sz="3200" b="1" dirty="0" err="1">
                <a:solidFill>
                  <a:srgbClr val="0F172A"/>
                </a:solidFill>
                <a:latin typeface="Cambria" pitchFamily="34" charset="0"/>
                <a:ea typeface="Cambria" pitchFamily="34" charset="-122"/>
                <a:cs typeface="Cambria" pitchFamily="34" charset="-120"/>
              </a:rPr>
              <a:t>entstehen</a:t>
            </a:r>
            <a:r>
              <a:rPr lang="en-US" sz="3200" b="1" dirty="0">
                <a:solidFill>
                  <a:srgbClr val="0F172A"/>
                </a:solidFill>
                <a:latin typeface="Cambria" pitchFamily="34" charset="0"/>
                <a:ea typeface="Cambria" pitchFamily="34" charset="-122"/>
                <a:cs typeface="Cambria" pitchFamily="34" charset="-120"/>
              </a:rPr>
              <a:t> </a:t>
            </a:r>
            <a:r>
              <a:rPr lang="en-US" sz="3200" b="1" dirty="0" err="1">
                <a:solidFill>
                  <a:srgbClr val="0F172A"/>
                </a:solidFill>
                <a:latin typeface="Cambria" pitchFamily="34" charset="0"/>
                <a:ea typeface="Cambria" pitchFamily="34" charset="-122"/>
                <a:cs typeface="Cambria" pitchFamily="34" charset="-120"/>
              </a:rPr>
              <a:t>Wortvektoren</a:t>
            </a:r>
            <a:r>
              <a:rPr lang="en-US" sz="3200" b="1" dirty="0">
                <a:solidFill>
                  <a:srgbClr val="0F172A"/>
                </a:solidFill>
                <a:latin typeface="Cambria" pitchFamily="34" charset="0"/>
                <a:ea typeface="Cambria" pitchFamily="34" charset="-122"/>
                <a:cs typeface="Cambria" pitchFamily="34" charset="-120"/>
              </a:rPr>
              <a:t>?</a:t>
            </a:r>
            <a:endParaRPr lang="en-US" sz="3200" dirty="0"/>
          </a:p>
        </p:txBody>
      </p:sp>
      <p:sp>
        <p:nvSpPr>
          <p:cNvPr id="6" name="Rechteck 5">
            <a:extLst>
              <a:ext uri="{FF2B5EF4-FFF2-40B4-BE49-F238E27FC236}">
                <a16:creationId xmlns:a16="http://schemas.microsoft.com/office/drawing/2014/main" id="{9B1134CE-53FF-4066-B059-D6ACA70914F2}"/>
              </a:ext>
            </a:extLst>
          </p:cNvPr>
          <p:cNvSpPr/>
          <p:nvPr/>
        </p:nvSpPr>
        <p:spPr>
          <a:xfrm>
            <a:off x="452981" y="1083791"/>
            <a:ext cx="383507" cy="52083"/>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013"/>
          </a:p>
        </p:txBody>
      </p:sp>
      <p:sp>
        <p:nvSpPr>
          <p:cNvPr id="7" name="Titel 1">
            <a:extLst>
              <a:ext uri="{FF2B5EF4-FFF2-40B4-BE49-F238E27FC236}">
                <a16:creationId xmlns:a16="http://schemas.microsoft.com/office/drawing/2014/main" id="{8C89B5C6-61EC-420A-A7BF-D697C040511D}"/>
              </a:ext>
            </a:extLst>
          </p:cNvPr>
          <p:cNvSpPr txBox="1">
            <a:spLocks/>
          </p:cNvSpPr>
          <p:nvPr/>
        </p:nvSpPr>
        <p:spPr>
          <a:xfrm>
            <a:off x="371466" y="688385"/>
            <a:ext cx="4292206" cy="359255"/>
          </a:xfrm>
          <a:prstGeom prst="rect">
            <a:avLst/>
          </a:prstGeom>
        </p:spPr>
        <p:txBody>
          <a:bodyPr vert="horz" lIns="68580" tIns="34290" rIns="68580" bIns="3429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sz="1600" dirty="0">
                <a:solidFill>
                  <a:srgbClr val="0F172A"/>
                </a:solidFill>
                <a:latin typeface="Calibri Light" panose="020F0302020204030204" pitchFamily="34" charset="0"/>
                <a:ea typeface="Calibri Light" panose="020F0302020204030204" pitchFamily="34" charset="0"/>
                <a:cs typeface="Calibri Light" panose="020F0302020204030204" pitchFamily="34" charset="0"/>
              </a:rPr>
              <a:t>Überblick</a:t>
            </a:r>
            <a:endParaRPr lang="de-DE" sz="1500" dirty="0">
              <a:solidFill>
                <a:srgbClr val="0F172A"/>
              </a:solidFill>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76" name="Datumsplatzhalter 75">
            <a:extLst>
              <a:ext uri="{FF2B5EF4-FFF2-40B4-BE49-F238E27FC236}">
                <a16:creationId xmlns:a16="http://schemas.microsoft.com/office/drawing/2014/main" id="{FB534BCA-17DB-4EBE-9103-31EF5969BBD5}"/>
              </a:ext>
            </a:extLst>
          </p:cNvPr>
          <p:cNvSpPr>
            <a:spLocks noGrp="1"/>
          </p:cNvSpPr>
          <p:nvPr>
            <p:ph type="dt" sz="half" idx="10"/>
          </p:nvPr>
        </p:nvSpPr>
        <p:spPr>
          <a:xfrm>
            <a:off x="347840" y="4807006"/>
            <a:ext cx="2338210" cy="273844"/>
          </a:xfrm>
        </p:spPr>
        <p:txBody>
          <a:bodyPr/>
          <a:lstStyle/>
          <a:p>
            <a:fld id="{0D05602C-25EE-48A8-8786-3C51BA41DB9E}" type="datetime1">
              <a:rPr lang="de-DE"/>
              <a:t>04.05.2026</a:t>
            </a:fld>
            <a:endParaRPr lang="de-DE" dirty="0"/>
          </a:p>
        </p:txBody>
      </p:sp>
      <p:sp>
        <p:nvSpPr>
          <p:cNvPr id="77" name="Fußzeilenplatzhalter 76">
            <a:extLst>
              <a:ext uri="{FF2B5EF4-FFF2-40B4-BE49-F238E27FC236}">
                <a16:creationId xmlns:a16="http://schemas.microsoft.com/office/drawing/2014/main" id="{10A96F6C-9081-4668-9382-F92081EE73D0}"/>
              </a:ext>
            </a:extLst>
          </p:cNvPr>
          <p:cNvSpPr>
            <a:spLocks noGrp="1"/>
          </p:cNvSpPr>
          <p:nvPr>
            <p:ph type="ftr" sz="quarter" idx="11"/>
          </p:nvPr>
        </p:nvSpPr>
        <p:spPr>
          <a:xfrm>
            <a:off x="2686050" y="4807006"/>
            <a:ext cx="3812404" cy="273844"/>
          </a:xfrm>
        </p:spPr>
        <p:txBody>
          <a:bodyPr/>
          <a:lstStyle/>
          <a:p>
            <a:r>
              <a:rPr lang="de-DE" dirty="0"/>
              <a:t>Vektordatenbanken </a:t>
            </a:r>
            <a:r>
              <a:rPr lang="en-US" dirty="0"/>
              <a:t>· </a:t>
            </a:r>
            <a:r>
              <a:rPr lang="en-US" dirty="0" err="1"/>
              <a:t>Studienprojekt</a:t>
            </a:r>
            <a:r>
              <a:rPr lang="en-US" dirty="0"/>
              <a:t> Reverse Chatbots</a:t>
            </a:r>
            <a:endParaRPr lang="de-DE" dirty="0"/>
          </a:p>
        </p:txBody>
      </p:sp>
      <p:sp>
        <p:nvSpPr>
          <p:cNvPr id="78" name="Foliennummernplatzhalter 77">
            <a:extLst>
              <a:ext uri="{FF2B5EF4-FFF2-40B4-BE49-F238E27FC236}">
                <a16:creationId xmlns:a16="http://schemas.microsoft.com/office/drawing/2014/main" id="{2B507CAF-8A2B-4670-8A8F-519A0AECCF4A}"/>
              </a:ext>
            </a:extLst>
          </p:cNvPr>
          <p:cNvSpPr>
            <a:spLocks noGrp="1"/>
          </p:cNvSpPr>
          <p:nvPr>
            <p:ph type="sldNum" sz="quarter" idx="12"/>
          </p:nvPr>
        </p:nvSpPr>
        <p:spPr>
          <a:xfrm>
            <a:off x="6457950" y="4807006"/>
            <a:ext cx="2338210" cy="273844"/>
          </a:xfrm>
        </p:spPr>
        <p:txBody>
          <a:bodyPr/>
          <a:lstStyle/>
          <a:p>
            <a:fld id="{0E836345-B243-4000-8050-9A1A9D10D9C9}" type="slidenum">
              <a:rPr lang="de-DE" smtClean="0"/>
              <a:t>3</a:t>
            </a:fld>
            <a:r>
              <a:rPr lang="de-DE" dirty="0"/>
              <a:t> / 12</a:t>
            </a:r>
          </a:p>
        </p:txBody>
      </p:sp>
      <p:sp>
        <p:nvSpPr>
          <p:cNvPr id="43" name="Shape 3">
            <a:extLst>
              <a:ext uri="{FF2B5EF4-FFF2-40B4-BE49-F238E27FC236}">
                <a16:creationId xmlns:a16="http://schemas.microsoft.com/office/drawing/2014/main" id="{EF3D2380-74E2-4EDC-A3E4-041253E86C76}"/>
              </a:ext>
            </a:extLst>
          </p:cNvPr>
          <p:cNvSpPr/>
          <p:nvPr/>
        </p:nvSpPr>
        <p:spPr>
          <a:xfrm>
            <a:off x="452980" y="1410792"/>
            <a:ext cx="2743200" cy="1754638"/>
          </a:xfrm>
          <a:prstGeom prst="rect">
            <a:avLst/>
          </a:prstGeom>
          <a:solidFill>
            <a:srgbClr val="FFFFFF"/>
          </a:solidFill>
          <a:ln w="12700">
            <a:solidFill>
              <a:srgbClr val="CBD5E1"/>
            </a:solidFill>
            <a:prstDash val="solid"/>
          </a:ln>
        </p:spPr>
      </p:sp>
      <p:sp>
        <p:nvSpPr>
          <p:cNvPr id="44" name="Shape 4">
            <a:extLst>
              <a:ext uri="{FF2B5EF4-FFF2-40B4-BE49-F238E27FC236}">
                <a16:creationId xmlns:a16="http://schemas.microsoft.com/office/drawing/2014/main" id="{9F672DDF-8C78-4FBB-A68B-CC7226503E88}"/>
              </a:ext>
            </a:extLst>
          </p:cNvPr>
          <p:cNvSpPr/>
          <p:nvPr/>
        </p:nvSpPr>
        <p:spPr>
          <a:xfrm>
            <a:off x="681580" y="1639392"/>
            <a:ext cx="457200" cy="457200"/>
          </a:xfrm>
          <a:prstGeom prst="ellipse">
            <a:avLst/>
          </a:prstGeom>
          <a:solidFill>
            <a:srgbClr val="0F172A"/>
          </a:solidFill>
          <a:ln w="12700">
            <a:solidFill>
              <a:srgbClr val="0F172A"/>
            </a:solidFill>
            <a:prstDash val="solid"/>
          </a:ln>
        </p:spPr>
      </p:sp>
      <p:sp>
        <p:nvSpPr>
          <p:cNvPr id="45" name="Text 5">
            <a:extLst>
              <a:ext uri="{FF2B5EF4-FFF2-40B4-BE49-F238E27FC236}">
                <a16:creationId xmlns:a16="http://schemas.microsoft.com/office/drawing/2014/main" id="{4EF1C840-E0C2-42AB-94FC-04AA3AEF2558}"/>
              </a:ext>
            </a:extLst>
          </p:cNvPr>
          <p:cNvSpPr/>
          <p:nvPr/>
        </p:nvSpPr>
        <p:spPr>
          <a:xfrm>
            <a:off x="681580" y="1639392"/>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46" name="Text 6">
            <a:extLst>
              <a:ext uri="{FF2B5EF4-FFF2-40B4-BE49-F238E27FC236}">
                <a16:creationId xmlns:a16="http://schemas.microsoft.com/office/drawing/2014/main" id="{C103041E-0DB7-40FC-88E1-3251AF9DD5FF}"/>
              </a:ext>
            </a:extLst>
          </p:cNvPr>
          <p:cNvSpPr/>
          <p:nvPr/>
        </p:nvSpPr>
        <p:spPr>
          <a:xfrm>
            <a:off x="1275940" y="1639392"/>
            <a:ext cx="1737360" cy="457200"/>
          </a:xfrm>
          <a:prstGeom prst="rect">
            <a:avLst/>
          </a:prstGeom>
          <a:noFill/>
          <a:ln/>
        </p:spPr>
        <p:txBody>
          <a:bodyPr wrap="square" lIns="0" tIns="0" rIns="0" bIns="0" rtlCol="0" anchor="ctr"/>
          <a:lstStyle/>
          <a:p>
            <a:pPr marL="0" indent="0">
              <a:buNone/>
            </a:pPr>
            <a:r>
              <a:rPr lang="en-US" sz="1500" b="1" dirty="0">
                <a:solidFill>
                  <a:srgbClr val="0F172A"/>
                </a:solidFill>
                <a:latin typeface="Cambria" pitchFamily="34" charset="0"/>
                <a:ea typeface="Cambria" pitchFamily="34" charset="-122"/>
                <a:cs typeface="Cambria" pitchFamily="34" charset="-120"/>
              </a:rPr>
              <a:t>Trainingsdaten</a:t>
            </a:r>
            <a:endParaRPr lang="en-US" sz="1500" dirty="0"/>
          </a:p>
        </p:txBody>
      </p:sp>
      <p:sp>
        <p:nvSpPr>
          <p:cNvPr id="47" name="Text 7">
            <a:extLst>
              <a:ext uri="{FF2B5EF4-FFF2-40B4-BE49-F238E27FC236}">
                <a16:creationId xmlns:a16="http://schemas.microsoft.com/office/drawing/2014/main" id="{226B2439-11D6-4E67-A17A-0931A0C23FC1}"/>
              </a:ext>
            </a:extLst>
          </p:cNvPr>
          <p:cNvSpPr/>
          <p:nvPr/>
        </p:nvSpPr>
        <p:spPr>
          <a:xfrm>
            <a:off x="681580" y="2158944"/>
            <a:ext cx="2286000" cy="458443"/>
          </a:xfrm>
          <a:prstGeom prst="rect">
            <a:avLst/>
          </a:prstGeom>
          <a:noFill/>
          <a:ln/>
        </p:spPr>
        <p:txBody>
          <a:bodyPr wrap="square" lIns="0" tIns="0" rIns="0" bIns="0" rtlCol="0" anchor="ctr"/>
          <a:lstStyle/>
          <a:p>
            <a:pPr marL="0" indent="0">
              <a:lnSpc>
                <a:spcPct val="130000"/>
              </a:lnSpc>
              <a:buNone/>
            </a:pPr>
            <a:r>
              <a:rPr lang="en-US" sz="1200" dirty="0">
                <a:solidFill>
                  <a:srgbClr val="475569"/>
                </a:solidFill>
                <a:latin typeface="Calibri" pitchFamily="34" charset="0"/>
                <a:ea typeface="Calibri" pitchFamily="34" charset="-122"/>
                <a:cs typeface="Calibri" pitchFamily="34" charset="-120"/>
              </a:rPr>
              <a:t>Milliarden Sätze aus </a:t>
            </a:r>
            <a:r>
              <a:rPr lang="en-US" sz="1200" dirty="0" err="1">
                <a:solidFill>
                  <a:srgbClr val="475569"/>
                </a:solidFill>
                <a:latin typeface="Calibri" pitchFamily="34" charset="0"/>
                <a:ea typeface="Calibri" pitchFamily="34" charset="-122"/>
                <a:cs typeface="Calibri" pitchFamily="34" charset="-120"/>
              </a:rPr>
              <a:t>Text­korpora</a:t>
            </a:r>
            <a:r>
              <a:rPr lang="en-US" sz="1200" dirty="0">
                <a:solidFill>
                  <a:srgbClr val="475569"/>
                </a:solidFill>
                <a:latin typeface="Calibri" pitchFamily="34" charset="0"/>
                <a:ea typeface="Calibri" pitchFamily="34" charset="-122"/>
                <a:cs typeface="Calibri" pitchFamily="34" charset="-120"/>
              </a:rPr>
              <a:t> (</a:t>
            </a:r>
            <a:r>
              <a:rPr lang="en-US" sz="1200" dirty="0" err="1">
                <a:solidFill>
                  <a:srgbClr val="475569"/>
                </a:solidFill>
                <a:latin typeface="Calibri" pitchFamily="34" charset="0"/>
                <a:ea typeface="Calibri" pitchFamily="34" charset="-122"/>
                <a:cs typeface="Calibri" pitchFamily="34" charset="-120"/>
              </a:rPr>
              <a:t>Hauptsächlich</a:t>
            </a:r>
            <a:r>
              <a:rPr lang="en-US" sz="1200" dirty="0">
                <a:solidFill>
                  <a:srgbClr val="475569"/>
                </a:solidFill>
                <a:latin typeface="Calibri" pitchFamily="34" charset="0"/>
                <a:ea typeface="Calibri" pitchFamily="34" charset="-122"/>
                <a:cs typeface="Calibri" pitchFamily="34" charset="-120"/>
              </a:rPr>
              <a:t> Internet) </a:t>
            </a:r>
            <a:r>
              <a:rPr lang="en-US" sz="800" dirty="0">
                <a:solidFill>
                  <a:schemeClr val="bg1">
                    <a:lumMod val="65000"/>
                  </a:schemeClr>
                </a:solidFill>
                <a:latin typeface="Calibri" pitchFamily="34" charset="0"/>
                <a:ea typeface="Calibri" pitchFamily="34" charset="-122"/>
                <a:cs typeface="Calibri" pitchFamily="34" charset="-120"/>
              </a:rPr>
              <a:t>[Q4]</a:t>
            </a:r>
          </a:p>
        </p:txBody>
      </p:sp>
      <p:sp>
        <p:nvSpPr>
          <p:cNvPr id="48" name="Shape 8">
            <a:extLst>
              <a:ext uri="{FF2B5EF4-FFF2-40B4-BE49-F238E27FC236}">
                <a16:creationId xmlns:a16="http://schemas.microsoft.com/office/drawing/2014/main" id="{65D915BE-E27C-4C36-8C03-88ECBFE1DE6F}"/>
              </a:ext>
            </a:extLst>
          </p:cNvPr>
          <p:cNvSpPr/>
          <p:nvPr/>
        </p:nvSpPr>
        <p:spPr>
          <a:xfrm>
            <a:off x="3333340" y="1410792"/>
            <a:ext cx="2743200" cy="1754638"/>
          </a:xfrm>
          <a:prstGeom prst="rect">
            <a:avLst/>
          </a:prstGeom>
          <a:solidFill>
            <a:srgbClr val="FFFFFF"/>
          </a:solidFill>
          <a:ln w="12700">
            <a:solidFill>
              <a:srgbClr val="CBD5E1"/>
            </a:solidFill>
            <a:prstDash val="solid"/>
          </a:ln>
        </p:spPr>
      </p:sp>
      <p:sp>
        <p:nvSpPr>
          <p:cNvPr id="49" name="Shape 9">
            <a:extLst>
              <a:ext uri="{FF2B5EF4-FFF2-40B4-BE49-F238E27FC236}">
                <a16:creationId xmlns:a16="http://schemas.microsoft.com/office/drawing/2014/main" id="{B848BE6C-413E-41DA-BAB8-A2BC08BEC819}"/>
              </a:ext>
            </a:extLst>
          </p:cNvPr>
          <p:cNvSpPr/>
          <p:nvPr/>
        </p:nvSpPr>
        <p:spPr>
          <a:xfrm>
            <a:off x="3561940" y="1639392"/>
            <a:ext cx="457200" cy="457200"/>
          </a:xfrm>
          <a:prstGeom prst="ellipse">
            <a:avLst/>
          </a:prstGeom>
          <a:solidFill>
            <a:srgbClr val="0F172A"/>
          </a:solidFill>
          <a:ln w="12700">
            <a:solidFill>
              <a:srgbClr val="0F172A"/>
            </a:solidFill>
            <a:prstDash val="solid"/>
          </a:ln>
        </p:spPr>
      </p:sp>
      <p:sp>
        <p:nvSpPr>
          <p:cNvPr id="50" name="Text 10">
            <a:extLst>
              <a:ext uri="{FF2B5EF4-FFF2-40B4-BE49-F238E27FC236}">
                <a16:creationId xmlns:a16="http://schemas.microsoft.com/office/drawing/2014/main" id="{D0FC4EE6-E1E0-47B0-8D81-3A6126508D9B}"/>
              </a:ext>
            </a:extLst>
          </p:cNvPr>
          <p:cNvSpPr/>
          <p:nvPr/>
        </p:nvSpPr>
        <p:spPr>
          <a:xfrm>
            <a:off x="3561940" y="1639392"/>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51" name="Text 11">
            <a:extLst>
              <a:ext uri="{FF2B5EF4-FFF2-40B4-BE49-F238E27FC236}">
                <a16:creationId xmlns:a16="http://schemas.microsoft.com/office/drawing/2014/main" id="{95169AD8-E618-4D8D-8D9B-0E7A2E44972D}"/>
              </a:ext>
            </a:extLst>
          </p:cNvPr>
          <p:cNvSpPr/>
          <p:nvPr/>
        </p:nvSpPr>
        <p:spPr>
          <a:xfrm>
            <a:off x="4156300" y="1639392"/>
            <a:ext cx="1737360" cy="457200"/>
          </a:xfrm>
          <a:prstGeom prst="rect">
            <a:avLst/>
          </a:prstGeom>
          <a:noFill/>
          <a:ln/>
        </p:spPr>
        <p:txBody>
          <a:bodyPr wrap="square" lIns="0" tIns="0" rIns="0" bIns="0" rtlCol="0" anchor="ctr"/>
          <a:lstStyle/>
          <a:p>
            <a:pPr marL="0" indent="0">
              <a:buNone/>
            </a:pPr>
            <a:r>
              <a:rPr lang="en-US" sz="1500" b="1" dirty="0">
                <a:solidFill>
                  <a:srgbClr val="0F172A"/>
                </a:solidFill>
                <a:latin typeface="Cambria" pitchFamily="34" charset="0"/>
                <a:ea typeface="Cambria" pitchFamily="34" charset="-122"/>
                <a:cs typeface="Cambria" pitchFamily="34" charset="-120"/>
              </a:rPr>
              <a:t>Training</a:t>
            </a:r>
            <a:endParaRPr lang="en-US" sz="1500" dirty="0"/>
          </a:p>
        </p:txBody>
      </p:sp>
      <p:sp>
        <p:nvSpPr>
          <p:cNvPr id="52" name="Text 12">
            <a:extLst>
              <a:ext uri="{FF2B5EF4-FFF2-40B4-BE49-F238E27FC236}">
                <a16:creationId xmlns:a16="http://schemas.microsoft.com/office/drawing/2014/main" id="{BE0CE5DD-E8C4-4A70-A0D2-D9AC3B198EE0}"/>
              </a:ext>
            </a:extLst>
          </p:cNvPr>
          <p:cNvSpPr/>
          <p:nvPr/>
        </p:nvSpPr>
        <p:spPr>
          <a:xfrm>
            <a:off x="3561940" y="2357017"/>
            <a:ext cx="2286000" cy="347747"/>
          </a:xfrm>
          <a:prstGeom prst="rect">
            <a:avLst/>
          </a:prstGeom>
          <a:noFill/>
          <a:ln/>
        </p:spPr>
        <p:txBody>
          <a:bodyPr wrap="square" lIns="0" tIns="0" rIns="0" bIns="0" rtlCol="0" anchor="ctr"/>
          <a:lstStyle/>
          <a:p>
            <a:pPr marL="0" indent="0">
              <a:lnSpc>
                <a:spcPct val="130000"/>
              </a:lnSpc>
              <a:buNone/>
            </a:pPr>
            <a:endParaRPr lang="en-US" sz="1200" dirty="0">
              <a:solidFill>
                <a:srgbClr val="475569"/>
              </a:solidFill>
              <a:latin typeface="Calibri" pitchFamily="34" charset="0"/>
              <a:ea typeface="Calibri" pitchFamily="34" charset="-122"/>
              <a:cs typeface="Calibri" pitchFamily="34" charset="-120"/>
            </a:endParaRPr>
          </a:p>
          <a:p>
            <a:pPr marL="0" indent="0">
              <a:lnSpc>
                <a:spcPct val="130000"/>
              </a:lnSpc>
              <a:buNone/>
            </a:pPr>
            <a:r>
              <a:rPr lang="en-US" sz="1200" dirty="0">
                <a:solidFill>
                  <a:srgbClr val="475569"/>
                </a:solidFill>
                <a:latin typeface="Calibri" pitchFamily="34" charset="0"/>
                <a:ea typeface="Calibri" pitchFamily="34" charset="-122"/>
                <a:cs typeface="Calibri" pitchFamily="34" charset="-120"/>
              </a:rPr>
              <a:t>Modell </a:t>
            </a:r>
            <a:r>
              <a:rPr lang="en-US" sz="1200" dirty="0" err="1">
                <a:solidFill>
                  <a:srgbClr val="475569"/>
                </a:solidFill>
                <a:latin typeface="Calibri" pitchFamily="34" charset="0"/>
                <a:ea typeface="Calibri" pitchFamily="34" charset="-122"/>
                <a:cs typeface="Calibri" pitchFamily="34" charset="-120"/>
              </a:rPr>
              <a:t>lernt</a:t>
            </a:r>
            <a:r>
              <a:rPr lang="en-US" sz="1200" dirty="0">
                <a:solidFill>
                  <a:srgbClr val="475569"/>
                </a:solidFill>
                <a:latin typeface="Calibri" pitchFamily="34" charset="0"/>
                <a:ea typeface="Calibri" pitchFamily="34" charset="-122"/>
                <a:cs typeface="Calibri" pitchFamily="34" charset="-120"/>
              </a:rPr>
              <a:t> </a:t>
            </a:r>
            <a:r>
              <a:rPr lang="en-US" sz="1200" dirty="0" err="1">
                <a:solidFill>
                  <a:srgbClr val="475569"/>
                </a:solidFill>
                <a:latin typeface="Calibri" pitchFamily="34" charset="0"/>
                <a:ea typeface="Calibri" pitchFamily="34" charset="-122"/>
                <a:cs typeface="Calibri" pitchFamily="34" charset="-120"/>
              </a:rPr>
              <a:t>aus</a:t>
            </a:r>
            <a:r>
              <a:rPr lang="en-US" sz="1200" dirty="0">
                <a:solidFill>
                  <a:srgbClr val="475569"/>
                </a:solidFill>
                <a:latin typeface="Calibri" pitchFamily="34" charset="0"/>
                <a:ea typeface="Calibri" pitchFamily="34" charset="-122"/>
                <a:cs typeface="Calibri" pitchFamily="34" charset="-120"/>
              </a:rPr>
              <a:t> den </a:t>
            </a:r>
            <a:r>
              <a:rPr lang="en-US" sz="1200" dirty="0" err="1">
                <a:solidFill>
                  <a:srgbClr val="475569"/>
                </a:solidFill>
                <a:latin typeface="Calibri" pitchFamily="34" charset="0"/>
                <a:ea typeface="Calibri" pitchFamily="34" charset="-122"/>
                <a:cs typeface="Calibri" pitchFamily="34" charset="-120"/>
              </a:rPr>
              <a:t>Daten</a:t>
            </a:r>
            <a:r>
              <a:rPr lang="en-US" sz="1200" dirty="0">
                <a:solidFill>
                  <a:srgbClr val="475569"/>
                </a:solidFill>
                <a:latin typeface="Calibri" pitchFamily="34" charset="0"/>
                <a:ea typeface="Calibri" pitchFamily="34" charset="-122"/>
                <a:cs typeface="Calibri" pitchFamily="34" charset="-120"/>
              </a:rPr>
              <a:t>, Wörter aus ihrem Kontext </a:t>
            </a:r>
            <a:r>
              <a:rPr lang="en-US" sz="1200" dirty="0" err="1">
                <a:solidFill>
                  <a:srgbClr val="475569"/>
                </a:solidFill>
                <a:latin typeface="Calibri" pitchFamily="34" charset="0"/>
                <a:ea typeface="Calibri" pitchFamily="34" charset="-122"/>
                <a:cs typeface="Calibri" pitchFamily="34" charset="-120"/>
              </a:rPr>
              <a:t>vorherzusagen</a:t>
            </a:r>
            <a:r>
              <a:rPr lang="en-US" sz="1200" dirty="0">
                <a:solidFill>
                  <a:srgbClr val="475569"/>
                </a:solidFill>
                <a:latin typeface="Calibri" pitchFamily="34" charset="0"/>
                <a:ea typeface="Calibri" pitchFamily="34" charset="-122"/>
                <a:cs typeface="Calibri" pitchFamily="34" charset="-120"/>
              </a:rPr>
              <a:t>.</a:t>
            </a:r>
          </a:p>
          <a:p>
            <a:pPr marL="0" indent="0">
              <a:lnSpc>
                <a:spcPct val="130000"/>
              </a:lnSpc>
              <a:buNone/>
            </a:pPr>
            <a:br>
              <a:rPr lang="en-US" sz="1200" dirty="0">
                <a:solidFill>
                  <a:srgbClr val="475569"/>
                </a:solidFill>
                <a:latin typeface="Calibri" pitchFamily="34" charset="0"/>
                <a:ea typeface="Calibri" pitchFamily="34" charset="-122"/>
                <a:cs typeface="Calibri" pitchFamily="34" charset="-120"/>
              </a:rPr>
            </a:br>
            <a:endParaRPr lang="en-US" sz="1200" dirty="0"/>
          </a:p>
        </p:txBody>
      </p:sp>
      <p:sp>
        <p:nvSpPr>
          <p:cNvPr id="53" name="Shape 13">
            <a:extLst>
              <a:ext uri="{FF2B5EF4-FFF2-40B4-BE49-F238E27FC236}">
                <a16:creationId xmlns:a16="http://schemas.microsoft.com/office/drawing/2014/main" id="{8046C661-6CF9-49E7-8974-5D66F2785023}"/>
              </a:ext>
            </a:extLst>
          </p:cNvPr>
          <p:cNvSpPr/>
          <p:nvPr/>
        </p:nvSpPr>
        <p:spPr>
          <a:xfrm>
            <a:off x="6213700" y="1410792"/>
            <a:ext cx="2743200" cy="1754638"/>
          </a:xfrm>
          <a:prstGeom prst="rect">
            <a:avLst/>
          </a:prstGeom>
          <a:solidFill>
            <a:srgbClr val="FFFFFF"/>
          </a:solidFill>
          <a:ln w="12700">
            <a:solidFill>
              <a:srgbClr val="CBD5E1"/>
            </a:solidFill>
            <a:prstDash val="solid"/>
          </a:ln>
        </p:spPr>
      </p:sp>
      <p:sp>
        <p:nvSpPr>
          <p:cNvPr id="54" name="Shape 14">
            <a:extLst>
              <a:ext uri="{FF2B5EF4-FFF2-40B4-BE49-F238E27FC236}">
                <a16:creationId xmlns:a16="http://schemas.microsoft.com/office/drawing/2014/main" id="{BDDD8379-C15A-4A2A-8B96-F928894F1C3E}"/>
              </a:ext>
            </a:extLst>
          </p:cNvPr>
          <p:cNvSpPr/>
          <p:nvPr/>
        </p:nvSpPr>
        <p:spPr>
          <a:xfrm>
            <a:off x="6442300" y="1639392"/>
            <a:ext cx="457200" cy="457200"/>
          </a:xfrm>
          <a:prstGeom prst="ellipse">
            <a:avLst/>
          </a:prstGeom>
          <a:solidFill>
            <a:srgbClr val="0F172A"/>
          </a:solidFill>
          <a:ln w="12700">
            <a:solidFill>
              <a:srgbClr val="0F172A"/>
            </a:solidFill>
            <a:prstDash val="solid"/>
          </a:ln>
        </p:spPr>
      </p:sp>
      <p:sp>
        <p:nvSpPr>
          <p:cNvPr id="55" name="Text 15">
            <a:extLst>
              <a:ext uri="{FF2B5EF4-FFF2-40B4-BE49-F238E27FC236}">
                <a16:creationId xmlns:a16="http://schemas.microsoft.com/office/drawing/2014/main" id="{2AC72E8F-6DC2-40C6-9583-414DF73C2B19}"/>
              </a:ext>
            </a:extLst>
          </p:cNvPr>
          <p:cNvSpPr/>
          <p:nvPr/>
        </p:nvSpPr>
        <p:spPr>
          <a:xfrm>
            <a:off x="6442300" y="1639392"/>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56" name="Text 16">
            <a:extLst>
              <a:ext uri="{FF2B5EF4-FFF2-40B4-BE49-F238E27FC236}">
                <a16:creationId xmlns:a16="http://schemas.microsoft.com/office/drawing/2014/main" id="{8BD725DB-8384-44F7-903A-7500913D8355}"/>
              </a:ext>
            </a:extLst>
          </p:cNvPr>
          <p:cNvSpPr/>
          <p:nvPr/>
        </p:nvSpPr>
        <p:spPr>
          <a:xfrm>
            <a:off x="7036660" y="1639392"/>
            <a:ext cx="1737360" cy="457200"/>
          </a:xfrm>
          <a:prstGeom prst="rect">
            <a:avLst/>
          </a:prstGeom>
          <a:noFill/>
          <a:ln/>
        </p:spPr>
        <p:txBody>
          <a:bodyPr wrap="square" lIns="0" tIns="0" rIns="0" bIns="0" rtlCol="0" anchor="ctr"/>
          <a:lstStyle/>
          <a:p>
            <a:pPr marL="0" indent="0">
              <a:buNone/>
            </a:pPr>
            <a:r>
              <a:rPr lang="en-US" sz="1500" b="1" dirty="0">
                <a:solidFill>
                  <a:srgbClr val="0F172A"/>
                </a:solidFill>
                <a:latin typeface="Cambria" pitchFamily="34" charset="0"/>
                <a:ea typeface="Cambria" pitchFamily="34" charset="-122"/>
                <a:cs typeface="Cambria" pitchFamily="34" charset="-120"/>
              </a:rPr>
              <a:t>Embedding</a:t>
            </a:r>
            <a:endParaRPr lang="en-US" sz="1500" dirty="0"/>
          </a:p>
        </p:txBody>
      </p:sp>
      <p:sp>
        <p:nvSpPr>
          <p:cNvPr id="57" name="Text 17">
            <a:extLst>
              <a:ext uri="{FF2B5EF4-FFF2-40B4-BE49-F238E27FC236}">
                <a16:creationId xmlns:a16="http://schemas.microsoft.com/office/drawing/2014/main" id="{3332E167-D791-40E3-9C10-B87FE6DD5D30}"/>
              </a:ext>
            </a:extLst>
          </p:cNvPr>
          <p:cNvSpPr/>
          <p:nvPr/>
        </p:nvSpPr>
        <p:spPr>
          <a:xfrm>
            <a:off x="6479835" y="2240437"/>
            <a:ext cx="2286000" cy="351409"/>
          </a:xfrm>
          <a:prstGeom prst="rect">
            <a:avLst/>
          </a:prstGeom>
          <a:noFill/>
          <a:ln/>
        </p:spPr>
        <p:txBody>
          <a:bodyPr wrap="square" lIns="0" tIns="0" rIns="0" bIns="0" rtlCol="0" anchor="ctr"/>
          <a:lstStyle/>
          <a:p>
            <a:pPr marL="0" indent="0">
              <a:lnSpc>
                <a:spcPct val="130000"/>
              </a:lnSpc>
              <a:buNone/>
            </a:pPr>
            <a:r>
              <a:rPr lang="en-US" sz="1200" dirty="0">
                <a:solidFill>
                  <a:srgbClr val="475569"/>
                </a:solidFill>
                <a:latin typeface="Calibri" pitchFamily="34" charset="0"/>
                <a:ea typeface="Calibri" pitchFamily="34" charset="-122"/>
                <a:cs typeface="Calibri" pitchFamily="34" charset="-120"/>
              </a:rPr>
              <a:t>Fixe </a:t>
            </a:r>
            <a:r>
              <a:rPr lang="en-US" sz="1200" dirty="0" err="1">
                <a:solidFill>
                  <a:srgbClr val="475569"/>
                </a:solidFill>
                <a:latin typeface="Calibri" pitchFamily="34" charset="0"/>
                <a:ea typeface="Calibri" pitchFamily="34" charset="-122"/>
                <a:cs typeface="Calibri" pitchFamily="34" charset="-120"/>
              </a:rPr>
              <a:t>Vektor-Repräsentation</a:t>
            </a:r>
            <a:r>
              <a:rPr lang="en-US" sz="1200" dirty="0">
                <a:solidFill>
                  <a:srgbClr val="475569"/>
                </a:solidFill>
                <a:latin typeface="Calibri" pitchFamily="34" charset="0"/>
                <a:ea typeface="Calibri" pitchFamily="34" charset="-122"/>
                <a:cs typeface="Calibri" pitchFamily="34" charset="-120"/>
              </a:rPr>
              <a:t> pro </a:t>
            </a:r>
            <a:r>
              <a:rPr lang="en-US" sz="1200" dirty="0" err="1">
                <a:solidFill>
                  <a:srgbClr val="475569"/>
                </a:solidFill>
                <a:latin typeface="Calibri" pitchFamily="34" charset="0"/>
                <a:ea typeface="Calibri" pitchFamily="34" charset="-122"/>
                <a:cs typeface="Calibri" pitchFamily="34" charset="-120"/>
              </a:rPr>
              <a:t>Textabschnitt</a:t>
            </a:r>
            <a:r>
              <a:rPr lang="en-US" sz="1200" dirty="0">
                <a:solidFill>
                  <a:srgbClr val="475569"/>
                </a:solidFill>
                <a:latin typeface="Calibri" pitchFamily="34" charset="0"/>
                <a:ea typeface="Calibri" pitchFamily="34" charset="-122"/>
                <a:cs typeface="Calibri" pitchFamily="34" charset="-120"/>
              </a:rPr>
              <a:t>, 256-3072 Dim. </a:t>
            </a:r>
            <a:r>
              <a:rPr lang="en-US" sz="800" dirty="0">
                <a:solidFill>
                  <a:schemeClr val="bg1">
                    <a:lumMod val="65000"/>
                  </a:schemeClr>
                </a:solidFill>
                <a:latin typeface="Calibri" pitchFamily="34" charset="0"/>
                <a:ea typeface="Calibri" pitchFamily="34" charset="-122"/>
                <a:cs typeface="Calibri" pitchFamily="34" charset="-120"/>
              </a:rPr>
              <a:t>[Q3][Q4]</a:t>
            </a:r>
          </a:p>
        </p:txBody>
      </p:sp>
      <p:sp>
        <p:nvSpPr>
          <p:cNvPr id="26" name="Shape 18">
            <a:extLst>
              <a:ext uri="{FF2B5EF4-FFF2-40B4-BE49-F238E27FC236}">
                <a16:creationId xmlns:a16="http://schemas.microsoft.com/office/drawing/2014/main" id="{73D0D1CB-FBB7-4F4B-B581-F3A978BAAE70}"/>
              </a:ext>
            </a:extLst>
          </p:cNvPr>
          <p:cNvSpPr/>
          <p:nvPr/>
        </p:nvSpPr>
        <p:spPr>
          <a:xfrm>
            <a:off x="457200" y="3343923"/>
            <a:ext cx="8499700" cy="960120"/>
          </a:xfrm>
          <a:prstGeom prst="rect">
            <a:avLst/>
          </a:prstGeom>
          <a:solidFill>
            <a:srgbClr val="F1F5F9"/>
          </a:solidFill>
          <a:ln w="9525">
            <a:solidFill>
              <a:srgbClr val="E2E8F0"/>
            </a:solidFill>
            <a:prstDash val="solid"/>
          </a:ln>
        </p:spPr>
      </p:sp>
      <p:sp>
        <p:nvSpPr>
          <p:cNvPr id="27" name="Text 19">
            <a:extLst>
              <a:ext uri="{FF2B5EF4-FFF2-40B4-BE49-F238E27FC236}">
                <a16:creationId xmlns:a16="http://schemas.microsoft.com/office/drawing/2014/main" id="{63FCFABC-1836-42DD-AD50-39CBA134719D}"/>
              </a:ext>
            </a:extLst>
          </p:cNvPr>
          <p:cNvSpPr/>
          <p:nvPr/>
        </p:nvSpPr>
        <p:spPr>
          <a:xfrm>
            <a:off x="681580" y="3394030"/>
            <a:ext cx="7772400" cy="829195"/>
          </a:xfrm>
          <a:prstGeom prst="rect">
            <a:avLst/>
          </a:prstGeom>
          <a:noFill/>
          <a:ln/>
        </p:spPr>
        <p:txBody>
          <a:bodyPr wrap="square" lIns="0" tIns="0" rIns="0" bIns="0" rtlCol="0" anchor="ctr"/>
          <a:lstStyle/>
          <a:p>
            <a:pPr marL="0" indent="0">
              <a:lnSpc>
                <a:spcPct val="130000"/>
              </a:lnSpc>
              <a:buNone/>
            </a:pPr>
            <a:r>
              <a:rPr lang="en-US" sz="1300" b="1" dirty="0">
                <a:solidFill>
                  <a:srgbClr val="F97316"/>
                </a:solidFill>
                <a:latin typeface="Cambria" pitchFamily="34" charset="0"/>
                <a:ea typeface="Cambria" pitchFamily="34" charset="-122"/>
                <a:cs typeface="Cambria" pitchFamily="34" charset="-120"/>
              </a:rPr>
              <a:t>Schlüsselidee:  </a:t>
            </a:r>
            <a:r>
              <a:rPr lang="en-US" sz="1300" dirty="0">
                <a:solidFill>
                  <a:srgbClr val="1E293B"/>
                </a:solidFill>
                <a:latin typeface="Calibri" pitchFamily="34" charset="0"/>
                <a:ea typeface="Calibri" pitchFamily="34" charset="-122"/>
                <a:cs typeface="Calibri" pitchFamily="34" charset="-120"/>
              </a:rPr>
              <a:t>Einzelne Dimensionen sind nicht menschenlesbar – Bedeutung entsteht aus der </a:t>
            </a:r>
            <a:r>
              <a:rPr lang="en-US" sz="1300" i="1" dirty="0">
                <a:solidFill>
                  <a:srgbClr val="1E293B"/>
                </a:solidFill>
                <a:latin typeface="Calibri" pitchFamily="34" charset="0"/>
                <a:ea typeface="Calibri" pitchFamily="34" charset="-122"/>
                <a:cs typeface="Calibri" pitchFamily="34" charset="-120"/>
              </a:rPr>
              <a:t>geometrischen Lage</a:t>
            </a:r>
            <a:r>
              <a:rPr lang="en-US" sz="1300" dirty="0">
                <a:solidFill>
                  <a:srgbClr val="1E293B"/>
                </a:solidFill>
                <a:latin typeface="Calibri" pitchFamily="34" charset="0"/>
                <a:ea typeface="Calibri" pitchFamily="34" charset="-122"/>
                <a:cs typeface="Calibri" pitchFamily="34" charset="-120"/>
              </a:rPr>
              <a:t> der Vektoren zueinander. Ähnliche Texte liegen nah beieinander.</a:t>
            </a:r>
            <a:endParaRPr lang="en-US" sz="1300" dirty="0"/>
          </a:p>
        </p:txBody>
      </p:sp>
    </p:spTree>
    <p:extLst>
      <p:ext uri="{BB962C8B-B14F-4D97-AF65-F5344CB8AC3E}">
        <p14:creationId xmlns:p14="http://schemas.microsoft.com/office/powerpoint/2010/main" val="8895116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67E8333-A12F-461B-8F36-964EF2A4A284}"/>
              </a:ext>
            </a:extLst>
          </p:cNvPr>
          <p:cNvSpPr>
            <a:spLocks noGrp="1"/>
          </p:cNvSpPr>
          <p:nvPr>
            <p:ph type="title"/>
          </p:nvPr>
        </p:nvSpPr>
        <p:spPr>
          <a:xfrm>
            <a:off x="326356" y="382496"/>
            <a:ext cx="5670527" cy="359255"/>
          </a:xfrm>
        </p:spPr>
        <p:txBody>
          <a:bodyPr>
            <a:normAutofit fontScale="90000"/>
          </a:bodyPr>
          <a:lstStyle/>
          <a:p>
            <a:pPr marL="0" indent="0">
              <a:buNone/>
            </a:pPr>
            <a:r>
              <a:rPr lang="en-US" sz="3200" b="1" dirty="0">
                <a:solidFill>
                  <a:srgbClr val="0F172A"/>
                </a:solidFill>
                <a:latin typeface="Cambria" pitchFamily="34" charset="0"/>
                <a:ea typeface="Cambria" pitchFamily="34" charset="-122"/>
                <a:cs typeface="Cambria" pitchFamily="34" charset="-120"/>
              </a:rPr>
              <a:t>Wie </a:t>
            </a:r>
            <a:r>
              <a:rPr lang="en-US" sz="3200" b="1" dirty="0" err="1">
                <a:solidFill>
                  <a:srgbClr val="0F172A"/>
                </a:solidFill>
                <a:latin typeface="Cambria" pitchFamily="34" charset="0"/>
                <a:ea typeface="Cambria" pitchFamily="34" charset="-122"/>
                <a:cs typeface="Cambria" pitchFamily="34" charset="-120"/>
              </a:rPr>
              <a:t>entstehen</a:t>
            </a:r>
            <a:r>
              <a:rPr lang="en-US" sz="3200" b="1" dirty="0">
                <a:solidFill>
                  <a:srgbClr val="0F172A"/>
                </a:solidFill>
                <a:latin typeface="Cambria" pitchFamily="34" charset="0"/>
                <a:ea typeface="Cambria" pitchFamily="34" charset="-122"/>
                <a:cs typeface="Cambria" pitchFamily="34" charset="-120"/>
              </a:rPr>
              <a:t> </a:t>
            </a:r>
            <a:r>
              <a:rPr lang="en-US" sz="3200" b="1" dirty="0" err="1">
                <a:solidFill>
                  <a:srgbClr val="0F172A"/>
                </a:solidFill>
                <a:latin typeface="Cambria" pitchFamily="34" charset="0"/>
                <a:ea typeface="Cambria" pitchFamily="34" charset="-122"/>
                <a:cs typeface="Cambria" pitchFamily="34" charset="-120"/>
              </a:rPr>
              <a:t>Wortvektoren</a:t>
            </a:r>
            <a:r>
              <a:rPr lang="en-US" sz="3200" b="1" dirty="0">
                <a:solidFill>
                  <a:srgbClr val="0F172A"/>
                </a:solidFill>
                <a:latin typeface="Cambria" pitchFamily="34" charset="0"/>
                <a:ea typeface="Cambria" pitchFamily="34" charset="-122"/>
                <a:cs typeface="Cambria" pitchFamily="34" charset="-120"/>
              </a:rPr>
              <a:t>?</a:t>
            </a:r>
            <a:endParaRPr lang="en-US" sz="3200" dirty="0"/>
          </a:p>
        </p:txBody>
      </p:sp>
      <p:sp>
        <p:nvSpPr>
          <p:cNvPr id="6" name="Rechteck 5">
            <a:extLst>
              <a:ext uri="{FF2B5EF4-FFF2-40B4-BE49-F238E27FC236}">
                <a16:creationId xmlns:a16="http://schemas.microsoft.com/office/drawing/2014/main" id="{9B1134CE-53FF-4066-B059-D6ACA70914F2}"/>
              </a:ext>
            </a:extLst>
          </p:cNvPr>
          <p:cNvSpPr/>
          <p:nvPr/>
        </p:nvSpPr>
        <p:spPr>
          <a:xfrm>
            <a:off x="452981" y="1083791"/>
            <a:ext cx="383507" cy="52083"/>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013"/>
          </a:p>
        </p:txBody>
      </p:sp>
      <p:sp>
        <p:nvSpPr>
          <p:cNvPr id="7" name="Titel 1">
            <a:extLst>
              <a:ext uri="{FF2B5EF4-FFF2-40B4-BE49-F238E27FC236}">
                <a16:creationId xmlns:a16="http://schemas.microsoft.com/office/drawing/2014/main" id="{8C89B5C6-61EC-420A-A7BF-D697C040511D}"/>
              </a:ext>
            </a:extLst>
          </p:cNvPr>
          <p:cNvSpPr txBox="1">
            <a:spLocks/>
          </p:cNvSpPr>
          <p:nvPr/>
        </p:nvSpPr>
        <p:spPr>
          <a:xfrm>
            <a:off x="371466" y="688385"/>
            <a:ext cx="4292206" cy="359255"/>
          </a:xfrm>
          <a:prstGeom prst="rect">
            <a:avLst/>
          </a:prstGeom>
        </p:spPr>
        <p:txBody>
          <a:bodyPr vert="horz" lIns="68580" tIns="34290" rIns="68580" bIns="3429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sz="1600" dirty="0">
                <a:solidFill>
                  <a:srgbClr val="0F172A"/>
                </a:solidFill>
                <a:latin typeface="Calibri Light" panose="020F0302020204030204" pitchFamily="34" charset="0"/>
                <a:ea typeface="Calibri Light" panose="020F0302020204030204" pitchFamily="34" charset="0"/>
                <a:cs typeface="Calibri Light" panose="020F0302020204030204" pitchFamily="34" charset="0"/>
              </a:rPr>
              <a:t>Training</a:t>
            </a:r>
            <a:endParaRPr lang="de-DE" sz="1500" dirty="0">
              <a:solidFill>
                <a:srgbClr val="0F172A"/>
              </a:solidFill>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76" name="Datumsplatzhalter 75">
            <a:extLst>
              <a:ext uri="{FF2B5EF4-FFF2-40B4-BE49-F238E27FC236}">
                <a16:creationId xmlns:a16="http://schemas.microsoft.com/office/drawing/2014/main" id="{FB534BCA-17DB-4EBE-9103-31EF5969BBD5}"/>
              </a:ext>
            </a:extLst>
          </p:cNvPr>
          <p:cNvSpPr>
            <a:spLocks noGrp="1"/>
          </p:cNvSpPr>
          <p:nvPr>
            <p:ph type="dt" sz="half" idx="10"/>
          </p:nvPr>
        </p:nvSpPr>
        <p:spPr>
          <a:xfrm>
            <a:off x="347840" y="4807006"/>
            <a:ext cx="2338210" cy="273844"/>
          </a:xfrm>
        </p:spPr>
        <p:txBody>
          <a:bodyPr/>
          <a:lstStyle/>
          <a:p>
            <a:fld id="{0D05602C-25EE-48A8-8786-3C51BA41DB9E}" type="datetime1">
              <a:rPr lang="de-DE"/>
              <a:t>04.05.2026</a:t>
            </a:fld>
            <a:endParaRPr lang="de-DE" dirty="0"/>
          </a:p>
        </p:txBody>
      </p:sp>
      <p:sp>
        <p:nvSpPr>
          <p:cNvPr id="77" name="Fußzeilenplatzhalter 76">
            <a:extLst>
              <a:ext uri="{FF2B5EF4-FFF2-40B4-BE49-F238E27FC236}">
                <a16:creationId xmlns:a16="http://schemas.microsoft.com/office/drawing/2014/main" id="{10A96F6C-9081-4668-9382-F92081EE73D0}"/>
              </a:ext>
            </a:extLst>
          </p:cNvPr>
          <p:cNvSpPr>
            <a:spLocks noGrp="1"/>
          </p:cNvSpPr>
          <p:nvPr>
            <p:ph type="ftr" sz="quarter" idx="11"/>
          </p:nvPr>
        </p:nvSpPr>
        <p:spPr>
          <a:xfrm>
            <a:off x="2686050" y="4807006"/>
            <a:ext cx="3812404" cy="273844"/>
          </a:xfrm>
        </p:spPr>
        <p:txBody>
          <a:bodyPr/>
          <a:lstStyle/>
          <a:p>
            <a:r>
              <a:rPr lang="de-DE" dirty="0"/>
              <a:t>Vektordatenbanken </a:t>
            </a:r>
            <a:r>
              <a:rPr lang="en-US" dirty="0"/>
              <a:t>· </a:t>
            </a:r>
            <a:r>
              <a:rPr lang="en-US" dirty="0" err="1"/>
              <a:t>Studienprojekt</a:t>
            </a:r>
            <a:r>
              <a:rPr lang="en-US" dirty="0"/>
              <a:t> Reverse Chatbots</a:t>
            </a:r>
            <a:endParaRPr lang="de-DE" dirty="0"/>
          </a:p>
        </p:txBody>
      </p:sp>
      <p:sp>
        <p:nvSpPr>
          <p:cNvPr id="78" name="Foliennummernplatzhalter 77">
            <a:extLst>
              <a:ext uri="{FF2B5EF4-FFF2-40B4-BE49-F238E27FC236}">
                <a16:creationId xmlns:a16="http://schemas.microsoft.com/office/drawing/2014/main" id="{2B507CAF-8A2B-4670-8A8F-519A0AECCF4A}"/>
              </a:ext>
            </a:extLst>
          </p:cNvPr>
          <p:cNvSpPr>
            <a:spLocks noGrp="1"/>
          </p:cNvSpPr>
          <p:nvPr>
            <p:ph type="sldNum" sz="quarter" idx="12"/>
          </p:nvPr>
        </p:nvSpPr>
        <p:spPr>
          <a:xfrm>
            <a:off x="6457950" y="4807006"/>
            <a:ext cx="2338210" cy="273844"/>
          </a:xfrm>
        </p:spPr>
        <p:txBody>
          <a:bodyPr/>
          <a:lstStyle/>
          <a:p>
            <a:fld id="{0E836345-B243-4000-8050-9A1A9D10D9C9}" type="slidenum">
              <a:rPr lang="de-DE" smtClean="0"/>
              <a:t>4</a:t>
            </a:fld>
            <a:r>
              <a:rPr lang="de-DE" dirty="0"/>
              <a:t> / 12</a:t>
            </a:r>
          </a:p>
        </p:txBody>
      </p:sp>
      <p:sp>
        <p:nvSpPr>
          <p:cNvPr id="48" name="Shape 8">
            <a:extLst>
              <a:ext uri="{FF2B5EF4-FFF2-40B4-BE49-F238E27FC236}">
                <a16:creationId xmlns:a16="http://schemas.microsoft.com/office/drawing/2014/main" id="{65D915BE-E27C-4C36-8C03-88ECBFE1DE6F}"/>
              </a:ext>
            </a:extLst>
          </p:cNvPr>
          <p:cNvSpPr/>
          <p:nvPr/>
        </p:nvSpPr>
        <p:spPr>
          <a:xfrm>
            <a:off x="452980" y="1344163"/>
            <a:ext cx="8343180" cy="688536"/>
          </a:xfrm>
          <a:prstGeom prst="rect">
            <a:avLst/>
          </a:prstGeom>
          <a:solidFill>
            <a:srgbClr val="FFFFFF"/>
          </a:solidFill>
          <a:ln w="12700">
            <a:solidFill>
              <a:srgbClr val="CBD5E1"/>
            </a:solidFill>
            <a:prstDash val="solid"/>
          </a:ln>
        </p:spPr>
        <p:txBody>
          <a:bodyPr/>
          <a:lstStyle/>
          <a:p>
            <a:endParaRPr lang="de-DE" dirty="0"/>
          </a:p>
        </p:txBody>
      </p:sp>
      <p:sp>
        <p:nvSpPr>
          <p:cNvPr id="49" name="Shape 9">
            <a:extLst>
              <a:ext uri="{FF2B5EF4-FFF2-40B4-BE49-F238E27FC236}">
                <a16:creationId xmlns:a16="http://schemas.microsoft.com/office/drawing/2014/main" id="{B848BE6C-413E-41DA-BAB8-A2BC08BEC819}"/>
              </a:ext>
            </a:extLst>
          </p:cNvPr>
          <p:cNvSpPr/>
          <p:nvPr/>
        </p:nvSpPr>
        <p:spPr>
          <a:xfrm>
            <a:off x="607888" y="1456761"/>
            <a:ext cx="457200" cy="457200"/>
          </a:xfrm>
          <a:prstGeom prst="ellipse">
            <a:avLst/>
          </a:prstGeom>
          <a:solidFill>
            <a:srgbClr val="0F172A"/>
          </a:solidFill>
          <a:ln w="12700">
            <a:solidFill>
              <a:srgbClr val="0F172A"/>
            </a:solidFill>
            <a:prstDash val="solid"/>
          </a:ln>
        </p:spPr>
      </p:sp>
      <p:sp>
        <p:nvSpPr>
          <p:cNvPr id="50" name="Text 10">
            <a:extLst>
              <a:ext uri="{FF2B5EF4-FFF2-40B4-BE49-F238E27FC236}">
                <a16:creationId xmlns:a16="http://schemas.microsoft.com/office/drawing/2014/main" id="{D0FC4EE6-E1E0-47B0-8D81-3A6126508D9B}"/>
              </a:ext>
            </a:extLst>
          </p:cNvPr>
          <p:cNvSpPr/>
          <p:nvPr/>
        </p:nvSpPr>
        <p:spPr>
          <a:xfrm>
            <a:off x="607888" y="145921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51" name="Text 11">
            <a:extLst>
              <a:ext uri="{FF2B5EF4-FFF2-40B4-BE49-F238E27FC236}">
                <a16:creationId xmlns:a16="http://schemas.microsoft.com/office/drawing/2014/main" id="{95169AD8-E618-4D8D-8D9B-0E7A2E44972D}"/>
              </a:ext>
            </a:extLst>
          </p:cNvPr>
          <p:cNvSpPr/>
          <p:nvPr/>
        </p:nvSpPr>
        <p:spPr>
          <a:xfrm>
            <a:off x="1310360" y="1344161"/>
            <a:ext cx="1737360" cy="457200"/>
          </a:xfrm>
          <a:prstGeom prst="rect">
            <a:avLst/>
          </a:prstGeom>
          <a:noFill/>
          <a:ln/>
        </p:spPr>
        <p:txBody>
          <a:bodyPr wrap="square" lIns="0" tIns="0" rIns="0" bIns="0" rtlCol="0" anchor="ctr"/>
          <a:lstStyle/>
          <a:p>
            <a:pPr marL="0" indent="0">
              <a:buNone/>
            </a:pPr>
            <a:r>
              <a:rPr lang="en-US" sz="1500" b="1" dirty="0">
                <a:solidFill>
                  <a:srgbClr val="0F172A"/>
                </a:solidFill>
                <a:latin typeface="Cambria" pitchFamily="34" charset="0"/>
                <a:ea typeface="Cambria" pitchFamily="34" charset="-122"/>
                <a:cs typeface="Cambria" pitchFamily="34" charset="-120"/>
              </a:rPr>
              <a:t>Training</a:t>
            </a:r>
            <a:endParaRPr lang="en-US" sz="1500" dirty="0"/>
          </a:p>
        </p:txBody>
      </p:sp>
      <p:sp>
        <p:nvSpPr>
          <p:cNvPr id="52" name="Text 12">
            <a:extLst>
              <a:ext uri="{FF2B5EF4-FFF2-40B4-BE49-F238E27FC236}">
                <a16:creationId xmlns:a16="http://schemas.microsoft.com/office/drawing/2014/main" id="{BE0CE5DD-E8C4-4A70-A0D2-D9AC3B198EE0}"/>
              </a:ext>
            </a:extLst>
          </p:cNvPr>
          <p:cNvSpPr/>
          <p:nvPr/>
        </p:nvSpPr>
        <p:spPr>
          <a:xfrm>
            <a:off x="1310360" y="1846396"/>
            <a:ext cx="4535636" cy="119064"/>
          </a:xfrm>
          <a:prstGeom prst="rect">
            <a:avLst/>
          </a:prstGeom>
          <a:noFill/>
          <a:ln/>
        </p:spPr>
        <p:txBody>
          <a:bodyPr wrap="square" lIns="0" tIns="0" rIns="0" bIns="0" rtlCol="0" anchor="ctr"/>
          <a:lstStyle/>
          <a:p>
            <a:pPr marL="0" indent="0">
              <a:lnSpc>
                <a:spcPct val="130000"/>
              </a:lnSpc>
              <a:buNone/>
            </a:pPr>
            <a:endParaRPr lang="en-US" sz="1200" dirty="0">
              <a:solidFill>
                <a:srgbClr val="475569"/>
              </a:solidFill>
              <a:latin typeface="Calibri" pitchFamily="34" charset="0"/>
              <a:ea typeface="Calibri" pitchFamily="34" charset="-122"/>
              <a:cs typeface="Calibri" pitchFamily="34" charset="-120"/>
            </a:endParaRPr>
          </a:p>
          <a:p>
            <a:pPr marL="0" indent="0">
              <a:lnSpc>
                <a:spcPct val="130000"/>
              </a:lnSpc>
              <a:buNone/>
            </a:pPr>
            <a:r>
              <a:rPr lang="en-US" sz="1200" dirty="0">
                <a:solidFill>
                  <a:srgbClr val="475569"/>
                </a:solidFill>
                <a:latin typeface="Calibri" pitchFamily="34" charset="0"/>
                <a:ea typeface="Calibri" pitchFamily="34" charset="-122"/>
                <a:cs typeface="Calibri" pitchFamily="34" charset="-120"/>
              </a:rPr>
              <a:t>Modell </a:t>
            </a:r>
            <a:r>
              <a:rPr lang="en-US" sz="1200" dirty="0" err="1">
                <a:solidFill>
                  <a:srgbClr val="475569"/>
                </a:solidFill>
                <a:latin typeface="Calibri" pitchFamily="34" charset="0"/>
                <a:ea typeface="Calibri" pitchFamily="34" charset="-122"/>
                <a:cs typeface="Calibri" pitchFamily="34" charset="-120"/>
              </a:rPr>
              <a:t>lernt</a:t>
            </a:r>
            <a:r>
              <a:rPr lang="en-US" sz="1200" dirty="0">
                <a:solidFill>
                  <a:srgbClr val="475569"/>
                </a:solidFill>
                <a:latin typeface="Calibri" pitchFamily="34" charset="0"/>
                <a:ea typeface="Calibri" pitchFamily="34" charset="-122"/>
                <a:cs typeface="Calibri" pitchFamily="34" charset="-120"/>
              </a:rPr>
              <a:t> </a:t>
            </a:r>
            <a:r>
              <a:rPr lang="en-US" sz="1200" dirty="0" err="1">
                <a:solidFill>
                  <a:srgbClr val="475569"/>
                </a:solidFill>
                <a:latin typeface="Calibri" pitchFamily="34" charset="0"/>
                <a:ea typeface="Calibri" pitchFamily="34" charset="-122"/>
                <a:cs typeface="Calibri" pitchFamily="34" charset="-120"/>
              </a:rPr>
              <a:t>aus</a:t>
            </a:r>
            <a:r>
              <a:rPr lang="en-US" sz="1200" dirty="0">
                <a:solidFill>
                  <a:srgbClr val="475569"/>
                </a:solidFill>
                <a:latin typeface="Calibri" pitchFamily="34" charset="0"/>
                <a:ea typeface="Calibri" pitchFamily="34" charset="-122"/>
                <a:cs typeface="Calibri" pitchFamily="34" charset="-120"/>
              </a:rPr>
              <a:t> den </a:t>
            </a:r>
            <a:r>
              <a:rPr lang="en-US" sz="1200" dirty="0" err="1">
                <a:solidFill>
                  <a:srgbClr val="475569"/>
                </a:solidFill>
                <a:latin typeface="Calibri" pitchFamily="34" charset="0"/>
                <a:ea typeface="Calibri" pitchFamily="34" charset="-122"/>
                <a:cs typeface="Calibri" pitchFamily="34" charset="-120"/>
              </a:rPr>
              <a:t>Daten</a:t>
            </a:r>
            <a:r>
              <a:rPr lang="en-US" sz="1200" dirty="0">
                <a:solidFill>
                  <a:srgbClr val="475569"/>
                </a:solidFill>
                <a:latin typeface="Calibri" pitchFamily="34" charset="0"/>
                <a:ea typeface="Calibri" pitchFamily="34" charset="-122"/>
                <a:cs typeface="Calibri" pitchFamily="34" charset="-120"/>
              </a:rPr>
              <a:t>, Wörter aus ihrem Kontext </a:t>
            </a:r>
            <a:r>
              <a:rPr lang="en-US" sz="1200" dirty="0" err="1">
                <a:solidFill>
                  <a:srgbClr val="475569"/>
                </a:solidFill>
                <a:latin typeface="Calibri" pitchFamily="34" charset="0"/>
                <a:ea typeface="Calibri" pitchFamily="34" charset="-122"/>
                <a:cs typeface="Calibri" pitchFamily="34" charset="-120"/>
              </a:rPr>
              <a:t>vorherzusagen</a:t>
            </a:r>
            <a:r>
              <a:rPr lang="en-US" sz="1200" dirty="0">
                <a:solidFill>
                  <a:srgbClr val="475569"/>
                </a:solidFill>
                <a:latin typeface="Calibri" pitchFamily="34" charset="0"/>
                <a:ea typeface="Calibri" pitchFamily="34" charset="-122"/>
                <a:cs typeface="Calibri" pitchFamily="34" charset="-120"/>
              </a:rPr>
              <a:t>.</a:t>
            </a:r>
          </a:p>
          <a:p>
            <a:pPr marL="0" indent="0">
              <a:lnSpc>
                <a:spcPct val="130000"/>
              </a:lnSpc>
              <a:buNone/>
            </a:pPr>
            <a:br>
              <a:rPr lang="en-US" sz="1200" dirty="0">
                <a:solidFill>
                  <a:srgbClr val="475569"/>
                </a:solidFill>
                <a:latin typeface="Calibri" pitchFamily="34" charset="0"/>
                <a:ea typeface="Calibri" pitchFamily="34" charset="-122"/>
                <a:cs typeface="Calibri" pitchFamily="34" charset="-120"/>
              </a:rPr>
            </a:br>
            <a:endParaRPr lang="en-US" sz="1200" dirty="0"/>
          </a:p>
        </p:txBody>
      </p:sp>
      <p:sp>
        <p:nvSpPr>
          <p:cNvPr id="35" name="Shape 8">
            <a:extLst>
              <a:ext uri="{FF2B5EF4-FFF2-40B4-BE49-F238E27FC236}">
                <a16:creationId xmlns:a16="http://schemas.microsoft.com/office/drawing/2014/main" id="{6D320DC9-FB6C-4801-B949-96E861F194A5}"/>
              </a:ext>
            </a:extLst>
          </p:cNvPr>
          <p:cNvSpPr/>
          <p:nvPr/>
        </p:nvSpPr>
        <p:spPr>
          <a:xfrm>
            <a:off x="452981" y="2112980"/>
            <a:ext cx="3783856" cy="2068325"/>
          </a:xfrm>
          <a:prstGeom prst="rect">
            <a:avLst/>
          </a:prstGeom>
          <a:solidFill>
            <a:srgbClr val="FFFFFF"/>
          </a:solidFill>
          <a:ln w="12700">
            <a:solidFill>
              <a:srgbClr val="CBD5E1"/>
            </a:solidFill>
            <a:prstDash val="solid"/>
          </a:ln>
        </p:spPr>
        <p:txBody>
          <a:bodyPr/>
          <a:lstStyle/>
          <a:p>
            <a:r>
              <a:rPr lang="de-DE" dirty="0"/>
              <a:t> </a:t>
            </a:r>
          </a:p>
        </p:txBody>
      </p:sp>
      <p:sp>
        <p:nvSpPr>
          <p:cNvPr id="38" name="Text 11">
            <a:extLst>
              <a:ext uri="{FF2B5EF4-FFF2-40B4-BE49-F238E27FC236}">
                <a16:creationId xmlns:a16="http://schemas.microsoft.com/office/drawing/2014/main" id="{CE4975B0-6F65-42CA-A667-0287A3CB1828}"/>
              </a:ext>
            </a:extLst>
          </p:cNvPr>
          <p:cNvSpPr/>
          <p:nvPr/>
        </p:nvSpPr>
        <p:spPr>
          <a:xfrm>
            <a:off x="607888" y="2184022"/>
            <a:ext cx="3707258" cy="243040"/>
          </a:xfrm>
          <a:prstGeom prst="rect">
            <a:avLst/>
          </a:prstGeom>
          <a:noFill/>
          <a:ln/>
        </p:spPr>
        <p:txBody>
          <a:bodyPr wrap="square" lIns="0" tIns="0" rIns="0" bIns="0" rtlCol="0" anchor="ctr"/>
          <a:lstStyle/>
          <a:p>
            <a:pPr marL="0" indent="0">
              <a:buNone/>
            </a:pPr>
            <a:r>
              <a:rPr lang="en-US" sz="1500" b="1" dirty="0" err="1">
                <a:solidFill>
                  <a:srgbClr val="0F172A"/>
                </a:solidFill>
                <a:latin typeface="Cambria" pitchFamily="34" charset="0"/>
                <a:ea typeface="Cambria" pitchFamily="34" charset="-122"/>
              </a:rPr>
              <a:t>Selbstüberwachtes</a:t>
            </a:r>
            <a:r>
              <a:rPr lang="en-US" sz="1500" b="1" dirty="0">
                <a:solidFill>
                  <a:srgbClr val="0F172A"/>
                </a:solidFill>
                <a:latin typeface="Cambria" pitchFamily="34" charset="0"/>
                <a:ea typeface="Cambria" pitchFamily="34" charset="-122"/>
              </a:rPr>
              <a:t> </a:t>
            </a:r>
            <a:r>
              <a:rPr lang="en-US" sz="1500" b="1" dirty="0" err="1">
                <a:solidFill>
                  <a:srgbClr val="0F172A"/>
                </a:solidFill>
                <a:latin typeface="Cambria" pitchFamily="34" charset="0"/>
                <a:ea typeface="Cambria" pitchFamily="34" charset="-122"/>
              </a:rPr>
              <a:t>Lernen</a:t>
            </a:r>
            <a:r>
              <a:rPr lang="en-US" sz="1500" b="1" dirty="0">
                <a:solidFill>
                  <a:srgbClr val="0F172A"/>
                </a:solidFill>
                <a:latin typeface="Cambria" pitchFamily="34" charset="0"/>
                <a:ea typeface="Cambria" pitchFamily="34" charset="-122"/>
              </a:rPr>
              <a:t> (Masking)</a:t>
            </a:r>
          </a:p>
        </p:txBody>
      </p:sp>
      <p:sp>
        <p:nvSpPr>
          <p:cNvPr id="39" name="Text 12">
            <a:extLst>
              <a:ext uri="{FF2B5EF4-FFF2-40B4-BE49-F238E27FC236}">
                <a16:creationId xmlns:a16="http://schemas.microsoft.com/office/drawing/2014/main" id="{3496B514-6BD6-4323-80A0-6B98707C55F2}"/>
              </a:ext>
            </a:extLst>
          </p:cNvPr>
          <p:cNvSpPr/>
          <p:nvPr/>
        </p:nvSpPr>
        <p:spPr>
          <a:xfrm>
            <a:off x="601727" y="2547171"/>
            <a:ext cx="3486364" cy="411185"/>
          </a:xfrm>
          <a:prstGeom prst="rect">
            <a:avLst/>
          </a:prstGeom>
          <a:noFill/>
          <a:ln/>
        </p:spPr>
        <p:txBody>
          <a:bodyPr wrap="square" lIns="0" tIns="0" rIns="0" bIns="0" rtlCol="0" anchor="ctr"/>
          <a:lstStyle/>
          <a:p>
            <a:pPr marL="0" indent="0">
              <a:lnSpc>
                <a:spcPct val="130000"/>
              </a:lnSpc>
              <a:buNone/>
            </a:pPr>
            <a:endParaRPr lang="en-US" sz="1500" b="1" dirty="0">
              <a:solidFill>
                <a:srgbClr val="0F172A"/>
              </a:solidFill>
              <a:latin typeface="Cambria" pitchFamily="34" charset="0"/>
              <a:ea typeface="Cambria" pitchFamily="34" charset="-122"/>
            </a:endParaRPr>
          </a:p>
          <a:p>
            <a:pPr marL="0" indent="0">
              <a:lnSpc>
                <a:spcPts val="1500"/>
              </a:lnSpc>
              <a:buNone/>
            </a:pPr>
            <a:r>
              <a:rPr lang="en-US" sz="1200" dirty="0">
                <a:solidFill>
                  <a:srgbClr val="475569"/>
                </a:solidFill>
                <a:latin typeface="Calibri" pitchFamily="34" charset="0"/>
                <a:ea typeface="Calibri" pitchFamily="34" charset="-122"/>
                <a:cs typeface="Calibri" pitchFamily="34" charset="-120"/>
              </a:rPr>
              <a:t>Neue </a:t>
            </a:r>
            <a:r>
              <a:rPr lang="en-US" sz="1200" dirty="0" err="1">
                <a:solidFill>
                  <a:srgbClr val="475569"/>
                </a:solidFill>
                <a:latin typeface="Calibri" pitchFamily="34" charset="0"/>
                <a:ea typeface="Calibri" pitchFamily="34" charset="-122"/>
                <a:cs typeface="Calibri" pitchFamily="34" charset="-120"/>
              </a:rPr>
              <a:t>Vektor-Modelle</a:t>
            </a:r>
            <a:r>
              <a:rPr lang="en-US" sz="1200" dirty="0">
                <a:solidFill>
                  <a:srgbClr val="475569"/>
                </a:solidFill>
                <a:latin typeface="Calibri" pitchFamily="34" charset="0"/>
                <a:ea typeface="Calibri" pitchFamily="34" charset="-122"/>
                <a:cs typeface="Calibri" pitchFamily="34" charset="-120"/>
              </a:rPr>
              <a:t> </a:t>
            </a:r>
            <a:r>
              <a:rPr lang="en-US" sz="1200" dirty="0" err="1">
                <a:solidFill>
                  <a:srgbClr val="475569"/>
                </a:solidFill>
                <a:latin typeface="Calibri" pitchFamily="34" charset="0"/>
                <a:ea typeface="Calibri" pitchFamily="34" charset="-122"/>
                <a:cs typeface="Calibri" pitchFamily="34" charset="-120"/>
              </a:rPr>
              <a:t>lernen</a:t>
            </a:r>
            <a:r>
              <a:rPr lang="en-US" sz="1200" dirty="0">
                <a:solidFill>
                  <a:srgbClr val="475569"/>
                </a:solidFill>
                <a:latin typeface="Calibri" pitchFamily="34" charset="0"/>
                <a:ea typeface="Calibri" pitchFamily="34" charset="-122"/>
                <a:cs typeface="Calibri" pitchFamily="34" charset="-120"/>
              </a:rPr>
              <a:t> </a:t>
            </a:r>
            <a:r>
              <a:rPr lang="en-US" sz="1200" dirty="0" err="1">
                <a:solidFill>
                  <a:srgbClr val="475569"/>
                </a:solidFill>
                <a:latin typeface="Calibri" pitchFamily="34" charset="0"/>
                <a:ea typeface="Calibri" pitchFamily="34" charset="-122"/>
                <a:cs typeface="Calibri" pitchFamily="34" charset="-120"/>
              </a:rPr>
              <a:t>durch</a:t>
            </a:r>
            <a:r>
              <a:rPr lang="en-US" sz="1200" dirty="0">
                <a:solidFill>
                  <a:srgbClr val="475569"/>
                </a:solidFill>
                <a:latin typeface="Calibri" pitchFamily="34" charset="0"/>
                <a:ea typeface="Calibri" pitchFamily="34" charset="-122"/>
                <a:cs typeface="Calibri" pitchFamily="34" charset="-120"/>
              </a:rPr>
              <a:t> das </a:t>
            </a:r>
            <a:r>
              <a:rPr lang="en-US" sz="1200" dirty="0" err="1">
                <a:solidFill>
                  <a:srgbClr val="475569"/>
                </a:solidFill>
                <a:latin typeface="Calibri" pitchFamily="34" charset="0"/>
                <a:ea typeface="Calibri" pitchFamily="34" charset="-122"/>
                <a:cs typeface="Calibri" pitchFamily="34" charset="-120"/>
              </a:rPr>
              <a:t>Weglassen</a:t>
            </a:r>
            <a:r>
              <a:rPr lang="en-US" sz="1200" dirty="0">
                <a:solidFill>
                  <a:srgbClr val="475569"/>
                </a:solidFill>
                <a:latin typeface="Calibri" pitchFamily="34" charset="0"/>
                <a:ea typeface="Calibri" pitchFamily="34" charset="-122"/>
                <a:cs typeface="Calibri" pitchFamily="34" charset="-120"/>
              </a:rPr>
              <a:t> &amp; </a:t>
            </a:r>
            <a:r>
              <a:rPr lang="en-US" sz="1200" dirty="0" err="1">
                <a:solidFill>
                  <a:srgbClr val="475569"/>
                </a:solidFill>
                <a:latin typeface="Calibri" pitchFamily="34" charset="0"/>
                <a:ea typeface="Calibri" pitchFamily="34" charset="-122"/>
                <a:cs typeface="Calibri" pitchFamily="34" charset="-120"/>
              </a:rPr>
              <a:t>Raten</a:t>
            </a:r>
            <a:r>
              <a:rPr lang="en-US" sz="1200" dirty="0">
                <a:solidFill>
                  <a:srgbClr val="475569"/>
                </a:solidFill>
                <a:latin typeface="Calibri" pitchFamily="34" charset="0"/>
                <a:ea typeface="Calibri" pitchFamily="34" charset="-122"/>
                <a:cs typeface="Calibri" pitchFamily="34" charset="-120"/>
              </a:rPr>
              <a:t> von </a:t>
            </a:r>
            <a:r>
              <a:rPr lang="en-US" sz="1200" dirty="0" err="1">
                <a:solidFill>
                  <a:srgbClr val="475569"/>
                </a:solidFill>
                <a:latin typeface="Calibri" pitchFamily="34" charset="0"/>
                <a:ea typeface="Calibri" pitchFamily="34" charset="-122"/>
                <a:cs typeface="Calibri" pitchFamily="34" charset="-120"/>
              </a:rPr>
              <a:t>Wörtern</a:t>
            </a:r>
            <a:r>
              <a:rPr lang="en-US" sz="1200" dirty="0">
                <a:solidFill>
                  <a:srgbClr val="475569"/>
                </a:solidFill>
                <a:latin typeface="Calibri" pitchFamily="34" charset="0"/>
                <a:ea typeface="Calibri" pitchFamily="34" charset="-122"/>
                <a:cs typeface="Calibri" pitchFamily="34" charset="-120"/>
              </a:rPr>
              <a:t>. </a:t>
            </a:r>
            <a:r>
              <a:rPr lang="en-US" sz="800" dirty="0">
                <a:solidFill>
                  <a:schemeClr val="bg1">
                    <a:lumMod val="65000"/>
                  </a:schemeClr>
                </a:solidFill>
                <a:latin typeface="Calibri" pitchFamily="34" charset="0"/>
                <a:ea typeface="Calibri" pitchFamily="34" charset="-122"/>
                <a:cs typeface="Calibri" pitchFamily="34" charset="-120"/>
              </a:rPr>
              <a:t>[Q16]</a:t>
            </a:r>
            <a:br>
              <a:rPr lang="en-US" sz="800" dirty="0">
                <a:solidFill>
                  <a:schemeClr val="bg1">
                    <a:lumMod val="65000"/>
                  </a:schemeClr>
                </a:solidFill>
                <a:latin typeface="Calibri" pitchFamily="34" charset="0"/>
                <a:ea typeface="Calibri" pitchFamily="34" charset="-122"/>
                <a:cs typeface="Calibri" pitchFamily="34" charset="-120"/>
              </a:rPr>
            </a:br>
            <a:endParaRPr lang="en-US" sz="800" dirty="0">
              <a:solidFill>
                <a:schemeClr val="bg1">
                  <a:lumMod val="65000"/>
                </a:schemeClr>
              </a:solidFill>
              <a:latin typeface="Calibri" pitchFamily="34" charset="0"/>
              <a:ea typeface="Calibri" pitchFamily="34" charset="-122"/>
              <a:cs typeface="Calibri" pitchFamily="34" charset="-120"/>
            </a:endParaRPr>
          </a:p>
        </p:txBody>
      </p:sp>
      <p:sp>
        <p:nvSpPr>
          <p:cNvPr id="41" name="Shape 8">
            <a:extLst>
              <a:ext uri="{FF2B5EF4-FFF2-40B4-BE49-F238E27FC236}">
                <a16:creationId xmlns:a16="http://schemas.microsoft.com/office/drawing/2014/main" id="{9CBF0575-7A60-4440-A500-2E7F55B39508}"/>
              </a:ext>
            </a:extLst>
          </p:cNvPr>
          <p:cNvSpPr/>
          <p:nvPr/>
        </p:nvSpPr>
        <p:spPr>
          <a:xfrm>
            <a:off x="594647" y="3220264"/>
            <a:ext cx="3486364" cy="243040"/>
          </a:xfrm>
          <a:prstGeom prst="rect">
            <a:avLst/>
          </a:prstGeom>
          <a:solidFill>
            <a:srgbClr val="FFFFFF"/>
          </a:solidFill>
          <a:ln w="12700">
            <a:solidFill>
              <a:srgbClr val="CBD5E1"/>
            </a:solidFill>
            <a:prstDash val="solid"/>
          </a:ln>
        </p:spPr>
        <p:txBody>
          <a:bodyPr/>
          <a:lstStyle/>
          <a:p>
            <a:pPr>
              <a:lnSpc>
                <a:spcPts val="1500"/>
              </a:lnSpc>
            </a:pPr>
            <a:r>
              <a:rPr lang="de-DE" sz="1600" dirty="0"/>
              <a:t>Der		bellt heute laut im Garten. </a:t>
            </a:r>
            <a:r>
              <a:rPr lang="de-DE" dirty="0"/>
              <a:t> </a:t>
            </a:r>
          </a:p>
        </p:txBody>
      </p:sp>
      <p:sp>
        <p:nvSpPr>
          <p:cNvPr id="42" name="Text 12">
            <a:extLst>
              <a:ext uri="{FF2B5EF4-FFF2-40B4-BE49-F238E27FC236}">
                <a16:creationId xmlns:a16="http://schemas.microsoft.com/office/drawing/2014/main" id="{295CBF4D-CFEB-44B7-A684-9B38A0426D13}"/>
              </a:ext>
            </a:extLst>
          </p:cNvPr>
          <p:cNvSpPr/>
          <p:nvPr/>
        </p:nvSpPr>
        <p:spPr>
          <a:xfrm>
            <a:off x="594647" y="3390623"/>
            <a:ext cx="3486364" cy="419849"/>
          </a:xfrm>
          <a:prstGeom prst="rect">
            <a:avLst/>
          </a:prstGeom>
          <a:noFill/>
          <a:ln/>
        </p:spPr>
        <p:txBody>
          <a:bodyPr wrap="square" lIns="0" tIns="0" rIns="0" bIns="0" rtlCol="0" anchor="ctr"/>
          <a:lstStyle/>
          <a:p>
            <a:pPr marL="0" indent="0">
              <a:lnSpc>
                <a:spcPct val="130000"/>
              </a:lnSpc>
              <a:buNone/>
            </a:pPr>
            <a:endParaRPr lang="en-US" sz="1200" dirty="0"/>
          </a:p>
        </p:txBody>
      </p:sp>
      <p:sp>
        <p:nvSpPr>
          <p:cNvPr id="4" name="Textfeld 3">
            <a:extLst>
              <a:ext uri="{FF2B5EF4-FFF2-40B4-BE49-F238E27FC236}">
                <a16:creationId xmlns:a16="http://schemas.microsoft.com/office/drawing/2014/main" id="{8120C531-FED4-41EA-B06F-0CC8D1096AA0}"/>
              </a:ext>
            </a:extLst>
          </p:cNvPr>
          <p:cNvSpPr txBox="1"/>
          <p:nvPr/>
        </p:nvSpPr>
        <p:spPr>
          <a:xfrm>
            <a:off x="538278" y="3600547"/>
            <a:ext cx="3486364" cy="461665"/>
          </a:xfrm>
          <a:prstGeom prst="rect">
            <a:avLst/>
          </a:prstGeom>
          <a:noFill/>
        </p:spPr>
        <p:txBody>
          <a:bodyPr wrap="square" rtlCol="0">
            <a:spAutoFit/>
          </a:bodyPr>
          <a:lstStyle/>
          <a:p>
            <a:r>
              <a:rPr lang="en-US" sz="1200" i="1" dirty="0">
                <a:solidFill>
                  <a:srgbClr val="475569"/>
                </a:solidFill>
                <a:latin typeface="Calibri" pitchFamily="34" charset="0"/>
                <a:ea typeface="Calibri" pitchFamily="34" charset="-122"/>
                <a:cs typeface="Calibri" pitchFamily="34" charset="-120"/>
              </a:rPr>
              <a:t>→ </a:t>
            </a:r>
            <a:r>
              <a:rPr lang="en-US" sz="1200" i="1" dirty="0" err="1">
                <a:solidFill>
                  <a:srgbClr val="475569"/>
                </a:solidFill>
                <a:latin typeface="Calibri" pitchFamily="34" charset="0"/>
                <a:ea typeface="Calibri" pitchFamily="34" charset="-122"/>
                <a:cs typeface="Calibri" pitchFamily="34" charset="-120"/>
              </a:rPr>
              <a:t>Dadurch</a:t>
            </a:r>
            <a:r>
              <a:rPr lang="en-US" sz="1200" i="1" dirty="0">
                <a:solidFill>
                  <a:srgbClr val="475569"/>
                </a:solidFill>
                <a:latin typeface="Calibri" pitchFamily="34" charset="0"/>
                <a:ea typeface="Calibri" pitchFamily="34" charset="-122"/>
                <a:cs typeface="Calibri" pitchFamily="34" charset="-120"/>
              </a:rPr>
              <a:t> </a:t>
            </a:r>
            <a:r>
              <a:rPr lang="en-US" sz="1200" i="1" dirty="0" err="1">
                <a:solidFill>
                  <a:srgbClr val="475569"/>
                </a:solidFill>
                <a:latin typeface="Calibri" pitchFamily="34" charset="0"/>
                <a:ea typeface="Calibri" pitchFamily="34" charset="-122"/>
                <a:cs typeface="Calibri" pitchFamily="34" charset="-120"/>
              </a:rPr>
              <a:t>lernen</a:t>
            </a:r>
            <a:r>
              <a:rPr lang="en-US" sz="1200" i="1" dirty="0">
                <a:solidFill>
                  <a:srgbClr val="475569"/>
                </a:solidFill>
                <a:latin typeface="Calibri" pitchFamily="34" charset="0"/>
                <a:ea typeface="Calibri" pitchFamily="34" charset="-122"/>
                <a:cs typeface="Calibri" pitchFamily="34" charset="-120"/>
              </a:rPr>
              <a:t> </a:t>
            </a:r>
            <a:r>
              <a:rPr lang="en-US" sz="1200" i="1" dirty="0" err="1">
                <a:solidFill>
                  <a:srgbClr val="475569"/>
                </a:solidFill>
                <a:latin typeface="Calibri" pitchFamily="34" charset="0"/>
                <a:ea typeface="Calibri" pitchFamily="34" charset="-122"/>
                <a:cs typeface="Calibri" pitchFamily="34" charset="-120"/>
              </a:rPr>
              <a:t>sie</a:t>
            </a:r>
            <a:r>
              <a:rPr lang="en-US" sz="1200" i="1" dirty="0">
                <a:solidFill>
                  <a:srgbClr val="475569"/>
                </a:solidFill>
                <a:latin typeface="Calibri" pitchFamily="34" charset="0"/>
                <a:ea typeface="Calibri" pitchFamily="34" charset="-122"/>
                <a:cs typeface="Calibri" pitchFamily="34" charset="-120"/>
              </a:rPr>
              <a:t> </a:t>
            </a:r>
            <a:r>
              <a:rPr lang="en-US" sz="1200" i="1" dirty="0" err="1">
                <a:solidFill>
                  <a:srgbClr val="475569"/>
                </a:solidFill>
                <a:latin typeface="Calibri" pitchFamily="34" charset="0"/>
                <a:ea typeface="Calibri" pitchFamily="34" charset="-122"/>
                <a:cs typeface="Calibri" pitchFamily="34" charset="-120"/>
              </a:rPr>
              <a:t>implizit</a:t>
            </a:r>
            <a:r>
              <a:rPr lang="en-US" sz="1200" i="1" dirty="0">
                <a:solidFill>
                  <a:srgbClr val="475569"/>
                </a:solidFill>
                <a:latin typeface="Calibri" pitchFamily="34" charset="0"/>
                <a:ea typeface="Calibri" pitchFamily="34" charset="-122"/>
                <a:cs typeface="Calibri" pitchFamily="34" charset="-120"/>
              </a:rPr>
              <a:t> die </a:t>
            </a:r>
            <a:r>
              <a:rPr lang="en-US" sz="1200" i="1" dirty="0" err="1">
                <a:solidFill>
                  <a:srgbClr val="475569"/>
                </a:solidFill>
                <a:latin typeface="Calibri" pitchFamily="34" charset="0"/>
                <a:ea typeface="Calibri" pitchFamily="34" charset="-122"/>
                <a:cs typeface="Calibri" pitchFamily="34" charset="-120"/>
              </a:rPr>
              <a:t>Bedeutung</a:t>
            </a:r>
            <a:r>
              <a:rPr lang="en-US" sz="1200" i="1" dirty="0">
                <a:solidFill>
                  <a:srgbClr val="475569"/>
                </a:solidFill>
                <a:latin typeface="Calibri" pitchFamily="34" charset="0"/>
                <a:ea typeface="Calibri" pitchFamily="34" charset="-122"/>
                <a:cs typeface="Calibri" pitchFamily="34" charset="-120"/>
              </a:rPr>
              <a:t> von </a:t>
            </a:r>
            <a:r>
              <a:rPr lang="en-US" sz="1200" i="1" dirty="0" err="1">
                <a:solidFill>
                  <a:srgbClr val="475569"/>
                </a:solidFill>
                <a:latin typeface="Calibri" pitchFamily="34" charset="0"/>
                <a:ea typeface="Calibri" pitchFamily="34" charset="-122"/>
                <a:cs typeface="Calibri" pitchFamily="34" charset="-120"/>
              </a:rPr>
              <a:t>Wörtern</a:t>
            </a:r>
            <a:r>
              <a:rPr lang="en-US" sz="1200" i="1" dirty="0">
                <a:solidFill>
                  <a:srgbClr val="475569"/>
                </a:solidFill>
                <a:latin typeface="Calibri" pitchFamily="34" charset="0"/>
                <a:ea typeface="Calibri" pitchFamily="34" charset="-122"/>
                <a:cs typeface="Calibri" pitchFamily="34" charset="-120"/>
              </a:rPr>
              <a:t> </a:t>
            </a:r>
            <a:r>
              <a:rPr lang="en-US" sz="1200" i="1" dirty="0" err="1">
                <a:solidFill>
                  <a:srgbClr val="475569"/>
                </a:solidFill>
                <a:latin typeface="Calibri" pitchFamily="34" charset="0"/>
                <a:ea typeface="Calibri" pitchFamily="34" charset="-122"/>
                <a:cs typeface="Calibri" pitchFamily="34" charset="-120"/>
              </a:rPr>
              <a:t>im</a:t>
            </a:r>
            <a:r>
              <a:rPr lang="en-US" sz="1200" i="1" dirty="0">
                <a:solidFill>
                  <a:srgbClr val="475569"/>
                </a:solidFill>
                <a:latin typeface="Calibri" pitchFamily="34" charset="0"/>
                <a:ea typeface="Calibri" pitchFamily="34" charset="-122"/>
                <a:cs typeface="Calibri" pitchFamily="34" charset="-120"/>
              </a:rPr>
              <a:t> </a:t>
            </a:r>
            <a:r>
              <a:rPr lang="en-US" sz="1200" i="1" dirty="0" err="1">
                <a:solidFill>
                  <a:srgbClr val="475569"/>
                </a:solidFill>
                <a:latin typeface="Calibri" pitchFamily="34" charset="0"/>
                <a:ea typeface="Calibri" pitchFamily="34" charset="-122"/>
                <a:cs typeface="Calibri" pitchFamily="34" charset="-120"/>
              </a:rPr>
              <a:t>Kontext</a:t>
            </a:r>
            <a:endParaRPr lang="de-DE" sz="1200" i="1" dirty="0">
              <a:solidFill>
                <a:srgbClr val="475569"/>
              </a:solidFill>
              <a:latin typeface="Calibri" pitchFamily="34" charset="0"/>
              <a:ea typeface="Calibri" pitchFamily="34" charset="-122"/>
              <a:cs typeface="Calibri" pitchFamily="34" charset="-120"/>
            </a:endParaRPr>
          </a:p>
        </p:txBody>
      </p:sp>
      <p:sp>
        <p:nvSpPr>
          <p:cNvPr id="5" name="Rechteck 4">
            <a:extLst>
              <a:ext uri="{FF2B5EF4-FFF2-40B4-BE49-F238E27FC236}">
                <a16:creationId xmlns:a16="http://schemas.microsoft.com/office/drawing/2014/main" id="{3B36F06D-1AB5-4CD8-8AA6-C2869DA8220C}"/>
              </a:ext>
            </a:extLst>
          </p:cNvPr>
          <p:cNvSpPr/>
          <p:nvPr/>
        </p:nvSpPr>
        <p:spPr>
          <a:xfrm>
            <a:off x="1082006" y="3255123"/>
            <a:ext cx="434939" cy="18350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DE"/>
          </a:p>
        </p:txBody>
      </p:sp>
      <p:sp>
        <p:nvSpPr>
          <p:cNvPr id="58" name="Shape 8">
            <a:extLst>
              <a:ext uri="{FF2B5EF4-FFF2-40B4-BE49-F238E27FC236}">
                <a16:creationId xmlns:a16="http://schemas.microsoft.com/office/drawing/2014/main" id="{0DB22DAC-B763-4672-9044-CF469292826C}"/>
              </a:ext>
            </a:extLst>
          </p:cNvPr>
          <p:cNvSpPr/>
          <p:nvPr/>
        </p:nvSpPr>
        <p:spPr>
          <a:xfrm>
            <a:off x="4377587" y="2112980"/>
            <a:ext cx="4418573" cy="2068325"/>
          </a:xfrm>
          <a:prstGeom prst="rect">
            <a:avLst/>
          </a:prstGeom>
          <a:solidFill>
            <a:srgbClr val="FFFFFF"/>
          </a:solidFill>
          <a:ln w="12700">
            <a:solidFill>
              <a:srgbClr val="CBD5E1"/>
            </a:solidFill>
            <a:prstDash val="solid"/>
          </a:ln>
        </p:spPr>
        <p:txBody>
          <a:bodyPr/>
          <a:lstStyle/>
          <a:p>
            <a:r>
              <a:rPr lang="de-DE" dirty="0"/>
              <a:t> </a:t>
            </a:r>
          </a:p>
        </p:txBody>
      </p:sp>
      <p:sp>
        <p:nvSpPr>
          <p:cNvPr id="59" name="Text 11">
            <a:extLst>
              <a:ext uri="{FF2B5EF4-FFF2-40B4-BE49-F238E27FC236}">
                <a16:creationId xmlns:a16="http://schemas.microsoft.com/office/drawing/2014/main" id="{D4830C37-FEBF-4870-A0C2-6EEAB70880ED}"/>
              </a:ext>
            </a:extLst>
          </p:cNvPr>
          <p:cNvSpPr/>
          <p:nvPr/>
        </p:nvSpPr>
        <p:spPr>
          <a:xfrm>
            <a:off x="4545963" y="2198990"/>
            <a:ext cx="3507033" cy="243040"/>
          </a:xfrm>
          <a:prstGeom prst="rect">
            <a:avLst/>
          </a:prstGeom>
          <a:noFill/>
          <a:ln/>
        </p:spPr>
        <p:txBody>
          <a:bodyPr wrap="square" lIns="0" tIns="0" rIns="0" bIns="0" rtlCol="0" anchor="ctr"/>
          <a:lstStyle/>
          <a:p>
            <a:pPr marL="0" indent="0">
              <a:buNone/>
            </a:pPr>
            <a:r>
              <a:rPr lang="en-US" sz="1500" b="1" dirty="0">
                <a:solidFill>
                  <a:srgbClr val="0F172A"/>
                </a:solidFill>
                <a:latin typeface="Cambria" pitchFamily="34" charset="0"/>
                <a:ea typeface="Cambria" pitchFamily="34" charset="-122"/>
              </a:rPr>
              <a:t>Attention</a:t>
            </a:r>
          </a:p>
        </p:txBody>
      </p:sp>
      <p:sp>
        <p:nvSpPr>
          <p:cNvPr id="60" name="Text 12">
            <a:extLst>
              <a:ext uri="{FF2B5EF4-FFF2-40B4-BE49-F238E27FC236}">
                <a16:creationId xmlns:a16="http://schemas.microsoft.com/office/drawing/2014/main" id="{87872CB0-5561-462D-A375-FDBB20670448}"/>
              </a:ext>
            </a:extLst>
          </p:cNvPr>
          <p:cNvSpPr/>
          <p:nvPr/>
        </p:nvSpPr>
        <p:spPr>
          <a:xfrm>
            <a:off x="4545963" y="2507343"/>
            <a:ext cx="2839213" cy="442724"/>
          </a:xfrm>
          <a:prstGeom prst="rect">
            <a:avLst/>
          </a:prstGeom>
          <a:noFill/>
          <a:ln/>
        </p:spPr>
        <p:txBody>
          <a:bodyPr wrap="square" lIns="0" tIns="0" rIns="0" bIns="0" rtlCol="0" anchor="ctr"/>
          <a:lstStyle/>
          <a:p>
            <a:pPr marL="0" indent="0">
              <a:lnSpc>
                <a:spcPct val="130000"/>
              </a:lnSpc>
              <a:buNone/>
            </a:pPr>
            <a:endParaRPr lang="en-US" sz="1500" b="1" dirty="0">
              <a:solidFill>
                <a:srgbClr val="0F172A"/>
              </a:solidFill>
              <a:latin typeface="Cambria" pitchFamily="34" charset="0"/>
              <a:ea typeface="Cambria" pitchFamily="34" charset="-122"/>
            </a:endParaRPr>
          </a:p>
          <a:p>
            <a:pPr marL="0" indent="0">
              <a:lnSpc>
                <a:spcPts val="1500"/>
              </a:lnSpc>
              <a:buNone/>
            </a:pPr>
            <a:r>
              <a:rPr lang="en-US" sz="1200" dirty="0" err="1">
                <a:solidFill>
                  <a:srgbClr val="475569"/>
                </a:solidFill>
                <a:latin typeface="Calibri" pitchFamily="34" charset="0"/>
                <a:ea typeface="Calibri" pitchFamily="34" charset="-122"/>
                <a:cs typeface="Calibri" pitchFamily="34" charset="-120"/>
              </a:rPr>
              <a:t>Durch</a:t>
            </a:r>
            <a:r>
              <a:rPr lang="en-US" sz="1200" dirty="0">
                <a:solidFill>
                  <a:srgbClr val="475569"/>
                </a:solidFill>
                <a:latin typeface="Calibri" pitchFamily="34" charset="0"/>
                <a:ea typeface="Calibri" pitchFamily="34" charset="-122"/>
                <a:cs typeface="Calibri" pitchFamily="34" charset="-120"/>
              </a:rPr>
              <a:t> Attention </a:t>
            </a:r>
            <a:r>
              <a:rPr lang="en-US" sz="1200" dirty="0" err="1">
                <a:solidFill>
                  <a:srgbClr val="475569"/>
                </a:solidFill>
                <a:latin typeface="Calibri" pitchFamily="34" charset="0"/>
                <a:ea typeface="Calibri" pitchFamily="34" charset="-122"/>
                <a:cs typeface="Calibri" pitchFamily="34" charset="-120"/>
              </a:rPr>
              <a:t>lernen</a:t>
            </a:r>
            <a:r>
              <a:rPr lang="en-US" sz="1200" dirty="0">
                <a:solidFill>
                  <a:srgbClr val="475569"/>
                </a:solidFill>
                <a:latin typeface="Calibri" pitchFamily="34" charset="0"/>
                <a:ea typeface="Calibri" pitchFamily="34" charset="-122"/>
                <a:cs typeface="Calibri" pitchFamily="34" charset="-120"/>
              </a:rPr>
              <a:t> </a:t>
            </a:r>
            <a:r>
              <a:rPr lang="en-US" sz="1200" dirty="0" err="1">
                <a:solidFill>
                  <a:srgbClr val="475569"/>
                </a:solidFill>
                <a:latin typeface="Calibri" pitchFamily="34" charset="0"/>
                <a:ea typeface="Calibri" pitchFamily="34" charset="-122"/>
                <a:cs typeface="Calibri" pitchFamily="34" charset="-120"/>
              </a:rPr>
              <a:t>Modelle</a:t>
            </a:r>
            <a:r>
              <a:rPr lang="en-US" sz="1200" dirty="0">
                <a:solidFill>
                  <a:srgbClr val="475569"/>
                </a:solidFill>
                <a:latin typeface="Calibri" pitchFamily="34" charset="0"/>
                <a:ea typeface="Calibri" pitchFamily="34" charset="-122"/>
                <a:cs typeface="Calibri" pitchFamily="34" charset="-120"/>
              </a:rPr>
              <a:t>, </a:t>
            </a:r>
            <a:r>
              <a:rPr lang="en-US" sz="1200" dirty="0" err="1">
                <a:solidFill>
                  <a:srgbClr val="475569"/>
                </a:solidFill>
                <a:latin typeface="Calibri" pitchFamily="34" charset="0"/>
                <a:ea typeface="Calibri" pitchFamily="34" charset="-122"/>
                <a:cs typeface="Calibri" pitchFamily="34" charset="-120"/>
              </a:rPr>
              <a:t>wie</a:t>
            </a:r>
            <a:r>
              <a:rPr lang="en-US" sz="1200" dirty="0">
                <a:solidFill>
                  <a:srgbClr val="475569"/>
                </a:solidFill>
                <a:latin typeface="Calibri" pitchFamily="34" charset="0"/>
                <a:ea typeface="Calibri" pitchFamily="34" charset="-122"/>
                <a:cs typeface="Calibri" pitchFamily="34" charset="-120"/>
              </a:rPr>
              <a:t> </a:t>
            </a:r>
            <a:r>
              <a:rPr lang="en-US" sz="1200" dirty="0" err="1">
                <a:solidFill>
                  <a:srgbClr val="475569"/>
                </a:solidFill>
                <a:latin typeface="Calibri" pitchFamily="34" charset="0"/>
                <a:ea typeface="Calibri" pitchFamily="34" charset="-122"/>
                <a:cs typeface="Calibri" pitchFamily="34" charset="-120"/>
              </a:rPr>
              <a:t>Wörter</a:t>
            </a:r>
            <a:r>
              <a:rPr lang="en-US" sz="1200" dirty="0">
                <a:solidFill>
                  <a:srgbClr val="475569"/>
                </a:solidFill>
                <a:latin typeface="Calibri" pitchFamily="34" charset="0"/>
                <a:ea typeface="Calibri" pitchFamily="34" charset="-122"/>
                <a:cs typeface="Calibri" pitchFamily="34" charset="-120"/>
              </a:rPr>
              <a:t> </a:t>
            </a:r>
            <a:r>
              <a:rPr lang="en-US" sz="1200" dirty="0" err="1">
                <a:solidFill>
                  <a:srgbClr val="475569"/>
                </a:solidFill>
                <a:latin typeface="Calibri" pitchFamily="34" charset="0"/>
                <a:ea typeface="Calibri" pitchFamily="34" charset="-122"/>
                <a:cs typeface="Calibri" pitchFamily="34" charset="-120"/>
              </a:rPr>
              <a:t>sich</a:t>
            </a:r>
            <a:r>
              <a:rPr lang="en-US" sz="1200" dirty="0">
                <a:solidFill>
                  <a:srgbClr val="475569"/>
                </a:solidFill>
                <a:latin typeface="Calibri" pitchFamily="34" charset="0"/>
                <a:ea typeface="Calibri" pitchFamily="34" charset="-122"/>
                <a:cs typeface="Calibri" pitchFamily="34" charset="-120"/>
              </a:rPr>
              <a:t> </a:t>
            </a:r>
            <a:r>
              <a:rPr lang="en-US" sz="1200" dirty="0" err="1">
                <a:solidFill>
                  <a:srgbClr val="475569"/>
                </a:solidFill>
                <a:latin typeface="Calibri" pitchFamily="34" charset="0"/>
                <a:ea typeface="Calibri" pitchFamily="34" charset="-122"/>
                <a:cs typeface="Calibri" pitchFamily="34" charset="-120"/>
              </a:rPr>
              <a:t>gegenseitig</a:t>
            </a:r>
            <a:r>
              <a:rPr lang="en-US" sz="1200" dirty="0">
                <a:solidFill>
                  <a:srgbClr val="475569"/>
                </a:solidFill>
                <a:latin typeface="Calibri" pitchFamily="34" charset="0"/>
                <a:ea typeface="Calibri" pitchFamily="34" charset="-122"/>
                <a:cs typeface="Calibri" pitchFamily="34" charset="-120"/>
              </a:rPr>
              <a:t> </a:t>
            </a:r>
            <a:r>
              <a:rPr lang="en-US" sz="1200" dirty="0" err="1">
                <a:solidFill>
                  <a:srgbClr val="475569"/>
                </a:solidFill>
                <a:latin typeface="Calibri" pitchFamily="34" charset="0"/>
                <a:ea typeface="Calibri" pitchFamily="34" charset="-122"/>
                <a:cs typeface="Calibri" pitchFamily="34" charset="-120"/>
              </a:rPr>
              <a:t>beeinflussen</a:t>
            </a:r>
            <a:r>
              <a:rPr lang="en-US" sz="800" dirty="0">
                <a:solidFill>
                  <a:schemeClr val="bg1">
                    <a:lumMod val="65000"/>
                  </a:schemeClr>
                </a:solidFill>
                <a:latin typeface="Calibri" pitchFamily="34" charset="0"/>
                <a:ea typeface="Calibri" pitchFamily="34" charset="-122"/>
                <a:cs typeface="Calibri" pitchFamily="34" charset="-120"/>
              </a:rPr>
              <a:t>. [Q3][Q16]</a:t>
            </a:r>
            <a:br>
              <a:rPr lang="en-US" sz="800" dirty="0">
                <a:solidFill>
                  <a:schemeClr val="bg1">
                    <a:lumMod val="65000"/>
                  </a:schemeClr>
                </a:solidFill>
                <a:latin typeface="Calibri" pitchFamily="34" charset="0"/>
                <a:ea typeface="Calibri" pitchFamily="34" charset="-122"/>
                <a:cs typeface="Calibri" pitchFamily="34" charset="-120"/>
              </a:rPr>
            </a:br>
            <a:endParaRPr lang="en-US" sz="800" dirty="0">
              <a:solidFill>
                <a:schemeClr val="bg1">
                  <a:lumMod val="65000"/>
                </a:schemeClr>
              </a:solidFill>
              <a:latin typeface="Calibri" pitchFamily="34" charset="0"/>
              <a:ea typeface="Calibri" pitchFamily="34" charset="-122"/>
              <a:cs typeface="Calibri" pitchFamily="34" charset="-120"/>
            </a:endParaRPr>
          </a:p>
        </p:txBody>
      </p:sp>
      <p:sp>
        <p:nvSpPr>
          <p:cNvPr id="61" name="Shape 8">
            <a:extLst>
              <a:ext uri="{FF2B5EF4-FFF2-40B4-BE49-F238E27FC236}">
                <a16:creationId xmlns:a16="http://schemas.microsoft.com/office/drawing/2014/main" id="{705FBD2F-AF29-4CDC-BB3E-5EDC7B7A2645}"/>
              </a:ext>
            </a:extLst>
          </p:cNvPr>
          <p:cNvSpPr/>
          <p:nvPr/>
        </p:nvSpPr>
        <p:spPr>
          <a:xfrm>
            <a:off x="4545963" y="3165992"/>
            <a:ext cx="2633730" cy="303928"/>
          </a:xfrm>
          <a:prstGeom prst="rect">
            <a:avLst/>
          </a:prstGeom>
          <a:solidFill>
            <a:srgbClr val="FFFFFF"/>
          </a:solidFill>
          <a:ln w="12700">
            <a:solidFill>
              <a:srgbClr val="CBD5E1"/>
            </a:solidFill>
            <a:prstDash val="solid"/>
          </a:ln>
        </p:spPr>
        <p:txBody>
          <a:bodyPr/>
          <a:lstStyle/>
          <a:p>
            <a:pPr>
              <a:lnSpc>
                <a:spcPts val="1700"/>
              </a:lnSpc>
            </a:pPr>
            <a:r>
              <a:rPr lang="de-DE" sz="1600" dirty="0"/>
              <a:t> </a:t>
            </a:r>
            <a:r>
              <a:rPr lang="de-DE" dirty="0"/>
              <a:t> 		</a:t>
            </a:r>
          </a:p>
        </p:txBody>
      </p:sp>
      <p:sp>
        <p:nvSpPr>
          <p:cNvPr id="62" name="Text 12">
            <a:extLst>
              <a:ext uri="{FF2B5EF4-FFF2-40B4-BE49-F238E27FC236}">
                <a16:creationId xmlns:a16="http://schemas.microsoft.com/office/drawing/2014/main" id="{01D84653-500B-438C-8A87-559E716BB047}"/>
              </a:ext>
            </a:extLst>
          </p:cNvPr>
          <p:cNvSpPr/>
          <p:nvPr/>
        </p:nvSpPr>
        <p:spPr>
          <a:xfrm>
            <a:off x="4519254" y="3390623"/>
            <a:ext cx="4086468" cy="419849"/>
          </a:xfrm>
          <a:prstGeom prst="rect">
            <a:avLst/>
          </a:prstGeom>
          <a:noFill/>
          <a:ln/>
        </p:spPr>
        <p:txBody>
          <a:bodyPr wrap="square" lIns="0" tIns="0" rIns="0" bIns="0" rtlCol="0" anchor="ctr"/>
          <a:lstStyle/>
          <a:p>
            <a:pPr marL="0" indent="0">
              <a:lnSpc>
                <a:spcPct val="130000"/>
              </a:lnSpc>
              <a:buNone/>
            </a:pPr>
            <a:endParaRPr lang="en-US" sz="1200" dirty="0"/>
          </a:p>
        </p:txBody>
      </p:sp>
      <p:sp>
        <p:nvSpPr>
          <p:cNvPr id="65" name="Textfeld 64">
            <a:extLst>
              <a:ext uri="{FF2B5EF4-FFF2-40B4-BE49-F238E27FC236}">
                <a16:creationId xmlns:a16="http://schemas.microsoft.com/office/drawing/2014/main" id="{6C0B1A6D-3553-4522-99CA-6E696757F357}"/>
              </a:ext>
            </a:extLst>
          </p:cNvPr>
          <p:cNvSpPr txBox="1"/>
          <p:nvPr/>
        </p:nvSpPr>
        <p:spPr>
          <a:xfrm>
            <a:off x="4449796" y="3600547"/>
            <a:ext cx="2792400" cy="461665"/>
          </a:xfrm>
          <a:prstGeom prst="rect">
            <a:avLst/>
          </a:prstGeom>
          <a:noFill/>
        </p:spPr>
        <p:txBody>
          <a:bodyPr wrap="square" rtlCol="0">
            <a:spAutoFit/>
          </a:bodyPr>
          <a:lstStyle/>
          <a:p>
            <a:r>
              <a:rPr lang="en-US" sz="1200" i="1" dirty="0">
                <a:solidFill>
                  <a:srgbClr val="475569"/>
                </a:solidFill>
                <a:latin typeface="Calibri" pitchFamily="34" charset="0"/>
                <a:ea typeface="Calibri" pitchFamily="34" charset="-122"/>
                <a:cs typeface="Calibri" pitchFamily="34" charset="-120"/>
              </a:rPr>
              <a:t>→ </a:t>
            </a:r>
            <a:r>
              <a:rPr lang="en-US" sz="1200" i="1" dirty="0" err="1">
                <a:solidFill>
                  <a:srgbClr val="475569"/>
                </a:solidFill>
                <a:latin typeface="Calibri" pitchFamily="34" charset="0"/>
                <a:ea typeface="Calibri" pitchFamily="34" charset="-122"/>
                <a:cs typeface="Calibri" pitchFamily="34" charset="-120"/>
              </a:rPr>
              <a:t>Dadurch</a:t>
            </a:r>
            <a:r>
              <a:rPr lang="en-US" sz="1200" i="1" dirty="0">
                <a:solidFill>
                  <a:srgbClr val="475569"/>
                </a:solidFill>
                <a:latin typeface="Calibri" pitchFamily="34" charset="0"/>
                <a:ea typeface="Calibri" pitchFamily="34" charset="-122"/>
                <a:cs typeface="Calibri" pitchFamily="34" charset="-120"/>
              </a:rPr>
              <a:t> </a:t>
            </a:r>
            <a:r>
              <a:rPr lang="en-US" sz="1200" i="1" dirty="0" err="1">
                <a:solidFill>
                  <a:srgbClr val="475569"/>
                </a:solidFill>
                <a:latin typeface="Calibri" pitchFamily="34" charset="0"/>
                <a:ea typeface="Calibri" pitchFamily="34" charset="-122"/>
                <a:cs typeface="Calibri" pitchFamily="34" charset="-120"/>
              </a:rPr>
              <a:t>werden</a:t>
            </a:r>
            <a:r>
              <a:rPr lang="en-US" sz="1200" i="1" dirty="0">
                <a:solidFill>
                  <a:srgbClr val="475569"/>
                </a:solidFill>
                <a:latin typeface="Calibri" pitchFamily="34" charset="0"/>
                <a:ea typeface="Calibri" pitchFamily="34" charset="-122"/>
                <a:cs typeface="Calibri" pitchFamily="34" charset="-120"/>
              </a:rPr>
              <a:t> </a:t>
            </a:r>
            <a:r>
              <a:rPr lang="en-US" sz="1200" i="1" dirty="0" err="1">
                <a:solidFill>
                  <a:srgbClr val="475569"/>
                </a:solidFill>
                <a:latin typeface="Calibri" pitchFamily="34" charset="0"/>
                <a:ea typeface="Calibri" pitchFamily="34" charset="-122"/>
                <a:cs typeface="Calibri" pitchFamily="34" charset="-120"/>
              </a:rPr>
              <a:t>Wörter</a:t>
            </a:r>
            <a:r>
              <a:rPr lang="en-US" sz="1200" i="1" dirty="0">
                <a:solidFill>
                  <a:srgbClr val="475569"/>
                </a:solidFill>
                <a:latin typeface="Calibri" pitchFamily="34" charset="0"/>
                <a:ea typeface="Calibri" pitchFamily="34" charset="-122"/>
                <a:cs typeface="Calibri" pitchFamily="34" charset="-120"/>
              </a:rPr>
              <a:t> </a:t>
            </a:r>
            <a:r>
              <a:rPr lang="en-US" sz="1200" i="1" dirty="0" err="1">
                <a:solidFill>
                  <a:srgbClr val="475569"/>
                </a:solidFill>
                <a:latin typeface="Calibri" pitchFamily="34" charset="0"/>
                <a:ea typeface="Calibri" pitchFamily="34" charset="-122"/>
                <a:cs typeface="Calibri" pitchFamily="34" charset="-120"/>
              </a:rPr>
              <a:t>abhängig</a:t>
            </a:r>
            <a:r>
              <a:rPr lang="en-US" sz="1200" i="1" dirty="0">
                <a:solidFill>
                  <a:srgbClr val="475569"/>
                </a:solidFill>
                <a:latin typeface="Calibri" pitchFamily="34" charset="0"/>
                <a:ea typeface="Calibri" pitchFamily="34" charset="-122"/>
                <a:cs typeface="Calibri" pitchFamily="34" charset="-120"/>
              </a:rPr>
              <a:t> von </a:t>
            </a:r>
            <a:r>
              <a:rPr lang="en-US" sz="1200" i="1" dirty="0" err="1">
                <a:solidFill>
                  <a:srgbClr val="475569"/>
                </a:solidFill>
                <a:latin typeface="Calibri" pitchFamily="34" charset="0"/>
                <a:ea typeface="Calibri" pitchFamily="34" charset="-122"/>
                <a:cs typeface="Calibri" pitchFamily="34" charset="-120"/>
              </a:rPr>
              <a:t>ihrer</a:t>
            </a:r>
            <a:r>
              <a:rPr lang="en-US" sz="1200" i="1" dirty="0">
                <a:solidFill>
                  <a:srgbClr val="475569"/>
                </a:solidFill>
                <a:latin typeface="Calibri" pitchFamily="34" charset="0"/>
                <a:ea typeface="Calibri" pitchFamily="34" charset="-122"/>
                <a:cs typeface="Calibri" pitchFamily="34" charset="-120"/>
              </a:rPr>
              <a:t> </a:t>
            </a:r>
            <a:r>
              <a:rPr lang="en-US" sz="1200" i="1" dirty="0" err="1">
                <a:solidFill>
                  <a:srgbClr val="475569"/>
                </a:solidFill>
                <a:latin typeface="Calibri" pitchFamily="34" charset="0"/>
                <a:ea typeface="Calibri" pitchFamily="34" charset="-122"/>
                <a:cs typeface="Calibri" pitchFamily="34" charset="-120"/>
              </a:rPr>
              <a:t>Umgebung</a:t>
            </a:r>
            <a:r>
              <a:rPr lang="en-US" sz="1200" i="1" dirty="0">
                <a:solidFill>
                  <a:srgbClr val="475569"/>
                </a:solidFill>
                <a:latin typeface="Calibri" pitchFamily="34" charset="0"/>
                <a:ea typeface="Calibri" pitchFamily="34" charset="-122"/>
                <a:cs typeface="Calibri" pitchFamily="34" charset="-120"/>
              </a:rPr>
              <a:t> </a:t>
            </a:r>
            <a:r>
              <a:rPr lang="en-US" sz="1200" i="1" dirty="0" err="1">
                <a:solidFill>
                  <a:srgbClr val="475569"/>
                </a:solidFill>
                <a:latin typeface="Calibri" pitchFamily="34" charset="0"/>
                <a:ea typeface="Calibri" pitchFamily="34" charset="-122"/>
                <a:cs typeface="Calibri" pitchFamily="34" charset="-120"/>
              </a:rPr>
              <a:t>unterschiedlich</a:t>
            </a:r>
            <a:r>
              <a:rPr lang="en-US" sz="1200" i="1" dirty="0">
                <a:solidFill>
                  <a:srgbClr val="475569"/>
                </a:solidFill>
                <a:latin typeface="Calibri" pitchFamily="34" charset="0"/>
                <a:ea typeface="Calibri" pitchFamily="34" charset="-122"/>
                <a:cs typeface="Calibri" pitchFamily="34" charset="-120"/>
              </a:rPr>
              <a:t> </a:t>
            </a:r>
            <a:r>
              <a:rPr lang="en-US" sz="1200" i="1" dirty="0" err="1">
                <a:solidFill>
                  <a:srgbClr val="475569"/>
                </a:solidFill>
                <a:latin typeface="Calibri" pitchFamily="34" charset="0"/>
                <a:ea typeface="Calibri" pitchFamily="34" charset="-122"/>
                <a:cs typeface="Calibri" pitchFamily="34" charset="-120"/>
              </a:rPr>
              <a:t>gewichtet</a:t>
            </a:r>
            <a:endParaRPr lang="de-DE" sz="1200" i="1" dirty="0">
              <a:solidFill>
                <a:srgbClr val="475569"/>
              </a:solidFill>
              <a:latin typeface="Calibri" pitchFamily="34" charset="0"/>
              <a:ea typeface="Calibri" pitchFamily="34" charset="-122"/>
              <a:cs typeface="Calibri" pitchFamily="34" charset="-120"/>
            </a:endParaRPr>
          </a:p>
        </p:txBody>
      </p:sp>
      <p:sp>
        <p:nvSpPr>
          <p:cNvPr id="8" name="Rechteck 7">
            <a:extLst>
              <a:ext uri="{FF2B5EF4-FFF2-40B4-BE49-F238E27FC236}">
                <a16:creationId xmlns:a16="http://schemas.microsoft.com/office/drawing/2014/main" id="{587C7B56-BFF3-44C2-B18F-DC415A631EEE}"/>
              </a:ext>
            </a:extLst>
          </p:cNvPr>
          <p:cNvSpPr/>
          <p:nvPr/>
        </p:nvSpPr>
        <p:spPr>
          <a:xfrm>
            <a:off x="4603157" y="3202233"/>
            <a:ext cx="1581533" cy="232037"/>
          </a:xfrm>
          <a:prstGeom prst="rect">
            <a:avLst/>
          </a:prstGeom>
          <a:solidFill>
            <a:srgbClr val="FA410E">
              <a:alpha val="27843"/>
            </a:srgb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66" name="Rechteck 65">
            <a:extLst>
              <a:ext uri="{FF2B5EF4-FFF2-40B4-BE49-F238E27FC236}">
                <a16:creationId xmlns:a16="http://schemas.microsoft.com/office/drawing/2014/main" id="{8DC7F2BC-C777-4AC1-BBF5-2E5C31DC0C2F}"/>
              </a:ext>
            </a:extLst>
          </p:cNvPr>
          <p:cNvSpPr/>
          <p:nvPr/>
        </p:nvSpPr>
        <p:spPr>
          <a:xfrm>
            <a:off x="5465500" y="3202233"/>
            <a:ext cx="1652318" cy="232037"/>
          </a:xfrm>
          <a:prstGeom prst="rect">
            <a:avLst/>
          </a:prstGeom>
          <a:solidFill>
            <a:srgbClr val="2609FF">
              <a:alpha val="27451"/>
            </a:srgb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9" name="Textfeld 8">
            <a:extLst>
              <a:ext uri="{FF2B5EF4-FFF2-40B4-BE49-F238E27FC236}">
                <a16:creationId xmlns:a16="http://schemas.microsoft.com/office/drawing/2014/main" id="{E2BA7766-C0D5-4B96-ABFB-617CEE8A2068}"/>
              </a:ext>
            </a:extLst>
          </p:cNvPr>
          <p:cNvSpPr txBox="1"/>
          <p:nvPr/>
        </p:nvSpPr>
        <p:spPr>
          <a:xfrm>
            <a:off x="4720226" y="3176248"/>
            <a:ext cx="714054" cy="276999"/>
          </a:xfrm>
          <a:prstGeom prst="rect">
            <a:avLst/>
          </a:prstGeom>
          <a:noFill/>
        </p:spPr>
        <p:txBody>
          <a:bodyPr wrap="square" rtlCol="0">
            <a:spAutoFit/>
          </a:bodyPr>
          <a:lstStyle/>
          <a:p>
            <a:r>
              <a:rPr lang="de-DE" sz="1200" dirty="0"/>
              <a:t>Prince</a:t>
            </a:r>
          </a:p>
        </p:txBody>
      </p:sp>
      <p:sp>
        <p:nvSpPr>
          <p:cNvPr id="67" name="Textfeld 66">
            <a:extLst>
              <a:ext uri="{FF2B5EF4-FFF2-40B4-BE49-F238E27FC236}">
                <a16:creationId xmlns:a16="http://schemas.microsoft.com/office/drawing/2014/main" id="{140EB860-AF8B-4FA3-8C19-964EDB7BE537}"/>
              </a:ext>
            </a:extLst>
          </p:cNvPr>
          <p:cNvSpPr txBox="1"/>
          <p:nvPr/>
        </p:nvSpPr>
        <p:spPr>
          <a:xfrm>
            <a:off x="5551349" y="3170187"/>
            <a:ext cx="714054" cy="276999"/>
          </a:xfrm>
          <a:prstGeom prst="rect">
            <a:avLst/>
          </a:prstGeom>
          <a:noFill/>
        </p:spPr>
        <p:txBody>
          <a:bodyPr wrap="square" rtlCol="0">
            <a:spAutoFit/>
          </a:bodyPr>
          <a:lstStyle/>
          <a:p>
            <a:r>
              <a:rPr lang="de-DE" sz="1200" dirty="0"/>
              <a:t>Harry</a:t>
            </a:r>
          </a:p>
        </p:txBody>
      </p:sp>
      <p:sp>
        <p:nvSpPr>
          <p:cNvPr id="68" name="Textfeld 67">
            <a:extLst>
              <a:ext uri="{FF2B5EF4-FFF2-40B4-BE49-F238E27FC236}">
                <a16:creationId xmlns:a16="http://schemas.microsoft.com/office/drawing/2014/main" id="{B2BEBF15-22C0-4F24-83BC-722DA37B7554}"/>
              </a:ext>
            </a:extLst>
          </p:cNvPr>
          <p:cNvSpPr txBox="1"/>
          <p:nvPr/>
        </p:nvSpPr>
        <p:spPr>
          <a:xfrm>
            <a:off x="6346194" y="3171620"/>
            <a:ext cx="714054" cy="276999"/>
          </a:xfrm>
          <a:prstGeom prst="rect">
            <a:avLst/>
          </a:prstGeom>
          <a:noFill/>
        </p:spPr>
        <p:txBody>
          <a:bodyPr wrap="square" rtlCol="0">
            <a:spAutoFit/>
          </a:bodyPr>
          <a:lstStyle/>
          <a:p>
            <a:r>
              <a:rPr lang="de-DE" sz="1200" dirty="0"/>
              <a:t>Potter</a:t>
            </a:r>
          </a:p>
        </p:txBody>
      </p:sp>
      <p:cxnSp>
        <p:nvCxnSpPr>
          <p:cNvPr id="11" name="Gerader Verbinder 10">
            <a:extLst>
              <a:ext uri="{FF2B5EF4-FFF2-40B4-BE49-F238E27FC236}">
                <a16:creationId xmlns:a16="http://schemas.microsoft.com/office/drawing/2014/main" id="{B4934FF8-151A-4CAA-AD33-75F93A86EF40}"/>
              </a:ext>
            </a:extLst>
          </p:cNvPr>
          <p:cNvCxnSpPr>
            <a:cxnSpLocks/>
          </p:cNvCxnSpPr>
          <p:nvPr/>
        </p:nvCxnSpPr>
        <p:spPr>
          <a:xfrm>
            <a:off x="8035645" y="2874405"/>
            <a:ext cx="0" cy="576017"/>
          </a:xfrm>
          <a:prstGeom prst="line">
            <a:avLst/>
          </a:prstGeom>
          <a:ln>
            <a:solidFill>
              <a:srgbClr val="E2E8F0"/>
            </a:solidFill>
          </a:ln>
        </p:spPr>
        <p:style>
          <a:lnRef idx="1">
            <a:schemeClr val="accent1"/>
          </a:lnRef>
          <a:fillRef idx="0">
            <a:schemeClr val="accent1"/>
          </a:fillRef>
          <a:effectRef idx="0">
            <a:schemeClr val="accent1"/>
          </a:effectRef>
          <a:fontRef idx="minor">
            <a:schemeClr val="tx1"/>
          </a:fontRef>
        </p:style>
      </p:cxnSp>
      <p:cxnSp>
        <p:nvCxnSpPr>
          <p:cNvPr id="69" name="Gerader Verbinder 68">
            <a:extLst>
              <a:ext uri="{FF2B5EF4-FFF2-40B4-BE49-F238E27FC236}">
                <a16:creationId xmlns:a16="http://schemas.microsoft.com/office/drawing/2014/main" id="{79D88E48-73D9-4455-8BF7-C485E0793DB3}"/>
              </a:ext>
            </a:extLst>
          </p:cNvPr>
          <p:cNvCxnSpPr>
            <a:cxnSpLocks/>
          </p:cNvCxnSpPr>
          <p:nvPr/>
        </p:nvCxnSpPr>
        <p:spPr>
          <a:xfrm flipH="1">
            <a:off x="7597281" y="3449019"/>
            <a:ext cx="952072" cy="0"/>
          </a:xfrm>
          <a:prstGeom prst="line">
            <a:avLst/>
          </a:prstGeom>
          <a:ln>
            <a:solidFill>
              <a:srgbClr val="E2E8F0"/>
            </a:solidFill>
          </a:ln>
        </p:spPr>
        <p:style>
          <a:lnRef idx="1">
            <a:schemeClr val="accent1"/>
          </a:lnRef>
          <a:fillRef idx="0">
            <a:schemeClr val="accent1"/>
          </a:fillRef>
          <a:effectRef idx="0">
            <a:schemeClr val="accent1"/>
          </a:effectRef>
          <a:fontRef idx="minor">
            <a:schemeClr val="tx1"/>
          </a:fontRef>
        </p:style>
      </p:cxnSp>
      <p:cxnSp>
        <p:nvCxnSpPr>
          <p:cNvPr id="16" name="Gerade Verbindung mit Pfeil 15">
            <a:extLst>
              <a:ext uri="{FF2B5EF4-FFF2-40B4-BE49-F238E27FC236}">
                <a16:creationId xmlns:a16="http://schemas.microsoft.com/office/drawing/2014/main" id="{C3D6946B-D80A-4BF7-B860-3EE981F1CE08}"/>
              </a:ext>
            </a:extLst>
          </p:cNvPr>
          <p:cNvCxnSpPr/>
          <p:nvPr/>
        </p:nvCxnSpPr>
        <p:spPr>
          <a:xfrm flipV="1">
            <a:off x="8035645" y="3163167"/>
            <a:ext cx="431515" cy="2858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Gerade Verbindung mit Pfeil 17">
            <a:extLst>
              <a:ext uri="{FF2B5EF4-FFF2-40B4-BE49-F238E27FC236}">
                <a16:creationId xmlns:a16="http://schemas.microsoft.com/office/drawing/2014/main" id="{614C8788-A698-4165-AFB9-811A9DE64FB2}"/>
              </a:ext>
            </a:extLst>
          </p:cNvPr>
          <p:cNvCxnSpPr/>
          <p:nvPr/>
        </p:nvCxnSpPr>
        <p:spPr>
          <a:xfrm flipH="1" flipV="1">
            <a:off x="7794202" y="3225978"/>
            <a:ext cx="241443" cy="223041"/>
          </a:xfrm>
          <a:prstGeom prst="straightConnector1">
            <a:avLst/>
          </a:prstGeom>
          <a:ln>
            <a:solidFill>
              <a:srgbClr val="FA410E"/>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062982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67E8333-A12F-461B-8F36-964EF2A4A284}"/>
              </a:ext>
            </a:extLst>
          </p:cNvPr>
          <p:cNvSpPr>
            <a:spLocks noGrp="1"/>
          </p:cNvSpPr>
          <p:nvPr>
            <p:ph type="title"/>
          </p:nvPr>
        </p:nvSpPr>
        <p:spPr>
          <a:xfrm>
            <a:off x="326356" y="382496"/>
            <a:ext cx="5670527" cy="359255"/>
          </a:xfrm>
        </p:spPr>
        <p:txBody>
          <a:bodyPr>
            <a:normAutofit fontScale="90000"/>
          </a:bodyPr>
          <a:lstStyle/>
          <a:p>
            <a:pPr marL="0" indent="0">
              <a:buNone/>
            </a:pPr>
            <a:r>
              <a:rPr lang="en-US" sz="3200" b="1" dirty="0" err="1">
                <a:solidFill>
                  <a:srgbClr val="0F172A"/>
                </a:solidFill>
                <a:latin typeface="Cambria" pitchFamily="34" charset="0"/>
                <a:ea typeface="Cambria" pitchFamily="34" charset="-122"/>
                <a:cs typeface="Cambria" pitchFamily="34" charset="-120"/>
              </a:rPr>
              <a:t>Bedeutung</a:t>
            </a:r>
            <a:r>
              <a:rPr lang="en-US" sz="3200" b="1" dirty="0">
                <a:solidFill>
                  <a:srgbClr val="0F172A"/>
                </a:solidFill>
                <a:latin typeface="Cambria" pitchFamily="34" charset="0"/>
                <a:ea typeface="Cambria" pitchFamily="34" charset="-122"/>
                <a:cs typeface="Cambria" pitchFamily="34" charset="-120"/>
              </a:rPr>
              <a:t> </a:t>
            </a:r>
            <a:r>
              <a:rPr lang="en-US" sz="3200" b="1" dirty="0" err="1">
                <a:solidFill>
                  <a:srgbClr val="0F172A"/>
                </a:solidFill>
                <a:latin typeface="Cambria" pitchFamily="34" charset="0"/>
                <a:ea typeface="Cambria" pitchFamily="34" charset="-122"/>
                <a:cs typeface="Cambria" pitchFamily="34" charset="-120"/>
              </a:rPr>
              <a:t>als</a:t>
            </a:r>
            <a:r>
              <a:rPr lang="en-US" sz="3200" b="1" dirty="0">
                <a:solidFill>
                  <a:srgbClr val="0F172A"/>
                </a:solidFill>
                <a:latin typeface="Cambria" pitchFamily="34" charset="0"/>
                <a:ea typeface="Cambria" pitchFamily="34" charset="-122"/>
                <a:cs typeface="Cambria" pitchFamily="34" charset="-120"/>
              </a:rPr>
              <a:t> </a:t>
            </a:r>
            <a:r>
              <a:rPr lang="en-US" sz="3200" b="1" dirty="0" err="1">
                <a:solidFill>
                  <a:srgbClr val="0F172A"/>
                </a:solidFill>
                <a:latin typeface="Cambria" pitchFamily="34" charset="0"/>
                <a:ea typeface="Cambria" pitchFamily="34" charset="-122"/>
                <a:cs typeface="Cambria" pitchFamily="34" charset="-120"/>
              </a:rPr>
              <a:t>Geometrie</a:t>
            </a:r>
            <a:endParaRPr lang="en-US" sz="3200" dirty="0"/>
          </a:p>
        </p:txBody>
      </p:sp>
      <p:sp>
        <p:nvSpPr>
          <p:cNvPr id="6" name="Rechteck 5">
            <a:extLst>
              <a:ext uri="{FF2B5EF4-FFF2-40B4-BE49-F238E27FC236}">
                <a16:creationId xmlns:a16="http://schemas.microsoft.com/office/drawing/2014/main" id="{9B1134CE-53FF-4066-B059-D6ACA70914F2}"/>
              </a:ext>
            </a:extLst>
          </p:cNvPr>
          <p:cNvSpPr/>
          <p:nvPr/>
        </p:nvSpPr>
        <p:spPr>
          <a:xfrm>
            <a:off x="452981" y="1083791"/>
            <a:ext cx="383507" cy="52083"/>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013"/>
          </a:p>
        </p:txBody>
      </p:sp>
      <p:sp>
        <p:nvSpPr>
          <p:cNvPr id="7" name="Titel 1">
            <a:extLst>
              <a:ext uri="{FF2B5EF4-FFF2-40B4-BE49-F238E27FC236}">
                <a16:creationId xmlns:a16="http://schemas.microsoft.com/office/drawing/2014/main" id="{8C89B5C6-61EC-420A-A7BF-D697C040511D}"/>
              </a:ext>
            </a:extLst>
          </p:cNvPr>
          <p:cNvSpPr txBox="1">
            <a:spLocks/>
          </p:cNvSpPr>
          <p:nvPr/>
        </p:nvSpPr>
        <p:spPr>
          <a:xfrm>
            <a:off x="366329" y="688385"/>
            <a:ext cx="4292206" cy="359255"/>
          </a:xfrm>
          <a:prstGeom prst="rect">
            <a:avLst/>
          </a:prstGeom>
        </p:spPr>
        <p:txBody>
          <a:bodyPr vert="horz" lIns="68580" tIns="34290" rIns="68580" bIns="3429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sz="1600" dirty="0" err="1">
                <a:solidFill>
                  <a:srgbClr val="0F172A"/>
                </a:solidFill>
                <a:latin typeface="Calibri Light" panose="020F0302020204030204" pitchFamily="34" charset="0"/>
                <a:ea typeface="Calibri Light" panose="020F0302020204030204" pitchFamily="34" charset="0"/>
                <a:cs typeface="Calibri Light" panose="020F0302020204030204" pitchFamily="34" charset="0"/>
              </a:rPr>
              <a:t>Verständnisbeipiel</a:t>
            </a:r>
            <a:endParaRPr lang="de-DE" sz="1500" dirty="0">
              <a:solidFill>
                <a:srgbClr val="0F172A"/>
              </a:solidFill>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76" name="Datumsplatzhalter 75">
            <a:extLst>
              <a:ext uri="{FF2B5EF4-FFF2-40B4-BE49-F238E27FC236}">
                <a16:creationId xmlns:a16="http://schemas.microsoft.com/office/drawing/2014/main" id="{FB534BCA-17DB-4EBE-9103-31EF5969BBD5}"/>
              </a:ext>
            </a:extLst>
          </p:cNvPr>
          <p:cNvSpPr>
            <a:spLocks noGrp="1"/>
          </p:cNvSpPr>
          <p:nvPr>
            <p:ph type="dt" sz="half" idx="10"/>
          </p:nvPr>
        </p:nvSpPr>
        <p:spPr>
          <a:xfrm>
            <a:off x="347840" y="4807006"/>
            <a:ext cx="2338210" cy="273844"/>
          </a:xfrm>
        </p:spPr>
        <p:txBody>
          <a:bodyPr/>
          <a:lstStyle/>
          <a:p>
            <a:fld id="{0D05602C-25EE-48A8-8786-3C51BA41DB9E}" type="datetime1">
              <a:rPr lang="de-DE"/>
              <a:t>04.05.2026</a:t>
            </a:fld>
            <a:endParaRPr lang="de-DE" dirty="0"/>
          </a:p>
        </p:txBody>
      </p:sp>
      <p:sp>
        <p:nvSpPr>
          <p:cNvPr id="77" name="Fußzeilenplatzhalter 76">
            <a:extLst>
              <a:ext uri="{FF2B5EF4-FFF2-40B4-BE49-F238E27FC236}">
                <a16:creationId xmlns:a16="http://schemas.microsoft.com/office/drawing/2014/main" id="{10A96F6C-9081-4668-9382-F92081EE73D0}"/>
              </a:ext>
            </a:extLst>
          </p:cNvPr>
          <p:cNvSpPr>
            <a:spLocks noGrp="1"/>
          </p:cNvSpPr>
          <p:nvPr>
            <p:ph type="ftr" sz="quarter" idx="11"/>
          </p:nvPr>
        </p:nvSpPr>
        <p:spPr>
          <a:xfrm>
            <a:off x="2686050" y="4807006"/>
            <a:ext cx="3812404" cy="273844"/>
          </a:xfrm>
        </p:spPr>
        <p:txBody>
          <a:bodyPr/>
          <a:lstStyle/>
          <a:p>
            <a:r>
              <a:rPr lang="de-DE" dirty="0"/>
              <a:t>Vektordatenbanken </a:t>
            </a:r>
            <a:r>
              <a:rPr lang="en-US" dirty="0"/>
              <a:t>· </a:t>
            </a:r>
            <a:r>
              <a:rPr lang="en-US" dirty="0" err="1"/>
              <a:t>Studienprojekt</a:t>
            </a:r>
            <a:r>
              <a:rPr lang="en-US" dirty="0"/>
              <a:t> Reverse Chatbots</a:t>
            </a:r>
            <a:endParaRPr lang="de-DE" dirty="0"/>
          </a:p>
        </p:txBody>
      </p:sp>
      <p:sp>
        <p:nvSpPr>
          <p:cNvPr id="78" name="Foliennummernplatzhalter 77">
            <a:extLst>
              <a:ext uri="{FF2B5EF4-FFF2-40B4-BE49-F238E27FC236}">
                <a16:creationId xmlns:a16="http://schemas.microsoft.com/office/drawing/2014/main" id="{2B507CAF-8A2B-4670-8A8F-519A0AECCF4A}"/>
              </a:ext>
            </a:extLst>
          </p:cNvPr>
          <p:cNvSpPr>
            <a:spLocks noGrp="1"/>
          </p:cNvSpPr>
          <p:nvPr>
            <p:ph type="sldNum" sz="quarter" idx="12"/>
          </p:nvPr>
        </p:nvSpPr>
        <p:spPr>
          <a:xfrm>
            <a:off x="6457950" y="4807006"/>
            <a:ext cx="2338210" cy="273844"/>
          </a:xfrm>
        </p:spPr>
        <p:txBody>
          <a:bodyPr/>
          <a:lstStyle/>
          <a:p>
            <a:fld id="{0E836345-B243-4000-8050-9A1A9D10D9C9}" type="slidenum">
              <a:rPr lang="de-DE" smtClean="0"/>
              <a:t>5</a:t>
            </a:fld>
            <a:r>
              <a:rPr lang="de-DE" dirty="0"/>
              <a:t> / 12</a:t>
            </a:r>
          </a:p>
        </p:txBody>
      </p:sp>
      <p:sp>
        <p:nvSpPr>
          <p:cNvPr id="25" name="Shape 3">
            <a:extLst>
              <a:ext uri="{FF2B5EF4-FFF2-40B4-BE49-F238E27FC236}">
                <a16:creationId xmlns:a16="http://schemas.microsoft.com/office/drawing/2014/main" id="{AA0DFC1A-6ECD-410E-B03B-D208CE641108}"/>
              </a:ext>
            </a:extLst>
          </p:cNvPr>
          <p:cNvSpPr/>
          <p:nvPr/>
        </p:nvSpPr>
        <p:spPr>
          <a:xfrm>
            <a:off x="452981" y="1480608"/>
            <a:ext cx="4114800" cy="2651760"/>
          </a:xfrm>
          <a:prstGeom prst="rect">
            <a:avLst/>
          </a:prstGeom>
          <a:solidFill>
            <a:srgbClr val="F1F5F9"/>
          </a:solidFill>
          <a:ln w="6350">
            <a:solidFill>
              <a:srgbClr val="E2E8F0"/>
            </a:solidFill>
            <a:prstDash val="solid"/>
          </a:ln>
        </p:spPr>
      </p:sp>
      <p:sp>
        <p:nvSpPr>
          <p:cNvPr id="26" name="Shape 4">
            <a:extLst>
              <a:ext uri="{FF2B5EF4-FFF2-40B4-BE49-F238E27FC236}">
                <a16:creationId xmlns:a16="http://schemas.microsoft.com/office/drawing/2014/main" id="{5DAEFDF5-1E7F-47F3-A7B4-861039744C2F}"/>
              </a:ext>
            </a:extLst>
          </p:cNvPr>
          <p:cNvSpPr/>
          <p:nvPr/>
        </p:nvSpPr>
        <p:spPr>
          <a:xfrm>
            <a:off x="822960" y="3703320"/>
            <a:ext cx="3383280" cy="0"/>
          </a:xfrm>
          <a:prstGeom prst="line">
            <a:avLst/>
          </a:prstGeom>
          <a:noFill/>
          <a:ln w="12700">
            <a:solidFill>
              <a:srgbClr val="CBD5E1"/>
            </a:solidFill>
            <a:prstDash val="solid"/>
          </a:ln>
        </p:spPr>
      </p:sp>
      <p:sp>
        <p:nvSpPr>
          <p:cNvPr id="27" name="Shape 5">
            <a:extLst>
              <a:ext uri="{FF2B5EF4-FFF2-40B4-BE49-F238E27FC236}">
                <a16:creationId xmlns:a16="http://schemas.microsoft.com/office/drawing/2014/main" id="{EDE09B65-867E-472B-9C66-AF59C640392D}"/>
              </a:ext>
            </a:extLst>
          </p:cNvPr>
          <p:cNvSpPr/>
          <p:nvPr/>
        </p:nvSpPr>
        <p:spPr>
          <a:xfrm>
            <a:off x="822960" y="1691640"/>
            <a:ext cx="0" cy="2011680"/>
          </a:xfrm>
          <a:prstGeom prst="line">
            <a:avLst/>
          </a:prstGeom>
          <a:noFill/>
          <a:ln w="12700">
            <a:solidFill>
              <a:srgbClr val="CBD5E1"/>
            </a:solidFill>
            <a:prstDash val="solid"/>
          </a:ln>
        </p:spPr>
      </p:sp>
      <p:sp>
        <p:nvSpPr>
          <p:cNvPr id="32" name="Shape 10">
            <a:extLst>
              <a:ext uri="{FF2B5EF4-FFF2-40B4-BE49-F238E27FC236}">
                <a16:creationId xmlns:a16="http://schemas.microsoft.com/office/drawing/2014/main" id="{5B28A907-3267-46BA-827A-1F392A12DEDA}"/>
              </a:ext>
            </a:extLst>
          </p:cNvPr>
          <p:cNvSpPr/>
          <p:nvPr/>
        </p:nvSpPr>
        <p:spPr>
          <a:xfrm>
            <a:off x="1413577" y="2082094"/>
            <a:ext cx="146304" cy="146304"/>
          </a:xfrm>
          <a:prstGeom prst="ellipse">
            <a:avLst/>
          </a:prstGeom>
          <a:solidFill>
            <a:srgbClr val="0F172A"/>
          </a:solidFill>
          <a:ln w="12700">
            <a:solidFill>
              <a:srgbClr val="0F172A"/>
            </a:solidFill>
            <a:prstDash val="solid"/>
          </a:ln>
        </p:spPr>
      </p:sp>
      <p:sp>
        <p:nvSpPr>
          <p:cNvPr id="33" name="Text 11">
            <a:extLst>
              <a:ext uri="{FF2B5EF4-FFF2-40B4-BE49-F238E27FC236}">
                <a16:creationId xmlns:a16="http://schemas.microsoft.com/office/drawing/2014/main" id="{6AE355E3-8095-479A-BDAA-7F0752AC5933}"/>
              </a:ext>
            </a:extLst>
          </p:cNvPr>
          <p:cNvSpPr/>
          <p:nvPr/>
        </p:nvSpPr>
        <p:spPr>
          <a:xfrm>
            <a:off x="734378" y="1765152"/>
            <a:ext cx="1280160" cy="274320"/>
          </a:xfrm>
          <a:prstGeom prst="rect">
            <a:avLst/>
          </a:prstGeom>
          <a:noFill/>
          <a:ln/>
        </p:spPr>
        <p:txBody>
          <a:bodyPr wrap="square" lIns="0" tIns="0" rIns="0" bIns="0" rtlCol="0" anchor="ctr"/>
          <a:lstStyle/>
          <a:p>
            <a:pPr marL="0" indent="0" algn="ctr">
              <a:buNone/>
            </a:pPr>
            <a:r>
              <a:rPr lang="en-US" sz="1100" b="1" dirty="0">
                <a:solidFill>
                  <a:srgbClr val="0F172A"/>
                </a:solidFill>
                <a:latin typeface="Calibri" pitchFamily="34" charset="0"/>
                <a:ea typeface="Calibri" pitchFamily="34" charset="-122"/>
                <a:cs typeface="Calibri" pitchFamily="34" charset="-120"/>
              </a:rPr>
              <a:t>Frau</a:t>
            </a:r>
            <a:endParaRPr lang="en-US" sz="1100" dirty="0"/>
          </a:p>
        </p:txBody>
      </p:sp>
      <p:sp>
        <p:nvSpPr>
          <p:cNvPr id="34" name="Shape 12">
            <a:extLst>
              <a:ext uri="{FF2B5EF4-FFF2-40B4-BE49-F238E27FC236}">
                <a16:creationId xmlns:a16="http://schemas.microsoft.com/office/drawing/2014/main" id="{A81B215A-59E0-4FAD-8DAA-B724DD885067}"/>
              </a:ext>
            </a:extLst>
          </p:cNvPr>
          <p:cNvSpPr/>
          <p:nvPr/>
        </p:nvSpPr>
        <p:spPr>
          <a:xfrm>
            <a:off x="3590273" y="2097426"/>
            <a:ext cx="146304" cy="146304"/>
          </a:xfrm>
          <a:prstGeom prst="ellipse">
            <a:avLst/>
          </a:prstGeom>
          <a:solidFill>
            <a:srgbClr val="F97316"/>
          </a:solidFill>
          <a:ln w="12700">
            <a:solidFill>
              <a:srgbClr val="F97316"/>
            </a:solidFill>
            <a:prstDash val="solid"/>
          </a:ln>
        </p:spPr>
      </p:sp>
      <p:sp>
        <p:nvSpPr>
          <p:cNvPr id="35" name="Text 13">
            <a:extLst>
              <a:ext uri="{FF2B5EF4-FFF2-40B4-BE49-F238E27FC236}">
                <a16:creationId xmlns:a16="http://schemas.microsoft.com/office/drawing/2014/main" id="{2F65722A-BF7E-4328-BA0B-131D19AF3369}"/>
              </a:ext>
            </a:extLst>
          </p:cNvPr>
          <p:cNvSpPr/>
          <p:nvPr/>
        </p:nvSpPr>
        <p:spPr>
          <a:xfrm>
            <a:off x="2899831" y="1787899"/>
            <a:ext cx="1280160" cy="274320"/>
          </a:xfrm>
          <a:prstGeom prst="rect">
            <a:avLst/>
          </a:prstGeom>
          <a:noFill/>
          <a:ln/>
        </p:spPr>
        <p:txBody>
          <a:bodyPr wrap="square" lIns="0" tIns="0" rIns="0" bIns="0" rtlCol="0" anchor="ctr"/>
          <a:lstStyle/>
          <a:p>
            <a:pPr marL="0" indent="0" algn="ctr">
              <a:buNone/>
            </a:pPr>
            <a:r>
              <a:rPr lang="en-US" sz="1100" b="1" dirty="0">
                <a:solidFill>
                  <a:srgbClr val="F97316"/>
                </a:solidFill>
                <a:latin typeface="Calibri" pitchFamily="34" charset="0"/>
                <a:ea typeface="Calibri" pitchFamily="34" charset="-122"/>
                <a:cs typeface="Calibri" pitchFamily="34" charset="-120"/>
              </a:rPr>
              <a:t>Königin</a:t>
            </a:r>
            <a:endParaRPr lang="en-US" sz="1100" dirty="0"/>
          </a:p>
        </p:txBody>
      </p:sp>
      <p:sp>
        <p:nvSpPr>
          <p:cNvPr id="36" name="Shape 14">
            <a:extLst>
              <a:ext uri="{FF2B5EF4-FFF2-40B4-BE49-F238E27FC236}">
                <a16:creationId xmlns:a16="http://schemas.microsoft.com/office/drawing/2014/main" id="{25E0024E-97FE-41CB-BD11-989BBB53727A}"/>
              </a:ext>
            </a:extLst>
          </p:cNvPr>
          <p:cNvSpPr/>
          <p:nvPr/>
        </p:nvSpPr>
        <p:spPr>
          <a:xfrm>
            <a:off x="1115568" y="3172968"/>
            <a:ext cx="146304" cy="146304"/>
          </a:xfrm>
          <a:prstGeom prst="ellipse">
            <a:avLst/>
          </a:prstGeom>
          <a:solidFill>
            <a:srgbClr val="0F172A"/>
          </a:solidFill>
          <a:ln w="12700">
            <a:solidFill>
              <a:srgbClr val="0F172A"/>
            </a:solidFill>
            <a:prstDash val="solid"/>
          </a:ln>
        </p:spPr>
      </p:sp>
      <p:sp>
        <p:nvSpPr>
          <p:cNvPr id="37" name="Text 15">
            <a:extLst>
              <a:ext uri="{FF2B5EF4-FFF2-40B4-BE49-F238E27FC236}">
                <a16:creationId xmlns:a16="http://schemas.microsoft.com/office/drawing/2014/main" id="{8FB56D66-4C07-476F-AE3F-1C7EAD963F80}"/>
              </a:ext>
            </a:extLst>
          </p:cNvPr>
          <p:cNvSpPr/>
          <p:nvPr/>
        </p:nvSpPr>
        <p:spPr>
          <a:xfrm>
            <a:off x="548640" y="2862072"/>
            <a:ext cx="1280160" cy="274320"/>
          </a:xfrm>
          <a:prstGeom prst="rect">
            <a:avLst/>
          </a:prstGeom>
          <a:noFill/>
          <a:ln/>
        </p:spPr>
        <p:txBody>
          <a:bodyPr wrap="square" lIns="0" tIns="0" rIns="0" bIns="0" rtlCol="0" anchor="ctr"/>
          <a:lstStyle/>
          <a:p>
            <a:pPr marL="0" indent="0" algn="ctr">
              <a:buNone/>
            </a:pPr>
            <a:r>
              <a:rPr lang="en-US" sz="1100" b="1" dirty="0">
                <a:solidFill>
                  <a:srgbClr val="0F172A"/>
                </a:solidFill>
                <a:latin typeface="Calibri" pitchFamily="34" charset="0"/>
                <a:ea typeface="Calibri" pitchFamily="34" charset="-122"/>
                <a:cs typeface="Calibri" pitchFamily="34" charset="-120"/>
              </a:rPr>
              <a:t>Mann</a:t>
            </a:r>
            <a:endParaRPr lang="en-US" sz="1100" dirty="0"/>
          </a:p>
        </p:txBody>
      </p:sp>
      <p:sp>
        <p:nvSpPr>
          <p:cNvPr id="38" name="Shape 16">
            <a:extLst>
              <a:ext uri="{FF2B5EF4-FFF2-40B4-BE49-F238E27FC236}">
                <a16:creationId xmlns:a16="http://schemas.microsoft.com/office/drawing/2014/main" id="{068BD4DA-6974-4716-B9D7-4C3B29310C10}"/>
              </a:ext>
            </a:extLst>
          </p:cNvPr>
          <p:cNvSpPr/>
          <p:nvPr/>
        </p:nvSpPr>
        <p:spPr>
          <a:xfrm>
            <a:off x="3310128" y="3172968"/>
            <a:ext cx="146304" cy="146304"/>
          </a:xfrm>
          <a:prstGeom prst="ellipse">
            <a:avLst/>
          </a:prstGeom>
          <a:solidFill>
            <a:srgbClr val="F97316"/>
          </a:solidFill>
          <a:ln w="12700">
            <a:solidFill>
              <a:srgbClr val="F97316"/>
            </a:solidFill>
            <a:prstDash val="solid"/>
          </a:ln>
        </p:spPr>
      </p:sp>
      <p:sp>
        <p:nvSpPr>
          <p:cNvPr id="39" name="Text 17">
            <a:extLst>
              <a:ext uri="{FF2B5EF4-FFF2-40B4-BE49-F238E27FC236}">
                <a16:creationId xmlns:a16="http://schemas.microsoft.com/office/drawing/2014/main" id="{0ABE88B0-7AC6-4DF1-A4C0-C48E65E71AE5}"/>
              </a:ext>
            </a:extLst>
          </p:cNvPr>
          <p:cNvSpPr/>
          <p:nvPr/>
        </p:nvSpPr>
        <p:spPr>
          <a:xfrm>
            <a:off x="2878251" y="2873502"/>
            <a:ext cx="858326" cy="274320"/>
          </a:xfrm>
          <a:prstGeom prst="rect">
            <a:avLst/>
          </a:prstGeom>
          <a:noFill/>
          <a:ln/>
        </p:spPr>
        <p:txBody>
          <a:bodyPr wrap="square" lIns="0" tIns="0" rIns="0" bIns="0" rtlCol="0" anchor="ctr"/>
          <a:lstStyle/>
          <a:p>
            <a:pPr marL="0" indent="0" algn="ctr">
              <a:buNone/>
            </a:pPr>
            <a:r>
              <a:rPr lang="en-US" sz="1100" b="1" dirty="0">
                <a:solidFill>
                  <a:srgbClr val="F97316"/>
                </a:solidFill>
                <a:latin typeface="Calibri" pitchFamily="34" charset="0"/>
                <a:ea typeface="Calibri" pitchFamily="34" charset="-122"/>
                <a:cs typeface="Calibri" pitchFamily="34" charset="-120"/>
              </a:rPr>
              <a:t>König</a:t>
            </a:r>
            <a:endParaRPr lang="en-US" sz="1100" dirty="0"/>
          </a:p>
        </p:txBody>
      </p:sp>
      <p:sp>
        <p:nvSpPr>
          <p:cNvPr id="41" name="Text 19">
            <a:extLst>
              <a:ext uri="{FF2B5EF4-FFF2-40B4-BE49-F238E27FC236}">
                <a16:creationId xmlns:a16="http://schemas.microsoft.com/office/drawing/2014/main" id="{59BE2507-7A12-45D4-B5E3-4683245E1142}"/>
              </a:ext>
            </a:extLst>
          </p:cNvPr>
          <p:cNvSpPr/>
          <p:nvPr/>
        </p:nvSpPr>
        <p:spPr>
          <a:xfrm>
            <a:off x="4892040" y="1417320"/>
            <a:ext cx="3794760" cy="365760"/>
          </a:xfrm>
          <a:prstGeom prst="rect">
            <a:avLst/>
          </a:prstGeom>
          <a:noFill/>
          <a:ln/>
        </p:spPr>
        <p:txBody>
          <a:bodyPr wrap="square" lIns="0" tIns="0" rIns="0" bIns="0" rtlCol="0" anchor="ctr"/>
          <a:lstStyle/>
          <a:p>
            <a:pPr marL="0" indent="0">
              <a:buNone/>
            </a:pPr>
            <a:r>
              <a:rPr lang="en-US" sz="1600" b="1" dirty="0">
                <a:solidFill>
                  <a:srgbClr val="0F172A"/>
                </a:solidFill>
                <a:latin typeface="Cambria" pitchFamily="34" charset="0"/>
                <a:ea typeface="Cambria" pitchFamily="34" charset="-122"/>
                <a:cs typeface="Cambria" pitchFamily="34" charset="-120"/>
              </a:rPr>
              <a:t>Semantische Richtungen</a:t>
            </a:r>
            <a:endParaRPr lang="en-US" sz="1600" dirty="0"/>
          </a:p>
        </p:txBody>
      </p:sp>
      <p:sp>
        <p:nvSpPr>
          <p:cNvPr id="42" name="Text 20">
            <a:extLst>
              <a:ext uri="{FF2B5EF4-FFF2-40B4-BE49-F238E27FC236}">
                <a16:creationId xmlns:a16="http://schemas.microsoft.com/office/drawing/2014/main" id="{38518CE7-4ACF-458D-ACA5-523821A0F26C}"/>
              </a:ext>
            </a:extLst>
          </p:cNvPr>
          <p:cNvSpPr/>
          <p:nvPr/>
        </p:nvSpPr>
        <p:spPr>
          <a:xfrm>
            <a:off x="4892040" y="1783080"/>
            <a:ext cx="3794760" cy="788670"/>
          </a:xfrm>
          <a:prstGeom prst="rect">
            <a:avLst/>
          </a:prstGeom>
          <a:noFill/>
          <a:ln/>
        </p:spPr>
        <p:txBody>
          <a:bodyPr wrap="square" lIns="0" tIns="0" rIns="0" bIns="0" rtlCol="0" anchor="ctr"/>
          <a:lstStyle/>
          <a:p>
            <a:pPr marL="0" indent="0">
              <a:lnSpc>
                <a:spcPct val="130000"/>
              </a:lnSpc>
              <a:buNone/>
            </a:pPr>
            <a:r>
              <a:rPr lang="en-US" sz="1250" dirty="0">
                <a:solidFill>
                  <a:srgbClr val="475569"/>
                </a:solidFill>
                <a:latin typeface="Calibri" pitchFamily="34" charset="0"/>
                <a:ea typeface="Calibri" pitchFamily="34" charset="-122"/>
                <a:cs typeface="Calibri" pitchFamily="34" charset="-120"/>
              </a:rPr>
              <a:t>Beziehungen zwischen Begriffen </a:t>
            </a:r>
            <a:r>
              <a:rPr lang="en-US" sz="1250" dirty="0" err="1">
                <a:solidFill>
                  <a:srgbClr val="475569"/>
                </a:solidFill>
                <a:latin typeface="Calibri" pitchFamily="34" charset="0"/>
                <a:ea typeface="Calibri" pitchFamily="34" charset="-122"/>
                <a:cs typeface="Calibri" pitchFamily="34" charset="-120"/>
              </a:rPr>
              <a:t>entsprechen</a:t>
            </a:r>
            <a:r>
              <a:rPr lang="en-US" sz="1250" dirty="0">
                <a:solidFill>
                  <a:srgbClr val="475569"/>
                </a:solidFill>
                <a:latin typeface="Calibri" pitchFamily="34" charset="0"/>
                <a:ea typeface="Calibri" pitchFamily="34" charset="-122"/>
                <a:cs typeface="Calibri" pitchFamily="34" charset="-120"/>
              </a:rPr>
              <a:t> </a:t>
            </a:r>
          </a:p>
          <a:p>
            <a:pPr marL="0" indent="0">
              <a:lnSpc>
                <a:spcPct val="130000"/>
              </a:lnSpc>
              <a:buNone/>
            </a:pPr>
            <a:r>
              <a:rPr lang="en-US" sz="1250" b="1" dirty="0" err="1">
                <a:solidFill>
                  <a:srgbClr val="475569"/>
                </a:solidFill>
                <a:latin typeface="Calibri" pitchFamily="34" charset="0"/>
                <a:ea typeface="Calibri" pitchFamily="34" charset="-122"/>
                <a:cs typeface="Calibri" pitchFamily="34" charset="-120"/>
              </a:rPr>
              <a:t>Vektor­differenzen</a:t>
            </a:r>
            <a:r>
              <a:rPr lang="en-US" sz="1250" dirty="0">
                <a:solidFill>
                  <a:srgbClr val="475569"/>
                </a:solidFill>
                <a:latin typeface="Calibri" pitchFamily="34" charset="0"/>
                <a:ea typeface="Calibri" pitchFamily="34" charset="-122"/>
                <a:cs typeface="Calibri" pitchFamily="34" charset="-120"/>
              </a:rPr>
              <a:t>. Der Vektor von „Mann → König" ist fast identisch zum Vektor „Frau → </a:t>
            </a:r>
            <a:r>
              <a:rPr lang="en-US" sz="1250" dirty="0" err="1">
                <a:solidFill>
                  <a:srgbClr val="475569"/>
                </a:solidFill>
                <a:latin typeface="Calibri" pitchFamily="34" charset="0"/>
                <a:ea typeface="Calibri" pitchFamily="34" charset="-122"/>
                <a:cs typeface="Calibri" pitchFamily="34" charset="-120"/>
              </a:rPr>
              <a:t>Königin</a:t>
            </a:r>
            <a:r>
              <a:rPr lang="en-US" sz="1250" dirty="0">
                <a:solidFill>
                  <a:srgbClr val="475569"/>
                </a:solidFill>
                <a:latin typeface="Calibri" pitchFamily="34" charset="0"/>
                <a:ea typeface="Calibri" pitchFamily="34" charset="-122"/>
                <a:cs typeface="Calibri" pitchFamily="34" charset="-120"/>
              </a:rPr>
              <a:t>". </a:t>
            </a:r>
            <a:r>
              <a:rPr lang="en-US" sz="800" dirty="0">
                <a:solidFill>
                  <a:schemeClr val="bg1">
                    <a:lumMod val="65000"/>
                  </a:schemeClr>
                </a:solidFill>
                <a:latin typeface="Calibri" pitchFamily="34" charset="0"/>
                <a:ea typeface="Calibri" pitchFamily="34" charset="-122"/>
                <a:cs typeface="Calibri" pitchFamily="34" charset="-120"/>
              </a:rPr>
              <a:t>[Q5]</a:t>
            </a:r>
          </a:p>
        </p:txBody>
      </p:sp>
      <p:sp>
        <p:nvSpPr>
          <p:cNvPr id="59" name="Text 22">
            <a:extLst>
              <a:ext uri="{FF2B5EF4-FFF2-40B4-BE49-F238E27FC236}">
                <a16:creationId xmlns:a16="http://schemas.microsoft.com/office/drawing/2014/main" id="{C296CBEB-FA58-4A8E-B733-98A223B77554}"/>
              </a:ext>
            </a:extLst>
          </p:cNvPr>
          <p:cNvSpPr/>
          <p:nvPr/>
        </p:nvSpPr>
        <p:spPr>
          <a:xfrm>
            <a:off x="5029200" y="3133189"/>
            <a:ext cx="3657600" cy="320040"/>
          </a:xfrm>
          <a:prstGeom prst="rect">
            <a:avLst/>
          </a:prstGeom>
          <a:noFill/>
          <a:ln/>
        </p:spPr>
        <p:txBody>
          <a:bodyPr wrap="square" lIns="0" tIns="0" rIns="0" bIns="0" rtlCol="0" anchor="ctr"/>
          <a:lstStyle/>
          <a:p>
            <a:pPr marL="0" indent="0">
              <a:buNone/>
            </a:pPr>
            <a:endParaRPr lang="en-US" sz="1200" b="1" dirty="0">
              <a:solidFill>
                <a:srgbClr val="0F172A"/>
              </a:solidFill>
              <a:latin typeface="Cambria" pitchFamily="34" charset="0"/>
              <a:ea typeface="Cambria" pitchFamily="34" charset="-122"/>
            </a:endParaRPr>
          </a:p>
        </p:txBody>
      </p:sp>
      <p:sp>
        <p:nvSpPr>
          <p:cNvPr id="60" name="Text 23">
            <a:extLst>
              <a:ext uri="{FF2B5EF4-FFF2-40B4-BE49-F238E27FC236}">
                <a16:creationId xmlns:a16="http://schemas.microsoft.com/office/drawing/2014/main" id="{422EAFA5-A388-4532-B82D-1BB1002D69CE}"/>
              </a:ext>
            </a:extLst>
          </p:cNvPr>
          <p:cNvSpPr/>
          <p:nvPr/>
        </p:nvSpPr>
        <p:spPr>
          <a:xfrm>
            <a:off x="4937760" y="3319272"/>
            <a:ext cx="3657600" cy="635056"/>
          </a:xfrm>
          <a:prstGeom prst="rect">
            <a:avLst/>
          </a:prstGeom>
          <a:noFill/>
          <a:ln/>
        </p:spPr>
        <p:txBody>
          <a:bodyPr wrap="square" lIns="0" tIns="0" rIns="0" bIns="0" rtlCol="0" anchor="ctr"/>
          <a:lstStyle/>
          <a:p>
            <a:pPr>
              <a:lnSpc>
                <a:spcPct val="140000"/>
              </a:lnSpc>
            </a:pPr>
            <a:r>
              <a:rPr lang="en-US" sz="1400" b="1" dirty="0">
                <a:solidFill>
                  <a:srgbClr val="0F172A"/>
                </a:solidFill>
                <a:latin typeface="Cambria" pitchFamily="34" charset="0"/>
                <a:ea typeface="Cambria" pitchFamily="34" charset="-122"/>
              </a:rPr>
              <a:t>Analog:</a:t>
            </a:r>
          </a:p>
          <a:p>
            <a:pPr marL="0" indent="0">
              <a:lnSpc>
                <a:spcPct val="140000"/>
              </a:lnSpc>
              <a:buNone/>
            </a:pPr>
            <a:r>
              <a:rPr lang="en-US" sz="1250" i="1" dirty="0">
                <a:solidFill>
                  <a:srgbClr val="1E293B"/>
                </a:solidFill>
                <a:latin typeface="Calibri" pitchFamily="34" charset="0"/>
                <a:ea typeface="Calibri" pitchFamily="34" charset="-122"/>
                <a:cs typeface="Calibri" pitchFamily="34" charset="-120"/>
              </a:rPr>
              <a:t>Deutschland → Japan   ≈   Bratwurst → Sushi</a:t>
            </a:r>
            <a:endParaRPr lang="en-US" sz="1250" dirty="0"/>
          </a:p>
        </p:txBody>
      </p:sp>
      <p:sp>
        <p:nvSpPr>
          <p:cNvPr id="3" name="Textfeld 2">
            <a:extLst>
              <a:ext uri="{FF2B5EF4-FFF2-40B4-BE49-F238E27FC236}">
                <a16:creationId xmlns:a16="http://schemas.microsoft.com/office/drawing/2014/main" id="{1CF6FE02-DE95-4CBA-9F50-D13763EDDDBA}"/>
              </a:ext>
            </a:extLst>
          </p:cNvPr>
          <p:cNvSpPr txBox="1"/>
          <p:nvPr/>
        </p:nvSpPr>
        <p:spPr>
          <a:xfrm>
            <a:off x="2263968" y="2484373"/>
            <a:ext cx="300082" cy="369332"/>
          </a:xfrm>
          <a:prstGeom prst="rect">
            <a:avLst/>
          </a:prstGeom>
          <a:noFill/>
        </p:spPr>
        <p:txBody>
          <a:bodyPr wrap="none" rtlCol="0">
            <a:spAutoFit/>
          </a:bodyPr>
          <a:lstStyle/>
          <a:p>
            <a:r>
              <a:rPr lang="en-US" sz="1800" i="1" dirty="0">
                <a:solidFill>
                  <a:srgbClr val="1E293B"/>
                </a:solidFill>
                <a:latin typeface="Calibri" pitchFamily="34" charset="0"/>
                <a:ea typeface="Calibri" pitchFamily="34" charset="-122"/>
                <a:cs typeface="Calibri" pitchFamily="34" charset="-120"/>
              </a:rPr>
              <a:t>≈</a:t>
            </a:r>
            <a:endParaRPr lang="de-DE" dirty="0"/>
          </a:p>
        </p:txBody>
      </p:sp>
      <p:cxnSp>
        <p:nvCxnSpPr>
          <p:cNvPr id="11" name="Gerade Verbindung mit Pfeil 10">
            <a:extLst>
              <a:ext uri="{FF2B5EF4-FFF2-40B4-BE49-F238E27FC236}">
                <a16:creationId xmlns:a16="http://schemas.microsoft.com/office/drawing/2014/main" id="{38161806-4DCC-492E-BE6F-2E353B2E430A}"/>
              </a:ext>
            </a:extLst>
          </p:cNvPr>
          <p:cNvCxnSpPr>
            <a:cxnSpLocks/>
          </p:cNvCxnSpPr>
          <p:nvPr/>
        </p:nvCxnSpPr>
        <p:spPr>
          <a:xfrm flipV="1">
            <a:off x="1204666" y="2228850"/>
            <a:ext cx="264565" cy="942853"/>
          </a:xfrm>
          <a:prstGeom prst="straightConnector1">
            <a:avLst/>
          </a:prstGeom>
          <a:ln>
            <a:solidFill>
              <a:schemeClr val="bg1">
                <a:lumMod val="6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0" name="Gerade Verbindung mit Pfeil 39">
            <a:extLst>
              <a:ext uri="{FF2B5EF4-FFF2-40B4-BE49-F238E27FC236}">
                <a16:creationId xmlns:a16="http://schemas.microsoft.com/office/drawing/2014/main" id="{361E168F-F8D2-41C4-ACBE-083D60F4B172}"/>
              </a:ext>
            </a:extLst>
          </p:cNvPr>
          <p:cNvCxnSpPr>
            <a:cxnSpLocks/>
          </p:cNvCxnSpPr>
          <p:nvPr/>
        </p:nvCxnSpPr>
        <p:spPr>
          <a:xfrm flipV="1">
            <a:off x="1204665" y="2228850"/>
            <a:ext cx="264565" cy="942853"/>
          </a:xfrm>
          <a:prstGeom prst="straightConnector1">
            <a:avLst/>
          </a:prstGeom>
          <a:ln>
            <a:solidFill>
              <a:schemeClr val="bg1">
                <a:lumMod val="65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57034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500"/>
                                        <p:tgtEl>
                                          <p:spTgt spid="4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42" presetClass="path" presetSubtype="0" accel="50000" decel="50000" fill="hold" nodeType="clickEffect">
                                  <p:stCondLst>
                                    <p:cond delay="0"/>
                                  </p:stCondLst>
                                  <p:childTnLst>
                                    <p:animMotion origin="layout" path="M -5.55556E-7 0 L 0.24028 0.00463 " pathEditMode="relative" rAng="0" ptsTypes="AA">
                                      <p:cBhvr>
                                        <p:cTn id="20" dur="2000" fill="hold"/>
                                        <p:tgtEl>
                                          <p:spTgt spid="40"/>
                                        </p:tgtEl>
                                        <p:attrNameLst>
                                          <p:attrName>ppt_x</p:attrName>
                                          <p:attrName>ppt_y</p:attrName>
                                        </p:attrNameLst>
                                      </p:cBhvr>
                                      <p:rCtr x="12014" y="216"/>
                                    </p:animMotion>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4"/>
                                        </p:tgtEl>
                                        <p:attrNameLst>
                                          <p:attrName>style.visibility</p:attrName>
                                        </p:attrNameLst>
                                      </p:cBhvr>
                                      <p:to>
                                        <p:strVal val="visible"/>
                                      </p:to>
                                    </p:set>
                                    <p:animEffect transition="in" filter="fade">
                                      <p:cBhvr>
                                        <p:cTn id="25" dur="500"/>
                                        <p:tgtEl>
                                          <p:spTgt spid="34"/>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5"/>
                                        </p:tgtEl>
                                        <p:attrNameLst>
                                          <p:attrName>style.visibility</p:attrName>
                                        </p:attrNameLst>
                                      </p:cBhvr>
                                      <p:to>
                                        <p:strVal val="visible"/>
                                      </p:to>
                                    </p:set>
                                    <p:animEffect transition="in" filter="fade">
                                      <p:cBhvr>
                                        <p:cTn id="28" dur="500"/>
                                        <p:tgtEl>
                                          <p:spTgt spid="35"/>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
                                        </p:tgtEl>
                                        <p:attrNameLst>
                                          <p:attrName>style.visibility</p:attrName>
                                        </p:attrNameLst>
                                      </p:cBhvr>
                                      <p:to>
                                        <p:strVal val="visible"/>
                                      </p:to>
                                    </p:set>
                                    <p:animEffect transition="in" filter="fade">
                                      <p:cBhvr>
                                        <p:cTn id="3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39" grpId="0" animBg="1"/>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67E8333-A12F-461B-8F36-964EF2A4A284}"/>
              </a:ext>
            </a:extLst>
          </p:cNvPr>
          <p:cNvSpPr>
            <a:spLocks noGrp="1"/>
          </p:cNvSpPr>
          <p:nvPr>
            <p:ph type="title"/>
          </p:nvPr>
        </p:nvSpPr>
        <p:spPr>
          <a:xfrm>
            <a:off x="326356" y="382496"/>
            <a:ext cx="6549399" cy="359255"/>
          </a:xfrm>
        </p:spPr>
        <p:txBody>
          <a:bodyPr>
            <a:normAutofit fontScale="90000"/>
          </a:bodyPr>
          <a:lstStyle/>
          <a:p>
            <a:pPr marL="0" indent="0">
              <a:buNone/>
            </a:pPr>
            <a:r>
              <a:rPr lang="en-US" sz="3200" b="1" dirty="0" err="1">
                <a:solidFill>
                  <a:srgbClr val="0F172A"/>
                </a:solidFill>
                <a:latin typeface="Cambria" pitchFamily="34" charset="0"/>
                <a:ea typeface="Cambria" pitchFamily="34" charset="-122"/>
                <a:cs typeface="Cambria" pitchFamily="34" charset="-120"/>
              </a:rPr>
              <a:t>Vektordatenbank</a:t>
            </a:r>
            <a:r>
              <a:rPr lang="en-US" sz="3200" b="1" dirty="0">
                <a:solidFill>
                  <a:srgbClr val="0F172A"/>
                </a:solidFill>
                <a:latin typeface="Cambria" pitchFamily="34" charset="0"/>
                <a:ea typeface="Cambria" pitchFamily="34" charset="-122"/>
                <a:cs typeface="Cambria" pitchFamily="34" charset="-120"/>
              </a:rPr>
              <a:t> vs. </a:t>
            </a:r>
            <a:r>
              <a:rPr lang="en-US" sz="3200" b="1" dirty="0" err="1">
                <a:solidFill>
                  <a:srgbClr val="0F172A"/>
                </a:solidFill>
                <a:latin typeface="Cambria" pitchFamily="34" charset="0"/>
                <a:ea typeface="Cambria" pitchFamily="34" charset="-122"/>
                <a:cs typeface="Cambria" pitchFamily="34" charset="-120"/>
              </a:rPr>
              <a:t>relationale</a:t>
            </a:r>
            <a:r>
              <a:rPr lang="en-US" sz="3200" b="1" dirty="0">
                <a:solidFill>
                  <a:srgbClr val="0F172A"/>
                </a:solidFill>
                <a:latin typeface="Cambria" pitchFamily="34" charset="0"/>
                <a:ea typeface="Cambria" pitchFamily="34" charset="-122"/>
                <a:cs typeface="Cambria" pitchFamily="34" charset="-120"/>
              </a:rPr>
              <a:t> DB</a:t>
            </a:r>
            <a:endParaRPr lang="en-US" sz="3200" dirty="0"/>
          </a:p>
        </p:txBody>
      </p:sp>
      <p:sp>
        <p:nvSpPr>
          <p:cNvPr id="6" name="Rechteck 5">
            <a:extLst>
              <a:ext uri="{FF2B5EF4-FFF2-40B4-BE49-F238E27FC236}">
                <a16:creationId xmlns:a16="http://schemas.microsoft.com/office/drawing/2014/main" id="{9B1134CE-53FF-4066-B059-D6ACA70914F2}"/>
              </a:ext>
            </a:extLst>
          </p:cNvPr>
          <p:cNvSpPr/>
          <p:nvPr/>
        </p:nvSpPr>
        <p:spPr>
          <a:xfrm>
            <a:off x="452981" y="1083791"/>
            <a:ext cx="383507" cy="52083"/>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013"/>
          </a:p>
        </p:txBody>
      </p:sp>
      <p:sp>
        <p:nvSpPr>
          <p:cNvPr id="7" name="Titel 1">
            <a:extLst>
              <a:ext uri="{FF2B5EF4-FFF2-40B4-BE49-F238E27FC236}">
                <a16:creationId xmlns:a16="http://schemas.microsoft.com/office/drawing/2014/main" id="{8C89B5C6-61EC-420A-A7BF-D697C040511D}"/>
              </a:ext>
            </a:extLst>
          </p:cNvPr>
          <p:cNvSpPr txBox="1">
            <a:spLocks/>
          </p:cNvSpPr>
          <p:nvPr/>
        </p:nvSpPr>
        <p:spPr>
          <a:xfrm>
            <a:off x="376603" y="688385"/>
            <a:ext cx="4292206" cy="359255"/>
          </a:xfrm>
          <a:prstGeom prst="rect">
            <a:avLst/>
          </a:prstGeom>
        </p:spPr>
        <p:txBody>
          <a:bodyPr vert="horz" lIns="68580" tIns="34290" rIns="68580" bIns="3429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sz="1600" dirty="0">
                <a:solidFill>
                  <a:srgbClr val="0F172A"/>
                </a:solidFill>
                <a:latin typeface="Calibri Light" panose="020F0302020204030204" pitchFamily="34" charset="0"/>
                <a:ea typeface="Calibri Light" panose="020F0302020204030204" pitchFamily="34" charset="0"/>
                <a:cs typeface="Calibri Light" panose="020F0302020204030204" pitchFamily="34" charset="0"/>
              </a:rPr>
              <a:t>Abgrenzung</a:t>
            </a:r>
            <a:endParaRPr lang="de-DE" sz="1500" dirty="0">
              <a:solidFill>
                <a:srgbClr val="0F172A"/>
              </a:solidFill>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76" name="Datumsplatzhalter 75">
            <a:extLst>
              <a:ext uri="{FF2B5EF4-FFF2-40B4-BE49-F238E27FC236}">
                <a16:creationId xmlns:a16="http://schemas.microsoft.com/office/drawing/2014/main" id="{FB534BCA-17DB-4EBE-9103-31EF5969BBD5}"/>
              </a:ext>
            </a:extLst>
          </p:cNvPr>
          <p:cNvSpPr>
            <a:spLocks noGrp="1"/>
          </p:cNvSpPr>
          <p:nvPr>
            <p:ph type="dt" sz="half" idx="10"/>
          </p:nvPr>
        </p:nvSpPr>
        <p:spPr>
          <a:xfrm>
            <a:off x="347840" y="4807006"/>
            <a:ext cx="2338210" cy="273844"/>
          </a:xfrm>
        </p:spPr>
        <p:txBody>
          <a:bodyPr/>
          <a:lstStyle/>
          <a:p>
            <a:fld id="{0D05602C-25EE-48A8-8786-3C51BA41DB9E}" type="datetime1">
              <a:rPr lang="de-DE"/>
              <a:t>04.05.2026</a:t>
            </a:fld>
            <a:endParaRPr lang="de-DE" dirty="0"/>
          </a:p>
        </p:txBody>
      </p:sp>
      <p:sp>
        <p:nvSpPr>
          <p:cNvPr id="77" name="Fußzeilenplatzhalter 76">
            <a:extLst>
              <a:ext uri="{FF2B5EF4-FFF2-40B4-BE49-F238E27FC236}">
                <a16:creationId xmlns:a16="http://schemas.microsoft.com/office/drawing/2014/main" id="{10A96F6C-9081-4668-9382-F92081EE73D0}"/>
              </a:ext>
            </a:extLst>
          </p:cNvPr>
          <p:cNvSpPr>
            <a:spLocks noGrp="1"/>
          </p:cNvSpPr>
          <p:nvPr>
            <p:ph type="ftr" sz="quarter" idx="11"/>
          </p:nvPr>
        </p:nvSpPr>
        <p:spPr>
          <a:xfrm>
            <a:off x="2686050" y="4807006"/>
            <a:ext cx="3812404" cy="273844"/>
          </a:xfrm>
        </p:spPr>
        <p:txBody>
          <a:bodyPr/>
          <a:lstStyle/>
          <a:p>
            <a:r>
              <a:rPr lang="de-DE" dirty="0"/>
              <a:t>Vektordatenbanken </a:t>
            </a:r>
            <a:r>
              <a:rPr lang="en-US" dirty="0"/>
              <a:t>· </a:t>
            </a:r>
            <a:r>
              <a:rPr lang="en-US" dirty="0" err="1"/>
              <a:t>Studienprojekt</a:t>
            </a:r>
            <a:r>
              <a:rPr lang="en-US" dirty="0"/>
              <a:t> Reverse Chatbots</a:t>
            </a:r>
            <a:endParaRPr lang="de-DE" dirty="0"/>
          </a:p>
        </p:txBody>
      </p:sp>
      <p:sp>
        <p:nvSpPr>
          <p:cNvPr id="78" name="Foliennummernplatzhalter 77">
            <a:extLst>
              <a:ext uri="{FF2B5EF4-FFF2-40B4-BE49-F238E27FC236}">
                <a16:creationId xmlns:a16="http://schemas.microsoft.com/office/drawing/2014/main" id="{2B507CAF-8A2B-4670-8A8F-519A0AECCF4A}"/>
              </a:ext>
            </a:extLst>
          </p:cNvPr>
          <p:cNvSpPr>
            <a:spLocks noGrp="1"/>
          </p:cNvSpPr>
          <p:nvPr>
            <p:ph type="sldNum" sz="quarter" idx="12"/>
          </p:nvPr>
        </p:nvSpPr>
        <p:spPr>
          <a:xfrm>
            <a:off x="6457950" y="4807006"/>
            <a:ext cx="2338210" cy="273844"/>
          </a:xfrm>
        </p:spPr>
        <p:txBody>
          <a:bodyPr/>
          <a:lstStyle/>
          <a:p>
            <a:fld id="{0E836345-B243-4000-8050-9A1A9D10D9C9}" type="slidenum">
              <a:rPr lang="de-DE" smtClean="0"/>
              <a:t>6</a:t>
            </a:fld>
            <a:r>
              <a:rPr lang="de-DE" dirty="0"/>
              <a:t> / 12</a:t>
            </a:r>
          </a:p>
        </p:txBody>
      </p:sp>
      <p:graphicFrame>
        <p:nvGraphicFramePr>
          <p:cNvPr id="28" name="Table 0">
            <a:extLst>
              <a:ext uri="{FF2B5EF4-FFF2-40B4-BE49-F238E27FC236}">
                <a16:creationId xmlns:a16="http://schemas.microsoft.com/office/drawing/2014/main" id="{D90B24EC-7E3F-468A-862B-7D7A8D3871C1}"/>
              </a:ext>
            </a:extLst>
          </p:cNvPr>
          <p:cNvGraphicFramePr>
            <a:graphicFrameLocks noGrp="1"/>
          </p:cNvGraphicFramePr>
          <p:nvPr>
            <p:extLst>
              <p:ext uri="{D42A27DB-BD31-4B8C-83A1-F6EECF244321}">
                <p14:modId xmlns:p14="http://schemas.microsoft.com/office/powerpoint/2010/main" val="3596677733"/>
              </p:ext>
            </p:extLst>
          </p:nvPr>
        </p:nvGraphicFramePr>
        <p:xfrm>
          <a:off x="457200" y="1417320"/>
          <a:ext cx="5760720" cy="2304288"/>
        </p:xfrm>
        <a:graphic>
          <a:graphicData uri="http://schemas.openxmlformats.org/drawingml/2006/table">
            <a:tbl>
              <a:tblPr/>
              <a:tblGrid>
                <a:gridCol w="137160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tblGrid>
              <a:tr h="384048">
                <a:tc>
                  <a:txBody>
                    <a:bodyPr/>
                    <a:lstStyle/>
                    <a:p>
                      <a:pPr marL="0" indent="0" algn="l">
                        <a:buNone/>
                      </a:pPr>
                      <a:endParaRPr lang="en-US" sz="1200" dirty="0">
                        <a:latin typeface="Cambria" charset="0"/>
                        <a:ea typeface="Cambria" charset="0"/>
                        <a:cs typeface="Cambria"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172A"/>
                    </a:solidFill>
                  </a:tcPr>
                </a:tc>
                <a:tc>
                  <a:txBody>
                    <a:bodyPr/>
                    <a:lstStyle/>
                    <a:p>
                      <a:pPr marL="0" indent="0" algn="l">
                        <a:buNone/>
                      </a:pPr>
                      <a:r>
                        <a:rPr lang="en-US" sz="1200" b="1" dirty="0">
                          <a:solidFill>
                            <a:srgbClr val="FFFFFF"/>
                          </a:solidFill>
                          <a:latin typeface="Cambria" pitchFamily="34" charset="0"/>
                          <a:ea typeface="Cambria" pitchFamily="34" charset="-122"/>
                          <a:cs typeface="Cambria" pitchFamily="34" charset="-120"/>
                        </a:rPr>
                        <a:t>Relationale DB</a:t>
                      </a:r>
                      <a:endParaRPr lang="en-US" sz="1200" dirty="0">
                        <a:latin typeface="Cambria" charset="0"/>
                        <a:ea typeface="Cambria" charset="0"/>
                        <a:cs typeface="Cambria"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172A"/>
                    </a:solidFill>
                  </a:tcPr>
                </a:tc>
                <a:tc>
                  <a:txBody>
                    <a:bodyPr/>
                    <a:lstStyle/>
                    <a:p>
                      <a:pPr marL="0" indent="0" algn="l">
                        <a:buNone/>
                      </a:pPr>
                      <a:r>
                        <a:rPr lang="en-US" sz="1200" b="1" dirty="0">
                          <a:solidFill>
                            <a:srgbClr val="FFFFFF"/>
                          </a:solidFill>
                          <a:latin typeface="Cambria" pitchFamily="34" charset="0"/>
                          <a:ea typeface="Cambria" pitchFamily="34" charset="-122"/>
                          <a:cs typeface="Cambria" pitchFamily="34" charset="-120"/>
                        </a:rPr>
                        <a:t>Vektordatenbank</a:t>
                      </a:r>
                      <a:endParaRPr lang="en-US" sz="1200" dirty="0">
                        <a:latin typeface="Cambria" charset="0"/>
                        <a:ea typeface="Cambria" charset="0"/>
                        <a:cs typeface="Cambria"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172A"/>
                    </a:solidFill>
                  </a:tcPr>
                </a:tc>
                <a:extLst>
                  <a:ext uri="{0D108BD9-81ED-4DB2-BD59-A6C34878D82A}">
                    <a16:rowId xmlns:a16="http://schemas.microsoft.com/office/drawing/2014/main" val="10000"/>
                  </a:ext>
                </a:extLst>
              </a:tr>
              <a:tr h="384048">
                <a:tc>
                  <a:txBody>
                    <a:bodyPr/>
                    <a:lstStyle/>
                    <a:p>
                      <a:pPr marL="0" indent="0">
                        <a:buNone/>
                      </a:pPr>
                      <a:r>
                        <a:rPr lang="en-US" sz="1150" b="1" dirty="0">
                          <a:solidFill>
                            <a:srgbClr val="0F172A"/>
                          </a:solidFill>
                          <a:latin typeface="Cambria" pitchFamily="34" charset="0"/>
                          <a:ea typeface="Cambria" pitchFamily="34" charset="-122"/>
                          <a:cs typeface="Cambria" pitchFamily="34" charset="-120"/>
                        </a:rPr>
                        <a:t>Datentyp</a:t>
                      </a:r>
                      <a:endParaRPr lang="en-US" sz="1150" dirty="0">
                        <a:latin typeface="Cambria" charset="0"/>
                        <a:ea typeface="Cambria" charset="0"/>
                        <a:cs typeface="Cambria"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1150" dirty="0">
                          <a:solidFill>
                            <a:srgbClr val="1E293B"/>
                          </a:solidFill>
                          <a:latin typeface="Calibri" pitchFamily="34" charset="0"/>
                          <a:ea typeface="Calibri" pitchFamily="34" charset="-122"/>
                          <a:cs typeface="Calibri" pitchFamily="34" charset="-120"/>
                        </a:rPr>
                        <a:t>Tupel / Tabelle</a:t>
                      </a:r>
                      <a:endParaRPr lang="en-US" sz="11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1150" dirty="0" err="1">
                          <a:solidFill>
                            <a:srgbClr val="1E293B"/>
                          </a:solidFill>
                          <a:latin typeface="Calibri" pitchFamily="34" charset="0"/>
                          <a:ea typeface="Calibri" pitchFamily="34" charset="-122"/>
                          <a:cs typeface="Calibri" pitchFamily="34" charset="-120"/>
                        </a:rPr>
                        <a:t>Vektor</a:t>
                      </a:r>
                      <a:r>
                        <a:rPr lang="en-US" sz="1150" dirty="0">
                          <a:solidFill>
                            <a:srgbClr val="1E293B"/>
                          </a:solidFill>
                          <a:latin typeface="Calibri" pitchFamily="34" charset="0"/>
                          <a:ea typeface="Calibri" pitchFamily="34" charset="-122"/>
                          <a:cs typeface="Calibri" pitchFamily="34" charset="-120"/>
                        </a:rPr>
                        <a:t> + Payload</a:t>
                      </a:r>
                      <a:endParaRPr lang="en-US" sz="11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extLst>
                  <a:ext uri="{0D108BD9-81ED-4DB2-BD59-A6C34878D82A}">
                    <a16:rowId xmlns:a16="http://schemas.microsoft.com/office/drawing/2014/main" val="10001"/>
                  </a:ext>
                </a:extLst>
              </a:tr>
              <a:tr h="384048">
                <a:tc>
                  <a:txBody>
                    <a:bodyPr/>
                    <a:lstStyle/>
                    <a:p>
                      <a:pPr marL="0" indent="0">
                        <a:buNone/>
                      </a:pPr>
                      <a:r>
                        <a:rPr lang="en-US" sz="1150" b="1" dirty="0">
                          <a:solidFill>
                            <a:srgbClr val="0F172A"/>
                          </a:solidFill>
                          <a:latin typeface="Cambria" pitchFamily="34" charset="0"/>
                          <a:ea typeface="Cambria" pitchFamily="34" charset="-122"/>
                          <a:cs typeface="Cambria" pitchFamily="34" charset="-120"/>
                        </a:rPr>
                        <a:t>Suche</a:t>
                      </a:r>
                      <a:endParaRPr lang="en-US" sz="1150" dirty="0">
                        <a:latin typeface="Cambria" charset="0"/>
                        <a:ea typeface="Cambria" charset="0"/>
                        <a:cs typeface="Cambria"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1E293B"/>
                          </a:solidFill>
                          <a:latin typeface="Calibri" pitchFamily="34" charset="0"/>
                          <a:ea typeface="Calibri" pitchFamily="34" charset="-122"/>
                          <a:cs typeface="Calibri" pitchFamily="34" charset="-120"/>
                        </a:rPr>
                        <a:t>Exakte Übereinstimmung</a:t>
                      </a:r>
                      <a:endParaRPr lang="en-US" sz="11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1E293B"/>
                          </a:solidFill>
                          <a:latin typeface="Calibri" pitchFamily="34" charset="0"/>
                          <a:ea typeface="Calibri" pitchFamily="34" charset="-122"/>
                          <a:cs typeface="Calibri" pitchFamily="34" charset="-120"/>
                        </a:rPr>
                        <a:t>Ähnlichkeit (Distanz)</a:t>
                      </a:r>
                      <a:endParaRPr lang="en-US" sz="11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buNone/>
                      </a:pPr>
                      <a:r>
                        <a:rPr lang="en-US" sz="1150" b="1" dirty="0">
                          <a:solidFill>
                            <a:srgbClr val="0F172A"/>
                          </a:solidFill>
                          <a:latin typeface="Cambria" pitchFamily="34" charset="0"/>
                          <a:ea typeface="Cambria" pitchFamily="34" charset="-122"/>
                          <a:cs typeface="Cambria" pitchFamily="34" charset="-120"/>
                        </a:rPr>
                        <a:t>Abfrage</a:t>
                      </a:r>
                      <a:endParaRPr lang="en-US" sz="1150" dirty="0">
                        <a:latin typeface="Cambria" charset="0"/>
                        <a:ea typeface="Cambria" charset="0"/>
                        <a:cs typeface="Cambria"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1150" dirty="0">
                          <a:solidFill>
                            <a:srgbClr val="1E293B"/>
                          </a:solidFill>
                          <a:latin typeface="Calibri" pitchFamily="34" charset="0"/>
                          <a:ea typeface="Calibri" pitchFamily="34" charset="-122"/>
                          <a:cs typeface="Calibri" pitchFamily="34" charset="-120"/>
                        </a:rPr>
                        <a:t>SQL WHERE, JOIN</a:t>
                      </a:r>
                      <a:endParaRPr lang="en-US" sz="11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1150" dirty="0">
                          <a:solidFill>
                            <a:srgbClr val="1E293B"/>
                          </a:solidFill>
                          <a:latin typeface="Calibri" pitchFamily="34" charset="0"/>
                          <a:ea typeface="Calibri" pitchFamily="34" charset="-122"/>
                          <a:cs typeface="Calibri" pitchFamily="34" charset="-120"/>
                        </a:rPr>
                        <a:t>k-Nearest-Neighbor</a:t>
                      </a:r>
                      <a:endParaRPr lang="en-US" sz="11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extLst>
                  <a:ext uri="{0D108BD9-81ED-4DB2-BD59-A6C34878D82A}">
                    <a16:rowId xmlns:a16="http://schemas.microsoft.com/office/drawing/2014/main" val="10003"/>
                  </a:ext>
                </a:extLst>
              </a:tr>
              <a:tr h="384048">
                <a:tc>
                  <a:txBody>
                    <a:bodyPr/>
                    <a:lstStyle/>
                    <a:p>
                      <a:pPr marL="0" indent="0">
                        <a:buNone/>
                      </a:pPr>
                      <a:r>
                        <a:rPr lang="en-US" sz="1150" b="1" dirty="0">
                          <a:solidFill>
                            <a:srgbClr val="0F172A"/>
                          </a:solidFill>
                          <a:latin typeface="Cambria" pitchFamily="34" charset="0"/>
                          <a:ea typeface="Cambria" pitchFamily="34" charset="-122"/>
                          <a:cs typeface="Cambria" pitchFamily="34" charset="-120"/>
                        </a:rPr>
                        <a:t>Index</a:t>
                      </a:r>
                      <a:endParaRPr lang="en-US" sz="1150" dirty="0">
                        <a:latin typeface="Cambria" charset="0"/>
                        <a:ea typeface="Cambria" charset="0"/>
                        <a:cs typeface="Cambria"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1E293B"/>
                          </a:solidFill>
                          <a:latin typeface="Calibri" pitchFamily="34" charset="0"/>
                          <a:ea typeface="Calibri" pitchFamily="34" charset="-122"/>
                          <a:cs typeface="Calibri" pitchFamily="34" charset="-120"/>
                        </a:rPr>
                        <a:t>B-Tree, Hash</a:t>
                      </a:r>
                      <a:endParaRPr lang="en-US" sz="11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1E293B"/>
                          </a:solidFill>
                          <a:latin typeface="Calibri" pitchFamily="34" charset="0"/>
                          <a:ea typeface="Calibri" pitchFamily="34" charset="-122"/>
                          <a:cs typeface="Calibri" pitchFamily="34" charset="-120"/>
                        </a:rPr>
                        <a:t>HNSW, IVF, PQ</a:t>
                      </a:r>
                      <a:endParaRPr lang="en-US" sz="11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84048">
                <a:tc>
                  <a:txBody>
                    <a:bodyPr/>
                    <a:lstStyle/>
                    <a:p>
                      <a:pPr marL="0" indent="0">
                        <a:buNone/>
                      </a:pPr>
                      <a:r>
                        <a:rPr lang="en-US" sz="1150" b="1" dirty="0">
                          <a:solidFill>
                            <a:srgbClr val="0F172A"/>
                          </a:solidFill>
                          <a:latin typeface="Cambria" pitchFamily="34" charset="0"/>
                          <a:ea typeface="Cambria" pitchFamily="34" charset="-122"/>
                          <a:cs typeface="Cambria" pitchFamily="34" charset="-120"/>
                        </a:rPr>
                        <a:t>Ergebnis</a:t>
                      </a:r>
                      <a:endParaRPr lang="en-US" sz="1150" dirty="0">
                        <a:latin typeface="Cambria" charset="0"/>
                        <a:ea typeface="Cambria" charset="0"/>
                        <a:cs typeface="Cambria"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1150" dirty="0">
                          <a:solidFill>
                            <a:srgbClr val="1E293B"/>
                          </a:solidFill>
                          <a:latin typeface="Calibri" pitchFamily="34" charset="0"/>
                          <a:ea typeface="Calibri" pitchFamily="34" charset="-122"/>
                          <a:cs typeface="Calibri" pitchFamily="34" charset="-120"/>
                        </a:rPr>
                        <a:t>Boolesche Treffermenge</a:t>
                      </a:r>
                      <a:endParaRPr lang="en-US" sz="11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1150" dirty="0">
                          <a:solidFill>
                            <a:srgbClr val="1E293B"/>
                          </a:solidFill>
                          <a:latin typeface="Calibri" pitchFamily="34" charset="0"/>
                          <a:ea typeface="Calibri" pitchFamily="34" charset="-122"/>
                          <a:cs typeface="Calibri" pitchFamily="34" charset="-120"/>
                        </a:rPr>
                        <a:t>Nach Relevanz sortierte Liste</a:t>
                      </a:r>
                      <a:endParaRPr lang="en-US" sz="11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extLst>
                  <a:ext uri="{0D108BD9-81ED-4DB2-BD59-A6C34878D82A}">
                    <a16:rowId xmlns:a16="http://schemas.microsoft.com/office/drawing/2014/main" val="10005"/>
                  </a:ext>
                </a:extLst>
              </a:tr>
            </a:tbl>
          </a:graphicData>
        </a:graphic>
      </p:graphicFrame>
      <p:sp>
        <p:nvSpPr>
          <p:cNvPr id="29" name="Text 3">
            <a:extLst>
              <a:ext uri="{FF2B5EF4-FFF2-40B4-BE49-F238E27FC236}">
                <a16:creationId xmlns:a16="http://schemas.microsoft.com/office/drawing/2014/main" id="{D4920705-F8DB-4504-94A9-BB4BF7915766}"/>
              </a:ext>
            </a:extLst>
          </p:cNvPr>
          <p:cNvSpPr/>
          <p:nvPr/>
        </p:nvSpPr>
        <p:spPr>
          <a:xfrm>
            <a:off x="6377938" y="1417320"/>
            <a:ext cx="2448905" cy="320040"/>
          </a:xfrm>
          <a:prstGeom prst="rect">
            <a:avLst/>
          </a:prstGeom>
          <a:noFill/>
          <a:ln/>
        </p:spPr>
        <p:txBody>
          <a:bodyPr wrap="square" lIns="0" tIns="0" rIns="0" bIns="0" rtlCol="0" anchor="ctr"/>
          <a:lstStyle/>
          <a:p>
            <a:pPr marL="0" indent="0">
              <a:buNone/>
            </a:pPr>
            <a:r>
              <a:rPr lang="en-US" sz="1200" b="1" dirty="0">
                <a:solidFill>
                  <a:srgbClr val="0F172A"/>
                </a:solidFill>
                <a:latin typeface="Cambria" pitchFamily="34" charset="0"/>
                <a:ea typeface="Cambria" pitchFamily="34" charset="-122"/>
                <a:cs typeface="Cambria" pitchFamily="34" charset="-120"/>
              </a:rPr>
              <a:t>Beispiel­eintrag in einer Vektor-DB</a:t>
            </a:r>
            <a:endParaRPr lang="en-US" sz="1200" dirty="0"/>
          </a:p>
        </p:txBody>
      </p:sp>
      <p:sp>
        <p:nvSpPr>
          <p:cNvPr id="43" name="Shape 4">
            <a:extLst>
              <a:ext uri="{FF2B5EF4-FFF2-40B4-BE49-F238E27FC236}">
                <a16:creationId xmlns:a16="http://schemas.microsoft.com/office/drawing/2014/main" id="{D8A2D465-5DDA-442F-B0EA-8BB0F3E84FDC}"/>
              </a:ext>
            </a:extLst>
          </p:cNvPr>
          <p:cNvSpPr/>
          <p:nvPr/>
        </p:nvSpPr>
        <p:spPr>
          <a:xfrm>
            <a:off x="6400800" y="1783081"/>
            <a:ext cx="2331720" cy="1938528"/>
          </a:xfrm>
          <a:prstGeom prst="rect">
            <a:avLst/>
          </a:prstGeom>
          <a:solidFill>
            <a:srgbClr val="1E293B"/>
          </a:solidFill>
          <a:ln w="12700">
            <a:solidFill>
              <a:srgbClr val="1E293B"/>
            </a:solidFill>
            <a:prstDash val="solid"/>
          </a:ln>
        </p:spPr>
      </p:sp>
      <p:sp>
        <p:nvSpPr>
          <p:cNvPr id="44" name="Text 5">
            <a:extLst>
              <a:ext uri="{FF2B5EF4-FFF2-40B4-BE49-F238E27FC236}">
                <a16:creationId xmlns:a16="http://schemas.microsoft.com/office/drawing/2014/main" id="{9D569B2F-1AFD-4FE2-9AE3-EE09D6931797}"/>
              </a:ext>
            </a:extLst>
          </p:cNvPr>
          <p:cNvSpPr/>
          <p:nvPr/>
        </p:nvSpPr>
        <p:spPr>
          <a:xfrm>
            <a:off x="6457950" y="1846557"/>
            <a:ext cx="2228850" cy="1819922"/>
          </a:xfrm>
          <a:prstGeom prst="rect">
            <a:avLst/>
          </a:prstGeom>
          <a:noFill/>
          <a:ln/>
        </p:spPr>
        <p:txBody>
          <a:bodyPr wrap="square" lIns="0" tIns="0" rIns="0" bIns="0" rtlCol="0" anchor="ctr"/>
          <a:lstStyle/>
          <a:p>
            <a:pPr marL="0" indent="0">
              <a:lnSpc>
                <a:spcPct val="135000"/>
              </a:lnSpc>
              <a:buNone/>
            </a:pPr>
            <a:r>
              <a:rPr lang="en-US" sz="950" dirty="0">
                <a:solidFill>
                  <a:srgbClr val="E2E8F0"/>
                </a:solidFill>
                <a:latin typeface="Consolas" pitchFamily="34" charset="0"/>
                <a:ea typeface="Consolas" pitchFamily="34" charset="-122"/>
                <a:cs typeface="Consolas" pitchFamily="34" charset="-120"/>
              </a:rPr>
              <a:t>{</a:t>
            </a:r>
            <a:endParaRPr lang="en-US" sz="950" dirty="0"/>
          </a:p>
          <a:p>
            <a:pPr marL="0" indent="0">
              <a:lnSpc>
                <a:spcPct val="135000"/>
              </a:lnSpc>
              <a:buNone/>
            </a:pPr>
            <a:r>
              <a:rPr lang="en-US" sz="950" dirty="0">
                <a:solidFill>
                  <a:srgbClr val="93C5FD"/>
                </a:solidFill>
                <a:latin typeface="Consolas" pitchFamily="34" charset="0"/>
                <a:ea typeface="Consolas" pitchFamily="34" charset="-122"/>
                <a:cs typeface="Consolas" pitchFamily="34" charset="-120"/>
              </a:rPr>
              <a:t>  "id"</a:t>
            </a:r>
            <a:r>
              <a:rPr lang="en-US" sz="950" dirty="0">
                <a:solidFill>
                  <a:srgbClr val="FDE68A"/>
                </a:solidFill>
                <a:latin typeface="Consolas" pitchFamily="34" charset="0"/>
                <a:ea typeface="Consolas" pitchFamily="34" charset="-122"/>
                <a:cs typeface="Consolas" pitchFamily="34" charset="-120"/>
              </a:rPr>
              <a:t>: "chunk_0421",</a:t>
            </a:r>
            <a:endParaRPr lang="en-US" sz="950" dirty="0"/>
          </a:p>
          <a:p>
            <a:pPr marL="0" indent="0">
              <a:lnSpc>
                <a:spcPct val="135000"/>
              </a:lnSpc>
              <a:buNone/>
            </a:pPr>
            <a:r>
              <a:rPr lang="en-US" sz="950" dirty="0">
                <a:solidFill>
                  <a:srgbClr val="93C5FD"/>
                </a:solidFill>
                <a:latin typeface="Consolas" pitchFamily="34" charset="0"/>
                <a:ea typeface="Consolas" pitchFamily="34" charset="-122"/>
                <a:cs typeface="Consolas" pitchFamily="34" charset="-120"/>
              </a:rPr>
              <a:t>  "vector"</a:t>
            </a:r>
            <a:r>
              <a:rPr lang="en-US" sz="950" dirty="0">
                <a:solidFill>
                  <a:srgbClr val="E2E8F0"/>
                </a:solidFill>
                <a:latin typeface="Consolas" pitchFamily="34" charset="0"/>
                <a:ea typeface="Consolas" pitchFamily="34" charset="-122"/>
                <a:cs typeface="Consolas" pitchFamily="34" charset="-120"/>
              </a:rPr>
              <a:t>: </a:t>
            </a:r>
            <a:r>
              <a:rPr lang="en-US" sz="950" dirty="0">
                <a:solidFill>
                  <a:srgbClr val="FDE68A"/>
                </a:solidFill>
                <a:latin typeface="Consolas" pitchFamily="34" charset="0"/>
                <a:ea typeface="Consolas" pitchFamily="34" charset="-122"/>
                <a:cs typeface="Consolas" pitchFamily="34" charset="-120"/>
              </a:rPr>
              <a:t>[0.21, -0.05,</a:t>
            </a:r>
            <a:r>
              <a:rPr lang="en-US" sz="950" dirty="0">
                <a:solidFill>
                  <a:srgbClr val="94A3B8"/>
                </a:solidFill>
                <a:latin typeface="Consolas" pitchFamily="34" charset="0"/>
                <a:ea typeface="Consolas" pitchFamily="34" charset="-122"/>
                <a:cs typeface="Consolas" pitchFamily="34" charset="-120"/>
              </a:rPr>
              <a:t> …],</a:t>
            </a:r>
            <a:endParaRPr lang="en-US" sz="950" dirty="0"/>
          </a:p>
          <a:p>
            <a:pPr marL="0" indent="0">
              <a:lnSpc>
                <a:spcPct val="135000"/>
              </a:lnSpc>
              <a:buNone/>
            </a:pPr>
            <a:r>
              <a:rPr lang="en-US" sz="950" dirty="0">
                <a:solidFill>
                  <a:srgbClr val="93C5FD"/>
                </a:solidFill>
                <a:latin typeface="Consolas" pitchFamily="34" charset="0"/>
                <a:ea typeface="Consolas" pitchFamily="34" charset="-122"/>
                <a:cs typeface="Consolas" pitchFamily="34" charset="-120"/>
              </a:rPr>
              <a:t>  "payload"</a:t>
            </a:r>
            <a:r>
              <a:rPr lang="en-US" sz="950" dirty="0">
                <a:solidFill>
                  <a:srgbClr val="E2E8F0"/>
                </a:solidFill>
                <a:latin typeface="Consolas" pitchFamily="34" charset="0"/>
                <a:ea typeface="Consolas" pitchFamily="34" charset="-122"/>
                <a:cs typeface="Consolas" pitchFamily="34" charset="-120"/>
              </a:rPr>
              <a:t>: {</a:t>
            </a:r>
            <a:endParaRPr lang="en-US" sz="950" dirty="0"/>
          </a:p>
          <a:p>
            <a:pPr marL="0" indent="0">
              <a:lnSpc>
                <a:spcPct val="135000"/>
              </a:lnSpc>
              <a:buNone/>
            </a:pPr>
            <a:r>
              <a:rPr lang="en-US" sz="950" dirty="0">
                <a:solidFill>
                  <a:srgbClr val="93C5FD"/>
                </a:solidFill>
                <a:latin typeface="Consolas" pitchFamily="34" charset="0"/>
                <a:ea typeface="Consolas" pitchFamily="34" charset="-122"/>
                <a:cs typeface="Consolas" pitchFamily="34" charset="-120"/>
              </a:rPr>
              <a:t>    "text"</a:t>
            </a:r>
            <a:r>
              <a:rPr lang="en-US" sz="950" dirty="0">
                <a:solidFill>
                  <a:srgbClr val="FDE68A"/>
                </a:solidFill>
                <a:latin typeface="Consolas" pitchFamily="34" charset="0"/>
                <a:ea typeface="Consolas" pitchFamily="34" charset="-122"/>
                <a:cs typeface="Consolas" pitchFamily="34" charset="-120"/>
              </a:rPr>
              <a:t>: "Die Produktions­kosten…",</a:t>
            </a:r>
            <a:endParaRPr lang="en-US" sz="950" dirty="0"/>
          </a:p>
          <a:p>
            <a:pPr marL="0" indent="0">
              <a:lnSpc>
                <a:spcPct val="135000"/>
              </a:lnSpc>
              <a:buNone/>
            </a:pPr>
            <a:r>
              <a:rPr lang="en-US" sz="950" dirty="0">
                <a:solidFill>
                  <a:srgbClr val="93C5FD"/>
                </a:solidFill>
                <a:latin typeface="Consolas" pitchFamily="34" charset="0"/>
                <a:ea typeface="Consolas" pitchFamily="34" charset="-122"/>
                <a:cs typeface="Consolas" pitchFamily="34" charset="-120"/>
              </a:rPr>
              <a:t>    "quelle"</a:t>
            </a:r>
            <a:r>
              <a:rPr lang="en-US" sz="950" dirty="0">
                <a:solidFill>
                  <a:srgbClr val="FDE68A"/>
                </a:solidFill>
                <a:latin typeface="Consolas" pitchFamily="34" charset="0"/>
                <a:ea typeface="Consolas" pitchFamily="34" charset="-122"/>
                <a:cs typeface="Consolas" pitchFamily="34" charset="-120"/>
              </a:rPr>
              <a:t>: "reportQ3.pdf"</a:t>
            </a:r>
            <a:endParaRPr lang="en-US" sz="950" dirty="0"/>
          </a:p>
          <a:p>
            <a:pPr marL="0" indent="0">
              <a:lnSpc>
                <a:spcPct val="135000"/>
              </a:lnSpc>
              <a:buNone/>
            </a:pPr>
            <a:r>
              <a:rPr lang="en-US" sz="950" dirty="0">
                <a:solidFill>
                  <a:srgbClr val="E2E8F0"/>
                </a:solidFill>
                <a:latin typeface="Consolas" pitchFamily="34" charset="0"/>
                <a:ea typeface="Consolas" pitchFamily="34" charset="-122"/>
                <a:cs typeface="Consolas" pitchFamily="34" charset="-120"/>
              </a:rPr>
              <a:t>  }</a:t>
            </a:r>
            <a:endParaRPr lang="en-US" sz="950" dirty="0"/>
          </a:p>
          <a:p>
            <a:pPr marL="0" indent="0">
              <a:lnSpc>
                <a:spcPct val="135000"/>
              </a:lnSpc>
              <a:buNone/>
            </a:pPr>
            <a:r>
              <a:rPr lang="en-US" sz="950" dirty="0">
                <a:solidFill>
                  <a:srgbClr val="E2E8F0"/>
                </a:solidFill>
                <a:latin typeface="Consolas" pitchFamily="34" charset="0"/>
                <a:ea typeface="Consolas" pitchFamily="34" charset="-122"/>
                <a:cs typeface="Consolas" pitchFamily="34" charset="-120"/>
              </a:rPr>
              <a:t>}</a:t>
            </a:r>
            <a:endParaRPr lang="en-US" sz="950" dirty="0"/>
          </a:p>
        </p:txBody>
      </p:sp>
      <p:sp>
        <p:nvSpPr>
          <p:cNvPr id="45" name="Text 6">
            <a:extLst>
              <a:ext uri="{FF2B5EF4-FFF2-40B4-BE49-F238E27FC236}">
                <a16:creationId xmlns:a16="http://schemas.microsoft.com/office/drawing/2014/main" id="{4D5229A0-37CC-486B-8E08-BA9C067A5AFD}"/>
              </a:ext>
            </a:extLst>
          </p:cNvPr>
          <p:cNvSpPr/>
          <p:nvPr/>
        </p:nvSpPr>
        <p:spPr>
          <a:xfrm>
            <a:off x="457200" y="3931200"/>
            <a:ext cx="5943600" cy="274320"/>
          </a:xfrm>
          <a:prstGeom prst="rect">
            <a:avLst/>
          </a:prstGeom>
          <a:noFill/>
          <a:ln/>
        </p:spPr>
        <p:txBody>
          <a:bodyPr wrap="square" lIns="0" tIns="0" rIns="0" bIns="0" rtlCol="0" anchor="ctr"/>
          <a:lstStyle/>
          <a:p>
            <a:pPr marL="0" indent="0" algn="l">
              <a:buNone/>
            </a:pPr>
            <a:r>
              <a:rPr lang="en-US" sz="1200" dirty="0">
                <a:solidFill>
                  <a:srgbClr val="F97316"/>
                </a:solidFill>
                <a:latin typeface="Calibri" pitchFamily="34" charset="0"/>
                <a:ea typeface="Calibri" pitchFamily="34" charset="-122"/>
                <a:cs typeface="Calibri" pitchFamily="34" charset="-120"/>
              </a:rPr>
              <a:t>Vektor-DBs beantworten die Frage </a:t>
            </a:r>
            <a:r>
              <a:rPr lang="en-US" sz="1200" b="1" dirty="0">
                <a:solidFill>
                  <a:srgbClr val="F97316"/>
                </a:solidFill>
                <a:latin typeface="Calibri" pitchFamily="34" charset="0"/>
                <a:ea typeface="Calibri" pitchFamily="34" charset="-122"/>
                <a:cs typeface="Calibri" pitchFamily="34" charset="-120"/>
              </a:rPr>
              <a:t>„Was ist </a:t>
            </a:r>
            <a:r>
              <a:rPr lang="en-US" sz="1200" b="1" dirty="0" err="1">
                <a:solidFill>
                  <a:srgbClr val="F97316"/>
                </a:solidFill>
                <a:latin typeface="Calibri" pitchFamily="34" charset="0"/>
                <a:ea typeface="Calibri" pitchFamily="34" charset="-122"/>
                <a:cs typeface="Calibri" pitchFamily="34" charset="-120"/>
              </a:rPr>
              <a:t>ähnlich</a:t>
            </a:r>
            <a:r>
              <a:rPr lang="en-US" sz="1200" b="1" dirty="0">
                <a:solidFill>
                  <a:srgbClr val="F97316"/>
                </a:solidFill>
                <a:latin typeface="Calibri" pitchFamily="34" charset="0"/>
                <a:ea typeface="Calibri" pitchFamily="34" charset="-122"/>
                <a:cs typeface="Calibri" pitchFamily="34" charset="-120"/>
              </a:rPr>
              <a:t>?“</a:t>
            </a:r>
            <a:r>
              <a:rPr lang="en-US" sz="1200" dirty="0">
                <a:solidFill>
                  <a:srgbClr val="F97316"/>
                </a:solidFill>
                <a:latin typeface="Calibri" pitchFamily="34" charset="0"/>
                <a:ea typeface="Calibri" pitchFamily="34" charset="-122"/>
                <a:cs typeface="Calibri" pitchFamily="34" charset="-120"/>
              </a:rPr>
              <a:t>, nicht „Was ist gleich?".</a:t>
            </a:r>
            <a:endParaRPr lang="en-US" sz="1200" dirty="0"/>
          </a:p>
        </p:txBody>
      </p:sp>
      <p:sp>
        <p:nvSpPr>
          <p:cNvPr id="3" name="Textfeld 2">
            <a:extLst>
              <a:ext uri="{FF2B5EF4-FFF2-40B4-BE49-F238E27FC236}">
                <a16:creationId xmlns:a16="http://schemas.microsoft.com/office/drawing/2014/main" id="{25662329-CC5E-467E-9780-CB1FE55FF814}"/>
              </a:ext>
            </a:extLst>
          </p:cNvPr>
          <p:cNvSpPr txBox="1"/>
          <p:nvPr/>
        </p:nvSpPr>
        <p:spPr>
          <a:xfrm>
            <a:off x="6377938" y="3729955"/>
            <a:ext cx="369012" cy="215444"/>
          </a:xfrm>
          <a:prstGeom prst="rect">
            <a:avLst/>
          </a:prstGeom>
          <a:noFill/>
        </p:spPr>
        <p:txBody>
          <a:bodyPr wrap="none" rtlCol="0">
            <a:spAutoFit/>
          </a:bodyPr>
          <a:lstStyle/>
          <a:p>
            <a:r>
              <a:rPr lang="de-DE" sz="800" dirty="0">
                <a:solidFill>
                  <a:schemeClr val="bg1">
                    <a:lumMod val="65000"/>
                  </a:schemeClr>
                </a:solidFill>
              </a:rPr>
              <a:t>[Q6]</a:t>
            </a:r>
          </a:p>
        </p:txBody>
      </p:sp>
    </p:spTree>
    <p:extLst>
      <p:ext uri="{BB962C8B-B14F-4D97-AF65-F5344CB8AC3E}">
        <p14:creationId xmlns:p14="http://schemas.microsoft.com/office/powerpoint/2010/main" val="33386121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67E8333-A12F-461B-8F36-964EF2A4A284}"/>
              </a:ext>
            </a:extLst>
          </p:cNvPr>
          <p:cNvSpPr>
            <a:spLocks noGrp="1"/>
          </p:cNvSpPr>
          <p:nvPr>
            <p:ph type="title"/>
          </p:nvPr>
        </p:nvSpPr>
        <p:spPr>
          <a:xfrm>
            <a:off x="326356" y="382496"/>
            <a:ext cx="6549399" cy="359255"/>
          </a:xfrm>
        </p:spPr>
        <p:txBody>
          <a:bodyPr>
            <a:normAutofit fontScale="90000"/>
          </a:bodyPr>
          <a:lstStyle/>
          <a:p>
            <a:pPr marL="0" indent="0">
              <a:buNone/>
            </a:pPr>
            <a:r>
              <a:rPr lang="en-US" sz="3200" b="1" dirty="0">
                <a:solidFill>
                  <a:srgbClr val="0F172A"/>
                </a:solidFill>
                <a:latin typeface="Cambria" pitchFamily="34" charset="0"/>
                <a:ea typeface="Cambria" pitchFamily="34" charset="-122"/>
                <a:cs typeface="Cambria" pitchFamily="34" charset="-120"/>
              </a:rPr>
              <a:t>Retrieval</a:t>
            </a:r>
            <a:endParaRPr lang="en-US" sz="3200" dirty="0"/>
          </a:p>
        </p:txBody>
      </p:sp>
      <p:sp>
        <p:nvSpPr>
          <p:cNvPr id="6" name="Rechteck 5">
            <a:extLst>
              <a:ext uri="{FF2B5EF4-FFF2-40B4-BE49-F238E27FC236}">
                <a16:creationId xmlns:a16="http://schemas.microsoft.com/office/drawing/2014/main" id="{9B1134CE-53FF-4066-B059-D6ACA70914F2}"/>
              </a:ext>
            </a:extLst>
          </p:cNvPr>
          <p:cNvSpPr/>
          <p:nvPr/>
        </p:nvSpPr>
        <p:spPr>
          <a:xfrm>
            <a:off x="452981" y="1083791"/>
            <a:ext cx="383507" cy="52083"/>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013"/>
          </a:p>
        </p:txBody>
      </p:sp>
      <p:sp>
        <p:nvSpPr>
          <p:cNvPr id="7" name="Titel 1">
            <a:extLst>
              <a:ext uri="{FF2B5EF4-FFF2-40B4-BE49-F238E27FC236}">
                <a16:creationId xmlns:a16="http://schemas.microsoft.com/office/drawing/2014/main" id="{8C89B5C6-61EC-420A-A7BF-D697C040511D}"/>
              </a:ext>
            </a:extLst>
          </p:cNvPr>
          <p:cNvSpPr txBox="1">
            <a:spLocks/>
          </p:cNvSpPr>
          <p:nvPr/>
        </p:nvSpPr>
        <p:spPr>
          <a:xfrm>
            <a:off x="366329" y="688385"/>
            <a:ext cx="4292206" cy="359255"/>
          </a:xfrm>
          <a:prstGeom prst="rect">
            <a:avLst/>
          </a:prstGeom>
        </p:spPr>
        <p:txBody>
          <a:bodyPr vert="horz" lIns="68580" tIns="34290" rIns="68580" bIns="3429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sz="1500" dirty="0">
                <a:solidFill>
                  <a:srgbClr val="0F172A"/>
                </a:solidFill>
                <a:latin typeface="Calibri Light" panose="020F0302020204030204" pitchFamily="34" charset="0"/>
                <a:ea typeface="Calibri Light" panose="020F0302020204030204" pitchFamily="34" charset="0"/>
                <a:cs typeface="Calibri Light" panose="020F0302020204030204" pitchFamily="34" charset="0"/>
              </a:rPr>
              <a:t>Ingestion &amp; Retrieval – Ein Überblick mit Vektor-DB</a:t>
            </a:r>
          </a:p>
        </p:txBody>
      </p:sp>
      <p:sp>
        <p:nvSpPr>
          <p:cNvPr id="76" name="Datumsplatzhalter 75">
            <a:extLst>
              <a:ext uri="{FF2B5EF4-FFF2-40B4-BE49-F238E27FC236}">
                <a16:creationId xmlns:a16="http://schemas.microsoft.com/office/drawing/2014/main" id="{FB534BCA-17DB-4EBE-9103-31EF5969BBD5}"/>
              </a:ext>
            </a:extLst>
          </p:cNvPr>
          <p:cNvSpPr>
            <a:spLocks noGrp="1"/>
          </p:cNvSpPr>
          <p:nvPr>
            <p:ph type="dt" sz="half" idx="10"/>
          </p:nvPr>
        </p:nvSpPr>
        <p:spPr>
          <a:xfrm>
            <a:off x="347840" y="4807006"/>
            <a:ext cx="2338210" cy="273844"/>
          </a:xfrm>
        </p:spPr>
        <p:txBody>
          <a:bodyPr/>
          <a:lstStyle/>
          <a:p>
            <a:fld id="{0D05602C-25EE-48A8-8786-3C51BA41DB9E}" type="datetime1">
              <a:rPr lang="de-DE"/>
              <a:t>04.05.2026</a:t>
            </a:fld>
            <a:endParaRPr lang="de-DE" dirty="0"/>
          </a:p>
        </p:txBody>
      </p:sp>
      <p:sp>
        <p:nvSpPr>
          <p:cNvPr id="77" name="Fußzeilenplatzhalter 76">
            <a:extLst>
              <a:ext uri="{FF2B5EF4-FFF2-40B4-BE49-F238E27FC236}">
                <a16:creationId xmlns:a16="http://schemas.microsoft.com/office/drawing/2014/main" id="{10A96F6C-9081-4668-9382-F92081EE73D0}"/>
              </a:ext>
            </a:extLst>
          </p:cNvPr>
          <p:cNvSpPr>
            <a:spLocks noGrp="1"/>
          </p:cNvSpPr>
          <p:nvPr>
            <p:ph type="ftr" sz="quarter" idx="11"/>
          </p:nvPr>
        </p:nvSpPr>
        <p:spPr>
          <a:xfrm>
            <a:off x="2686050" y="4807006"/>
            <a:ext cx="3812404" cy="273844"/>
          </a:xfrm>
        </p:spPr>
        <p:txBody>
          <a:bodyPr/>
          <a:lstStyle/>
          <a:p>
            <a:r>
              <a:rPr lang="de-DE" dirty="0"/>
              <a:t>Vektordatenbanken </a:t>
            </a:r>
            <a:r>
              <a:rPr lang="en-US" dirty="0"/>
              <a:t>· </a:t>
            </a:r>
            <a:r>
              <a:rPr lang="en-US" dirty="0" err="1"/>
              <a:t>Studienprojekt</a:t>
            </a:r>
            <a:r>
              <a:rPr lang="en-US" dirty="0"/>
              <a:t> Reverse Chatbots</a:t>
            </a:r>
            <a:endParaRPr lang="de-DE" dirty="0"/>
          </a:p>
        </p:txBody>
      </p:sp>
      <p:sp>
        <p:nvSpPr>
          <p:cNvPr id="78" name="Foliennummernplatzhalter 77">
            <a:extLst>
              <a:ext uri="{FF2B5EF4-FFF2-40B4-BE49-F238E27FC236}">
                <a16:creationId xmlns:a16="http://schemas.microsoft.com/office/drawing/2014/main" id="{2B507CAF-8A2B-4670-8A8F-519A0AECCF4A}"/>
              </a:ext>
            </a:extLst>
          </p:cNvPr>
          <p:cNvSpPr>
            <a:spLocks noGrp="1"/>
          </p:cNvSpPr>
          <p:nvPr>
            <p:ph type="sldNum" sz="quarter" idx="12"/>
          </p:nvPr>
        </p:nvSpPr>
        <p:spPr>
          <a:xfrm>
            <a:off x="6457950" y="4807006"/>
            <a:ext cx="2338210" cy="273844"/>
          </a:xfrm>
        </p:spPr>
        <p:txBody>
          <a:bodyPr/>
          <a:lstStyle/>
          <a:p>
            <a:fld id="{0E836345-B243-4000-8050-9A1A9D10D9C9}" type="slidenum">
              <a:rPr lang="de-DE" smtClean="0"/>
              <a:t>7</a:t>
            </a:fld>
            <a:r>
              <a:rPr lang="de-DE" dirty="0"/>
              <a:t> / 12</a:t>
            </a:r>
          </a:p>
        </p:txBody>
      </p:sp>
      <p:sp>
        <p:nvSpPr>
          <p:cNvPr id="4" name="Textfeld 3">
            <a:extLst>
              <a:ext uri="{FF2B5EF4-FFF2-40B4-BE49-F238E27FC236}">
                <a16:creationId xmlns:a16="http://schemas.microsoft.com/office/drawing/2014/main" id="{F69F2213-6D6A-4A6F-9F11-AC5D85CF1F99}"/>
              </a:ext>
            </a:extLst>
          </p:cNvPr>
          <p:cNvSpPr txBox="1"/>
          <p:nvPr/>
        </p:nvSpPr>
        <p:spPr>
          <a:xfrm>
            <a:off x="381740" y="1542328"/>
            <a:ext cx="7752658" cy="923330"/>
          </a:xfrm>
          <a:prstGeom prst="rect">
            <a:avLst/>
          </a:prstGeom>
          <a:noFill/>
        </p:spPr>
        <p:txBody>
          <a:bodyPr wrap="square" rtlCol="0">
            <a:spAutoFit/>
          </a:bodyPr>
          <a:lstStyle/>
          <a:p>
            <a:r>
              <a:rPr lang="de-DE" dirty="0">
                <a:hlinkClick r:id="rId3"/>
              </a:rPr>
              <a:t>Web-Illustration</a:t>
            </a:r>
            <a:endParaRPr lang="de-DE" dirty="0"/>
          </a:p>
          <a:p>
            <a:pPr marL="285750" indent="-285750">
              <a:buFontTx/>
              <a:buChar char="-"/>
            </a:pPr>
            <a:endParaRPr lang="de-DE" dirty="0"/>
          </a:p>
          <a:p>
            <a:pPr marL="285750" indent="-285750">
              <a:buFontTx/>
              <a:buChar char="-"/>
            </a:pPr>
            <a:endParaRPr lang="de-DE" b="1" dirty="0"/>
          </a:p>
        </p:txBody>
      </p:sp>
    </p:spTree>
    <p:extLst>
      <p:ext uri="{BB962C8B-B14F-4D97-AF65-F5344CB8AC3E}">
        <p14:creationId xmlns:p14="http://schemas.microsoft.com/office/powerpoint/2010/main" val="26732572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67E8333-A12F-461B-8F36-964EF2A4A284}"/>
              </a:ext>
            </a:extLst>
          </p:cNvPr>
          <p:cNvSpPr>
            <a:spLocks noGrp="1"/>
          </p:cNvSpPr>
          <p:nvPr>
            <p:ph type="title"/>
          </p:nvPr>
        </p:nvSpPr>
        <p:spPr>
          <a:xfrm>
            <a:off x="326356" y="382496"/>
            <a:ext cx="6549399" cy="359255"/>
          </a:xfrm>
        </p:spPr>
        <p:txBody>
          <a:bodyPr>
            <a:normAutofit fontScale="90000"/>
          </a:bodyPr>
          <a:lstStyle/>
          <a:p>
            <a:pPr marL="0" indent="0">
              <a:buNone/>
            </a:pPr>
            <a:r>
              <a:rPr lang="en-US" sz="3200" b="1" dirty="0">
                <a:solidFill>
                  <a:srgbClr val="0F172A"/>
                </a:solidFill>
                <a:latin typeface="Cambria" pitchFamily="34" charset="0"/>
                <a:ea typeface="Cambria" pitchFamily="34" charset="-122"/>
                <a:cs typeface="Cambria" pitchFamily="34" charset="-120"/>
              </a:rPr>
              <a:t>Wo </a:t>
            </a:r>
            <a:r>
              <a:rPr lang="en-US" sz="3200" b="1" dirty="0" err="1">
                <a:solidFill>
                  <a:srgbClr val="0F172A"/>
                </a:solidFill>
                <a:latin typeface="Cambria" pitchFamily="34" charset="0"/>
                <a:ea typeface="Cambria" pitchFamily="34" charset="-122"/>
                <a:cs typeface="Cambria" pitchFamily="34" charset="-120"/>
              </a:rPr>
              <a:t>Vektorsuche</a:t>
            </a:r>
            <a:r>
              <a:rPr lang="en-US" sz="3200" b="1" dirty="0">
                <a:solidFill>
                  <a:srgbClr val="0F172A"/>
                </a:solidFill>
                <a:latin typeface="Cambria" pitchFamily="34" charset="0"/>
                <a:ea typeface="Cambria" pitchFamily="34" charset="-122"/>
                <a:cs typeface="Cambria" pitchFamily="34" charset="-120"/>
              </a:rPr>
              <a:t> </a:t>
            </a:r>
            <a:r>
              <a:rPr lang="en-US" sz="3200" b="1" dirty="0" err="1">
                <a:solidFill>
                  <a:srgbClr val="0F172A"/>
                </a:solidFill>
                <a:latin typeface="Cambria" pitchFamily="34" charset="0"/>
                <a:ea typeface="Cambria" pitchFamily="34" charset="-122"/>
                <a:cs typeface="Cambria" pitchFamily="34" charset="-120"/>
              </a:rPr>
              <a:t>allein</a:t>
            </a:r>
            <a:r>
              <a:rPr lang="en-US" sz="3200" b="1" dirty="0">
                <a:solidFill>
                  <a:srgbClr val="0F172A"/>
                </a:solidFill>
                <a:latin typeface="Cambria" pitchFamily="34" charset="0"/>
                <a:ea typeface="Cambria" pitchFamily="34" charset="-122"/>
                <a:cs typeface="Cambria" pitchFamily="34" charset="-120"/>
              </a:rPr>
              <a:t> </a:t>
            </a:r>
            <a:r>
              <a:rPr lang="en-US" sz="3200" b="1" dirty="0" err="1">
                <a:solidFill>
                  <a:srgbClr val="0F172A"/>
                </a:solidFill>
                <a:latin typeface="Cambria" pitchFamily="34" charset="0"/>
                <a:ea typeface="Cambria" pitchFamily="34" charset="-122"/>
                <a:cs typeface="Cambria" pitchFamily="34" charset="-120"/>
              </a:rPr>
              <a:t>versagt</a:t>
            </a:r>
            <a:endParaRPr lang="en-US" sz="3200" dirty="0"/>
          </a:p>
        </p:txBody>
      </p:sp>
      <p:sp>
        <p:nvSpPr>
          <p:cNvPr id="6" name="Rechteck 5">
            <a:extLst>
              <a:ext uri="{FF2B5EF4-FFF2-40B4-BE49-F238E27FC236}">
                <a16:creationId xmlns:a16="http://schemas.microsoft.com/office/drawing/2014/main" id="{9B1134CE-53FF-4066-B059-D6ACA70914F2}"/>
              </a:ext>
            </a:extLst>
          </p:cNvPr>
          <p:cNvSpPr/>
          <p:nvPr/>
        </p:nvSpPr>
        <p:spPr>
          <a:xfrm>
            <a:off x="452981" y="1083791"/>
            <a:ext cx="383507" cy="52083"/>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013"/>
          </a:p>
        </p:txBody>
      </p:sp>
      <p:sp>
        <p:nvSpPr>
          <p:cNvPr id="7" name="Titel 1">
            <a:extLst>
              <a:ext uri="{FF2B5EF4-FFF2-40B4-BE49-F238E27FC236}">
                <a16:creationId xmlns:a16="http://schemas.microsoft.com/office/drawing/2014/main" id="{8C89B5C6-61EC-420A-A7BF-D697C040511D}"/>
              </a:ext>
            </a:extLst>
          </p:cNvPr>
          <p:cNvSpPr txBox="1">
            <a:spLocks/>
          </p:cNvSpPr>
          <p:nvPr/>
        </p:nvSpPr>
        <p:spPr>
          <a:xfrm>
            <a:off x="371466" y="688385"/>
            <a:ext cx="4292206" cy="359255"/>
          </a:xfrm>
          <a:prstGeom prst="rect">
            <a:avLst/>
          </a:prstGeom>
        </p:spPr>
        <p:txBody>
          <a:bodyPr vert="horz" lIns="68580" tIns="34290" rIns="68580" bIns="3429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sz="1500" dirty="0">
                <a:solidFill>
                  <a:srgbClr val="0F172A"/>
                </a:solidFill>
                <a:latin typeface="Calibri Light" panose="020F0302020204030204" pitchFamily="34" charset="0"/>
                <a:ea typeface="Calibri Light" panose="020F0302020204030204" pitchFamily="34" charset="0"/>
                <a:cs typeface="Calibri Light" panose="020F0302020204030204" pitchFamily="34" charset="0"/>
              </a:rPr>
              <a:t>Blind-Spots</a:t>
            </a:r>
          </a:p>
        </p:txBody>
      </p:sp>
      <p:sp>
        <p:nvSpPr>
          <p:cNvPr id="76" name="Datumsplatzhalter 75">
            <a:extLst>
              <a:ext uri="{FF2B5EF4-FFF2-40B4-BE49-F238E27FC236}">
                <a16:creationId xmlns:a16="http://schemas.microsoft.com/office/drawing/2014/main" id="{FB534BCA-17DB-4EBE-9103-31EF5969BBD5}"/>
              </a:ext>
            </a:extLst>
          </p:cNvPr>
          <p:cNvSpPr>
            <a:spLocks noGrp="1"/>
          </p:cNvSpPr>
          <p:nvPr>
            <p:ph type="dt" sz="half" idx="10"/>
          </p:nvPr>
        </p:nvSpPr>
        <p:spPr>
          <a:xfrm>
            <a:off x="347840" y="4807006"/>
            <a:ext cx="2338210" cy="273844"/>
          </a:xfrm>
        </p:spPr>
        <p:txBody>
          <a:bodyPr/>
          <a:lstStyle/>
          <a:p>
            <a:fld id="{0D05602C-25EE-48A8-8786-3C51BA41DB9E}" type="datetime1">
              <a:rPr lang="de-DE"/>
              <a:t>04.05.2026</a:t>
            </a:fld>
            <a:endParaRPr lang="de-DE" dirty="0"/>
          </a:p>
        </p:txBody>
      </p:sp>
      <p:sp>
        <p:nvSpPr>
          <p:cNvPr id="77" name="Fußzeilenplatzhalter 76">
            <a:extLst>
              <a:ext uri="{FF2B5EF4-FFF2-40B4-BE49-F238E27FC236}">
                <a16:creationId xmlns:a16="http://schemas.microsoft.com/office/drawing/2014/main" id="{10A96F6C-9081-4668-9382-F92081EE73D0}"/>
              </a:ext>
            </a:extLst>
          </p:cNvPr>
          <p:cNvSpPr>
            <a:spLocks noGrp="1"/>
          </p:cNvSpPr>
          <p:nvPr>
            <p:ph type="ftr" sz="quarter" idx="11"/>
          </p:nvPr>
        </p:nvSpPr>
        <p:spPr>
          <a:xfrm>
            <a:off x="2686050" y="4807006"/>
            <a:ext cx="3812404" cy="273844"/>
          </a:xfrm>
        </p:spPr>
        <p:txBody>
          <a:bodyPr/>
          <a:lstStyle/>
          <a:p>
            <a:r>
              <a:rPr lang="de-DE" dirty="0"/>
              <a:t>Vektordatenbanken </a:t>
            </a:r>
            <a:r>
              <a:rPr lang="en-US" dirty="0"/>
              <a:t>· </a:t>
            </a:r>
            <a:r>
              <a:rPr lang="en-US" dirty="0" err="1"/>
              <a:t>Studienprojekt</a:t>
            </a:r>
            <a:r>
              <a:rPr lang="en-US" dirty="0"/>
              <a:t> Reverse Chatbots</a:t>
            </a:r>
            <a:endParaRPr lang="de-DE" dirty="0"/>
          </a:p>
        </p:txBody>
      </p:sp>
      <p:sp>
        <p:nvSpPr>
          <p:cNvPr id="78" name="Foliennummernplatzhalter 77">
            <a:extLst>
              <a:ext uri="{FF2B5EF4-FFF2-40B4-BE49-F238E27FC236}">
                <a16:creationId xmlns:a16="http://schemas.microsoft.com/office/drawing/2014/main" id="{2B507CAF-8A2B-4670-8A8F-519A0AECCF4A}"/>
              </a:ext>
            </a:extLst>
          </p:cNvPr>
          <p:cNvSpPr>
            <a:spLocks noGrp="1"/>
          </p:cNvSpPr>
          <p:nvPr>
            <p:ph type="sldNum" sz="quarter" idx="12"/>
          </p:nvPr>
        </p:nvSpPr>
        <p:spPr>
          <a:xfrm>
            <a:off x="6457950" y="4807006"/>
            <a:ext cx="2338210" cy="273844"/>
          </a:xfrm>
        </p:spPr>
        <p:txBody>
          <a:bodyPr/>
          <a:lstStyle/>
          <a:p>
            <a:fld id="{0E836345-B243-4000-8050-9A1A9D10D9C9}" type="slidenum">
              <a:rPr lang="de-DE" smtClean="0"/>
              <a:t>8</a:t>
            </a:fld>
            <a:r>
              <a:rPr lang="de-DE" dirty="0"/>
              <a:t> / 12</a:t>
            </a:r>
          </a:p>
        </p:txBody>
      </p:sp>
      <p:sp>
        <p:nvSpPr>
          <p:cNvPr id="13" name="Text 3">
            <a:extLst>
              <a:ext uri="{FF2B5EF4-FFF2-40B4-BE49-F238E27FC236}">
                <a16:creationId xmlns:a16="http://schemas.microsoft.com/office/drawing/2014/main" id="{CC4B1411-F243-43ED-AC65-A653B166E447}"/>
              </a:ext>
            </a:extLst>
          </p:cNvPr>
          <p:cNvSpPr/>
          <p:nvPr/>
        </p:nvSpPr>
        <p:spPr>
          <a:xfrm>
            <a:off x="457200" y="1335492"/>
            <a:ext cx="4114800" cy="274320"/>
          </a:xfrm>
          <a:prstGeom prst="rect">
            <a:avLst/>
          </a:prstGeom>
          <a:noFill/>
          <a:ln/>
        </p:spPr>
        <p:txBody>
          <a:bodyPr wrap="square" lIns="0" tIns="0" rIns="0" bIns="0" rtlCol="0" anchor="ctr"/>
          <a:lstStyle/>
          <a:p>
            <a:pPr marL="0" indent="0">
              <a:buNone/>
            </a:pPr>
            <a:r>
              <a:rPr lang="en-US" sz="1200" b="1" dirty="0">
                <a:solidFill>
                  <a:srgbClr val="0F172A"/>
                </a:solidFill>
                <a:latin typeface="Cambria" pitchFamily="34" charset="0"/>
                <a:ea typeface="Cambria" pitchFamily="34" charset="-122"/>
                <a:cs typeface="Cambria" pitchFamily="34" charset="-120"/>
              </a:rPr>
              <a:t>Szenario:</a:t>
            </a:r>
            <a:endParaRPr lang="en-US" sz="1200" dirty="0"/>
          </a:p>
        </p:txBody>
      </p:sp>
      <p:sp>
        <p:nvSpPr>
          <p:cNvPr id="14" name="Text 4">
            <a:extLst>
              <a:ext uri="{FF2B5EF4-FFF2-40B4-BE49-F238E27FC236}">
                <a16:creationId xmlns:a16="http://schemas.microsoft.com/office/drawing/2014/main" id="{2CB3ACE4-53D1-440E-BFCA-D31ACB90B7BA}"/>
              </a:ext>
            </a:extLst>
          </p:cNvPr>
          <p:cNvSpPr/>
          <p:nvPr/>
        </p:nvSpPr>
        <p:spPr>
          <a:xfrm>
            <a:off x="457200" y="1582380"/>
            <a:ext cx="4114800" cy="274320"/>
          </a:xfrm>
          <a:prstGeom prst="rect">
            <a:avLst/>
          </a:prstGeom>
          <a:noFill/>
          <a:ln/>
        </p:spPr>
        <p:txBody>
          <a:bodyPr wrap="square" lIns="0" tIns="0" rIns="0" bIns="0" rtlCol="0" anchor="ctr"/>
          <a:lstStyle/>
          <a:p>
            <a:pPr marL="0" indent="0">
              <a:buNone/>
            </a:pPr>
            <a:r>
              <a:rPr lang="en-US" sz="1200" i="1" dirty="0">
                <a:solidFill>
                  <a:srgbClr val="475569"/>
                </a:solidFill>
                <a:latin typeface="Calibri" pitchFamily="34" charset="0"/>
                <a:ea typeface="Calibri" pitchFamily="34" charset="-122"/>
                <a:cs typeface="Calibri" pitchFamily="34" charset="-120"/>
              </a:rPr>
              <a:t>Query: „CEO“</a:t>
            </a:r>
            <a:endParaRPr lang="en-US" sz="1200" dirty="0"/>
          </a:p>
        </p:txBody>
      </p:sp>
      <p:sp>
        <p:nvSpPr>
          <p:cNvPr id="15" name="Shape 5">
            <a:extLst>
              <a:ext uri="{FF2B5EF4-FFF2-40B4-BE49-F238E27FC236}">
                <a16:creationId xmlns:a16="http://schemas.microsoft.com/office/drawing/2014/main" id="{A4B8037C-06C3-454E-8129-0B4295DFAD33}"/>
              </a:ext>
            </a:extLst>
          </p:cNvPr>
          <p:cNvSpPr/>
          <p:nvPr/>
        </p:nvSpPr>
        <p:spPr>
          <a:xfrm>
            <a:off x="452981" y="1938996"/>
            <a:ext cx="4114800" cy="2103120"/>
          </a:xfrm>
          <a:prstGeom prst="rect">
            <a:avLst/>
          </a:prstGeom>
          <a:solidFill>
            <a:srgbClr val="F1F5F9"/>
          </a:solidFill>
          <a:ln w="6350">
            <a:solidFill>
              <a:srgbClr val="E2E8F0"/>
            </a:solidFill>
            <a:prstDash val="solid"/>
          </a:ln>
        </p:spPr>
      </p:sp>
      <p:sp>
        <p:nvSpPr>
          <p:cNvPr id="18" name="Shape 8">
            <a:extLst>
              <a:ext uri="{FF2B5EF4-FFF2-40B4-BE49-F238E27FC236}">
                <a16:creationId xmlns:a16="http://schemas.microsoft.com/office/drawing/2014/main" id="{20DB0FA1-BEC5-4467-89DE-539ADC074306}"/>
              </a:ext>
            </a:extLst>
          </p:cNvPr>
          <p:cNvSpPr/>
          <p:nvPr/>
        </p:nvSpPr>
        <p:spPr>
          <a:xfrm>
            <a:off x="1115568" y="3555650"/>
            <a:ext cx="118872" cy="118872"/>
          </a:xfrm>
          <a:prstGeom prst="ellipse">
            <a:avLst/>
          </a:prstGeom>
          <a:solidFill>
            <a:srgbClr val="0F172A"/>
          </a:solidFill>
          <a:ln w="12700">
            <a:solidFill>
              <a:srgbClr val="0F172A"/>
            </a:solidFill>
            <a:prstDash val="solid"/>
          </a:ln>
        </p:spPr>
      </p:sp>
      <p:sp>
        <p:nvSpPr>
          <p:cNvPr id="20" name="Shape 10">
            <a:extLst>
              <a:ext uri="{FF2B5EF4-FFF2-40B4-BE49-F238E27FC236}">
                <a16:creationId xmlns:a16="http://schemas.microsoft.com/office/drawing/2014/main" id="{A929BF11-24AE-4086-BD6E-A9548C156D00}"/>
              </a:ext>
            </a:extLst>
          </p:cNvPr>
          <p:cNvSpPr/>
          <p:nvPr/>
        </p:nvSpPr>
        <p:spPr>
          <a:xfrm>
            <a:off x="2548461" y="2630300"/>
            <a:ext cx="118872" cy="118872"/>
          </a:xfrm>
          <a:prstGeom prst="ellipse">
            <a:avLst/>
          </a:prstGeom>
          <a:solidFill>
            <a:srgbClr val="F97316"/>
          </a:solidFill>
          <a:ln w="12700">
            <a:solidFill>
              <a:srgbClr val="F97316"/>
            </a:solidFill>
            <a:prstDash val="solid"/>
          </a:ln>
        </p:spPr>
      </p:sp>
      <p:sp>
        <p:nvSpPr>
          <p:cNvPr id="21" name="Shape 11">
            <a:extLst>
              <a:ext uri="{FF2B5EF4-FFF2-40B4-BE49-F238E27FC236}">
                <a16:creationId xmlns:a16="http://schemas.microsoft.com/office/drawing/2014/main" id="{E45B1686-680D-444D-8F15-DEBA0D082469}"/>
              </a:ext>
            </a:extLst>
          </p:cNvPr>
          <p:cNvSpPr/>
          <p:nvPr/>
        </p:nvSpPr>
        <p:spPr>
          <a:xfrm>
            <a:off x="2777061" y="2767460"/>
            <a:ext cx="118872" cy="118872"/>
          </a:xfrm>
          <a:prstGeom prst="ellipse">
            <a:avLst/>
          </a:prstGeom>
          <a:solidFill>
            <a:srgbClr val="F97316"/>
          </a:solidFill>
          <a:ln w="12700">
            <a:solidFill>
              <a:srgbClr val="F97316"/>
            </a:solidFill>
            <a:prstDash val="solid"/>
          </a:ln>
        </p:spPr>
      </p:sp>
      <p:sp>
        <p:nvSpPr>
          <p:cNvPr id="22" name="Shape 12">
            <a:extLst>
              <a:ext uri="{FF2B5EF4-FFF2-40B4-BE49-F238E27FC236}">
                <a16:creationId xmlns:a16="http://schemas.microsoft.com/office/drawing/2014/main" id="{D2232DC1-5DCD-471C-87A1-9BBD578F8F4B}"/>
              </a:ext>
            </a:extLst>
          </p:cNvPr>
          <p:cNvSpPr/>
          <p:nvPr/>
        </p:nvSpPr>
        <p:spPr>
          <a:xfrm>
            <a:off x="2685621" y="2538860"/>
            <a:ext cx="118872" cy="118872"/>
          </a:xfrm>
          <a:prstGeom prst="ellipse">
            <a:avLst/>
          </a:prstGeom>
          <a:solidFill>
            <a:srgbClr val="F97316"/>
          </a:solidFill>
          <a:ln w="12700">
            <a:solidFill>
              <a:srgbClr val="F97316"/>
            </a:solidFill>
            <a:prstDash val="solid"/>
          </a:ln>
        </p:spPr>
      </p:sp>
      <p:sp>
        <p:nvSpPr>
          <p:cNvPr id="23" name="Shape 13">
            <a:extLst>
              <a:ext uri="{FF2B5EF4-FFF2-40B4-BE49-F238E27FC236}">
                <a16:creationId xmlns:a16="http://schemas.microsoft.com/office/drawing/2014/main" id="{2C3AAA91-5B29-4200-8A23-AE93EDFC134F}"/>
              </a:ext>
            </a:extLst>
          </p:cNvPr>
          <p:cNvSpPr/>
          <p:nvPr/>
        </p:nvSpPr>
        <p:spPr>
          <a:xfrm>
            <a:off x="2868501" y="2676020"/>
            <a:ext cx="118872" cy="118872"/>
          </a:xfrm>
          <a:prstGeom prst="ellipse">
            <a:avLst/>
          </a:prstGeom>
          <a:solidFill>
            <a:srgbClr val="F97316"/>
          </a:solidFill>
          <a:ln w="12700">
            <a:solidFill>
              <a:srgbClr val="F97316"/>
            </a:solidFill>
            <a:prstDash val="solid"/>
          </a:ln>
        </p:spPr>
      </p:sp>
      <p:sp>
        <p:nvSpPr>
          <p:cNvPr id="24" name="Shape 14">
            <a:extLst>
              <a:ext uri="{FF2B5EF4-FFF2-40B4-BE49-F238E27FC236}">
                <a16:creationId xmlns:a16="http://schemas.microsoft.com/office/drawing/2014/main" id="{E6411F9E-5D09-4D64-A2A2-053B6ADA7664}"/>
              </a:ext>
            </a:extLst>
          </p:cNvPr>
          <p:cNvSpPr/>
          <p:nvPr/>
        </p:nvSpPr>
        <p:spPr>
          <a:xfrm>
            <a:off x="2594181" y="2813180"/>
            <a:ext cx="118872" cy="118872"/>
          </a:xfrm>
          <a:prstGeom prst="ellipse">
            <a:avLst/>
          </a:prstGeom>
          <a:solidFill>
            <a:srgbClr val="F97316"/>
          </a:solidFill>
          <a:ln w="12700">
            <a:solidFill>
              <a:srgbClr val="F97316"/>
            </a:solidFill>
            <a:prstDash val="solid"/>
          </a:ln>
        </p:spPr>
      </p:sp>
      <p:sp>
        <p:nvSpPr>
          <p:cNvPr id="25" name="Text 15">
            <a:extLst>
              <a:ext uri="{FF2B5EF4-FFF2-40B4-BE49-F238E27FC236}">
                <a16:creationId xmlns:a16="http://schemas.microsoft.com/office/drawing/2014/main" id="{0E91D05F-00BB-42BC-A51C-324940CE2292}"/>
              </a:ext>
            </a:extLst>
          </p:cNvPr>
          <p:cNvSpPr/>
          <p:nvPr/>
        </p:nvSpPr>
        <p:spPr>
          <a:xfrm>
            <a:off x="502920" y="3667212"/>
            <a:ext cx="1463040" cy="274320"/>
          </a:xfrm>
          <a:prstGeom prst="rect">
            <a:avLst/>
          </a:prstGeom>
          <a:noFill/>
          <a:ln/>
        </p:spPr>
        <p:txBody>
          <a:bodyPr wrap="square" lIns="0" tIns="0" rIns="0" bIns="0" rtlCol="0" anchor="ctr"/>
          <a:lstStyle/>
          <a:p>
            <a:pPr marL="0" indent="0" algn="ctr">
              <a:buNone/>
            </a:pPr>
            <a:r>
              <a:rPr lang="en-US" sz="950" b="1" dirty="0">
                <a:solidFill>
                  <a:srgbClr val="0F172A"/>
                </a:solidFill>
                <a:latin typeface="Calibri" pitchFamily="34" charset="0"/>
                <a:ea typeface="Calibri" pitchFamily="34" charset="-122"/>
                <a:cs typeface="Calibri" pitchFamily="34" charset="-120"/>
              </a:rPr>
              <a:t>(</a:t>
            </a:r>
            <a:r>
              <a:rPr lang="en-US" sz="950" b="1" dirty="0" err="1">
                <a:solidFill>
                  <a:srgbClr val="0F172A"/>
                </a:solidFill>
                <a:latin typeface="Calibri" pitchFamily="34" charset="0"/>
                <a:ea typeface="Calibri" pitchFamily="34" charset="-122"/>
                <a:cs typeface="Calibri" pitchFamily="34" charset="-120"/>
              </a:rPr>
              <a:t>gesuchtes</a:t>
            </a:r>
            <a:r>
              <a:rPr lang="en-US" sz="950" b="1" dirty="0">
                <a:solidFill>
                  <a:srgbClr val="0F172A"/>
                </a:solidFill>
                <a:latin typeface="Calibri" pitchFamily="34" charset="0"/>
                <a:ea typeface="Calibri" pitchFamily="34" charset="-122"/>
                <a:cs typeface="Calibri" pitchFamily="34" charset="-120"/>
              </a:rPr>
              <a:t>) CEO-</a:t>
            </a:r>
            <a:r>
              <a:rPr lang="en-US" sz="950" b="1" dirty="0" err="1">
                <a:solidFill>
                  <a:srgbClr val="0F172A"/>
                </a:solidFill>
                <a:latin typeface="Calibri" pitchFamily="34" charset="0"/>
                <a:ea typeface="Calibri" pitchFamily="34" charset="-122"/>
                <a:cs typeface="Calibri" pitchFamily="34" charset="-120"/>
              </a:rPr>
              <a:t>Dokument</a:t>
            </a:r>
            <a:endParaRPr lang="en-US" sz="950" dirty="0"/>
          </a:p>
        </p:txBody>
      </p:sp>
      <p:sp>
        <p:nvSpPr>
          <p:cNvPr id="26" name="Text 16">
            <a:extLst>
              <a:ext uri="{FF2B5EF4-FFF2-40B4-BE49-F238E27FC236}">
                <a16:creationId xmlns:a16="http://schemas.microsoft.com/office/drawing/2014/main" id="{83554842-0F92-42F8-A17B-A3D6AFDC5C73}"/>
              </a:ext>
            </a:extLst>
          </p:cNvPr>
          <p:cNvSpPr/>
          <p:nvPr/>
        </p:nvSpPr>
        <p:spPr>
          <a:xfrm>
            <a:off x="3054520" y="2167862"/>
            <a:ext cx="1354674" cy="864420"/>
          </a:xfrm>
          <a:prstGeom prst="rect">
            <a:avLst/>
          </a:prstGeom>
          <a:noFill/>
          <a:ln/>
        </p:spPr>
        <p:txBody>
          <a:bodyPr wrap="square" lIns="0" tIns="0" rIns="0" bIns="0" rtlCol="0" anchor="ctr"/>
          <a:lstStyle/>
          <a:p>
            <a:pPr marL="0" indent="0" algn="l">
              <a:lnSpc>
                <a:spcPct val="115000"/>
              </a:lnSpc>
              <a:buNone/>
            </a:pPr>
            <a:r>
              <a:rPr lang="en-US" sz="950" b="1" dirty="0">
                <a:solidFill>
                  <a:srgbClr val="F97316"/>
                </a:solidFill>
                <a:latin typeface="Calibri" pitchFamily="34" charset="0"/>
                <a:ea typeface="Calibri" pitchFamily="34" charset="-122"/>
                <a:cs typeface="Calibri" pitchFamily="34" charset="-120"/>
              </a:rPr>
              <a:t>CFO,COO etc. -</a:t>
            </a:r>
            <a:r>
              <a:rPr lang="en-US" sz="950" b="1" dirty="0" err="1">
                <a:solidFill>
                  <a:srgbClr val="F97316"/>
                </a:solidFill>
                <a:latin typeface="Calibri" pitchFamily="34" charset="0"/>
                <a:ea typeface="Calibri" pitchFamily="34" charset="-122"/>
                <a:cs typeface="Calibri" pitchFamily="34" charset="-120"/>
              </a:rPr>
              <a:t>Dokumente</a:t>
            </a:r>
            <a:endParaRPr lang="en-US" sz="950" dirty="0"/>
          </a:p>
          <a:p>
            <a:pPr marL="0" indent="0" algn="l">
              <a:lnSpc>
                <a:spcPct val="115000"/>
              </a:lnSpc>
              <a:buNone/>
            </a:pPr>
            <a:r>
              <a:rPr lang="en-US" sz="950" b="1" dirty="0">
                <a:solidFill>
                  <a:srgbClr val="F97316"/>
                </a:solidFill>
                <a:latin typeface="Calibri" pitchFamily="34" charset="0"/>
                <a:ea typeface="Calibri" pitchFamily="34" charset="-122"/>
                <a:cs typeface="Calibri" pitchFamily="34" charset="-120"/>
              </a:rPr>
              <a:t>(</a:t>
            </a:r>
            <a:r>
              <a:rPr lang="en-US" sz="950" b="1" dirty="0" err="1">
                <a:solidFill>
                  <a:srgbClr val="F97316"/>
                </a:solidFill>
                <a:latin typeface="Calibri" pitchFamily="34" charset="0"/>
                <a:ea typeface="Calibri" pitchFamily="34" charset="-122"/>
                <a:cs typeface="Calibri" pitchFamily="34" charset="-120"/>
              </a:rPr>
              <a:t>viele</a:t>
            </a:r>
            <a:r>
              <a:rPr lang="en-US" sz="950" b="1" dirty="0">
                <a:solidFill>
                  <a:srgbClr val="F97316"/>
                </a:solidFill>
                <a:latin typeface="Calibri" pitchFamily="34" charset="0"/>
                <a:ea typeface="Calibri" pitchFamily="34" charset="-122"/>
                <a:cs typeface="Calibri" pitchFamily="34" charset="-120"/>
              </a:rPr>
              <a:t> </a:t>
            </a:r>
            <a:r>
              <a:rPr lang="en-US" sz="950" b="1" dirty="0" err="1">
                <a:solidFill>
                  <a:srgbClr val="F97316"/>
                </a:solidFill>
                <a:latin typeface="Calibri" pitchFamily="34" charset="0"/>
                <a:ea typeface="Calibri" pitchFamily="34" charset="-122"/>
                <a:cs typeface="Calibri" pitchFamily="34" charset="-120"/>
              </a:rPr>
              <a:t>Wörter</a:t>
            </a:r>
            <a:r>
              <a:rPr lang="en-US" sz="950" b="1" dirty="0">
                <a:solidFill>
                  <a:srgbClr val="F97316"/>
                </a:solidFill>
                <a:latin typeface="Calibri" pitchFamily="34" charset="0"/>
                <a:ea typeface="Calibri" pitchFamily="34" charset="-122"/>
                <a:cs typeface="Calibri" pitchFamily="34" charset="-120"/>
              </a:rPr>
              <a:t> </a:t>
            </a:r>
            <a:r>
              <a:rPr lang="en-US" sz="950" b="1" dirty="0" err="1">
                <a:solidFill>
                  <a:srgbClr val="F97316"/>
                </a:solidFill>
                <a:latin typeface="Calibri" pitchFamily="34" charset="0"/>
                <a:ea typeface="Calibri" pitchFamily="34" charset="-122"/>
                <a:cs typeface="Calibri" pitchFamily="34" charset="-120"/>
              </a:rPr>
              <a:t>wie</a:t>
            </a:r>
            <a:r>
              <a:rPr lang="en-US" sz="950" b="1" dirty="0">
                <a:solidFill>
                  <a:srgbClr val="F97316"/>
                </a:solidFill>
                <a:latin typeface="Calibri" pitchFamily="34" charset="0"/>
                <a:ea typeface="Calibri" pitchFamily="34" charset="-122"/>
                <a:cs typeface="Calibri" pitchFamily="34" charset="-120"/>
              </a:rPr>
              <a:t> “</a:t>
            </a:r>
            <a:r>
              <a:rPr lang="en-US" sz="950" b="1" dirty="0" err="1">
                <a:solidFill>
                  <a:srgbClr val="F97316"/>
                </a:solidFill>
                <a:latin typeface="Calibri" pitchFamily="34" charset="0"/>
                <a:ea typeface="Calibri" pitchFamily="34" charset="-122"/>
                <a:cs typeface="Calibri" pitchFamily="34" charset="-120"/>
              </a:rPr>
              <a:t>Geschäftsleitung</a:t>
            </a:r>
            <a:r>
              <a:rPr lang="en-US" sz="950" b="1" dirty="0">
                <a:solidFill>
                  <a:srgbClr val="F97316"/>
                </a:solidFill>
                <a:latin typeface="Calibri" pitchFamily="34" charset="0"/>
                <a:ea typeface="Calibri" pitchFamily="34" charset="-122"/>
                <a:cs typeface="Calibri" pitchFamily="34" charset="-120"/>
              </a:rPr>
              <a:t>“, “</a:t>
            </a:r>
            <a:r>
              <a:rPr lang="en-US" sz="950" b="1" dirty="0" err="1">
                <a:solidFill>
                  <a:srgbClr val="F97316"/>
                </a:solidFill>
                <a:latin typeface="Calibri" pitchFamily="34" charset="0"/>
                <a:ea typeface="Calibri" pitchFamily="34" charset="-122"/>
                <a:cs typeface="Calibri" pitchFamily="34" charset="-120"/>
              </a:rPr>
              <a:t>Führungsebene</a:t>
            </a:r>
            <a:r>
              <a:rPr lang="en-US" sz="950" b="1" dirty="0">
                <a:solidFill>
                  <a:srgbClr val="F97316"/>
                </a:solidFill>
                <a:latin typeface="Calibri" pitchFamily="34" charset="0"/>
                <a:ea typeface="Calibri" pitchFamily="34" charset="-122"/>
                <a:cs typeface="Calibri" pitchFamily="34" charset="-120"/>
              </a:rPr>
              <a:t>”, etc. )</a:t>
            </a:r>
            <a:endParaRPr lang="en-US" sz="950" dirty="0"/>
          </a:p>
        </p:txBody>
      </p:sp>
      <p:sp>
        <p:nvSpPr>
          <p:cNvPr id="27" name="Shape 17">
            <a:extLst>
              <a:ext uri="{FF2B5EF4-FFF2-40B4-BE49-F238E27FC236}">
                <a16:creationId xmlns:a16="http://schemas.microsoft.com/office/drawing/2014/main" id="{AC1173F2-73A5-48BB-B027-DC09E0597A8A}"/>
              </a:ext>
            </a:extLst>
          </p:cNvPr>
          <p:cNvSpPr/>
          <p:nvPr/>
        </p:nvSpPr>
        <p:spPr>
          <a:xfrm>
            <a:off x="1634061" y="2410844"/>
            <a:ext cx="201168" cy="201168"/>
          </a:xfrm>
          <a:prstGeom prst="ellipse">
            <a:avLst/>
          </a:prstGeom>
          <a:solidFill>
            <a:srgbClr val="CCFBF1"/>
          </a:solidFill>
          <a:ln w="25400">
            <a:solidFill>
              <a:srgbClr val="0D9488"/>
            </a:solidFill>
            <a:prstDash val="solid"/>
          </a:ln>
        </p:spPr>
      </p:sp>
      <p:sp>
        <p:nvSpPr>
          <p:cNvPr id="30" name="Text 18">
            <a:extLst>
              <a:ext uri="{FF2B5EF4-FFF2-40B4-BE49-F238E27FC236}">
                <a16:creationId xmlns:a16="http://schemas.microsoft.com/office/drawing/2014/main" id="{09F6894D-B7C4-4D39-B219-E08B2ACA90BD}"/>
              </a:ext>
            </a:extLst>
          </p:cNvPr>
          <p:cNvSpPr/>
          <p:nvPr/>
        </p:nvSpPr>
        <p:spPr>
          <a:xfrm>
            <a:off x="1661493" y="2109092"/>
            <a:ext cx="1463040" cy="274320"/>
          </a:xfrm>
          <a:prstGeom prst="rect">
            <a:avLst/>
          </a:prstGeom>
          <a:noFill/>
          <a:ln/>
        </p:spPr>
        <p:txBody>
          <a:bodyPr wrap="square" lIns="0" tIns="0" rIns="0" bIns="0" rtlCol="0" anchor="ctr"/>
          <a:lstStyle/>
          <a:p>
            <a:pPr marL="0" indent="0" algn="l">
              <a:buNone/>
            </a:pPr>
            <a:r>
              <a:rPr lang="en-US" sz="950" b="1" dirty="0">
                <a:solidFill>
                  <a:srgbClr val="0D9488"/>
                </a:solidFill>
                <a:latin typeface="Calibri" pitchFamily="34" charset="0"/>
                <a:ea typeface="Calibri" pitchFamily="34" charset="-122"/>
                <a:cs typeface="Calibri" pitchFamily="34" charset="-120"/>
              </a:rPr>
              <a:t>Query: „CEO"</a:t>
            </a:r>
            <a:endParaRPr lang="en-US" sz="950" dirty="0"/>
          </a:p>
        </p:txBody>
      </p:sp>
      <p:sp>
        <p:nvSpPr>
          <p:cNvPr id="31" name="Shape 19">
            <a:extLst>
              <a:ext uri="{FF2B5EF4-FFF2-40B4-BE49-F238E27FC236}">
                <a16:creationId xmlns:a16="http://schemas.microsoft.com/office/drawing/2014/main" id="{8B75D561-E622-42B2-87D9-2042732EFD26}"/>
              </a:ext>
            </a:extLst>
          </p:cNvPr>
          <p:cNvSpPr/>
          <p:nvPr/>
        </p:nvSpPr>
        <p:spPr>
          <a:xfrm>
            <a:off x="1835229" y="2538860"/>
            <a:ext cx="694944" cy="118872"/>
          </a:xfrm>
          <a:prstGeom prst="line">
            <a:avLst/>
          </a:prstGeom>
          <a:noFill/>
          <a:ln w="12700">
            <a:solidFill>
              <a:srgbClr val="0D9488"/>
            </a:solidFill>
            <a:prstDash val="dash"/>
          </a:ln>
        </p:spPr>
      </p:sp>
      <p:sp>
        <p:nvSpPr>
          <p:cNvPr id="32" name="Text 20">
            <a:extLst>
              <a:ext uri="{FF2B5EF4-FFF2-40B4-BE49-F238E27FC236}">
                <a16:creationId xmlns:a16="http://schemas.microsoft.com/office/drawing/2014/main" id="{A1FE1498-D5AA-4C47-97C1-1B72F37C831C}"/>
              </a:ext>
            </a:extLst>
          </p:cNvPr>
          <p:cNvSpPr/>
          <p:nvPr/>
        </p:nvSpPr>
        <p:spPr>
          <a:xfrm>
            <a:off x="470443" y="4083144"/>
            <a:ext cx="4114800" cy="631290"/>
          </a:xfrm>
          <a:prstGeom prst="rect">
            <a:avLst/>
          </a:prstGeom>
          <a:noFill/>
          <a:ln/>
        </p:spPr>
        <p:txBody>
          <a:bodyPr wrap="square" lIns="0" tIns="0" rIns="0" bIns="0" rtlCol="0" anchor="ctr"/>
          <a:lstStyle/>
          <a:p>
            <a:pPr marL="0" indent="0">
              <a:lnSpc>
                <a:spcPct val="130000"/>
              </a:lnSpc>
              <a:buNone/>
            </a:pPr>
            <a:r>
              <a:rPr lang="en-US" sz="1050" dirty="0">
                <a:solidFill>
                  <a:srgbClr val="475569"/>
                </a:solidFill>
                <a:latin typeface="Calibri" pitchFamily="34" charset="0"/>
                <a:ea typeface="Calibri" pitchFamily="34" charset="-122"/>
                <a:cs typeface="Calibri" pitchFamily="34" charset="-120"/>
              </a:rPr>
              <a:t>CFO-Dokumente mit hoher Dichte an </a:t>
            </a:r>
            <a:r>
              <a:rPr lang="en-US" sz="1050" b="1" dirty="0">
                <a:solidFill>
                  <a:srgbClr val="475569"/>
                </a:solidFill>
                <a:latin typeface="Calibri" pitchFamily="34" charset="0"/>
                <a:ea typeface="Calibri" pitchFamily="34" charset="-122"/>
                <a:cs typeface="Calibri" pitchFamily="34" charset="-120"/>
              </a:rPr>
              <a:t>„CEO-</a:t>
            </a:r>
            <a:r>
              <a:rPr lang="en-US" sz="1050" b="1" dirty="0" err="1">
                <a:solidFill>
                  <a:srgbClr val="475569"/>
                </a:solidFill>
                <a:latin typeface="Calibri" pitchFamily="34" charset="0"/>
                <a:ea typeface="Calibri" pitchFamily="34" charset="-122"/>
                <a:cs typeface="Calibri" pitchFamily="34" charset="-120"/>
              </a:rPr>
              <a:t>ähnlichen</a:t>
            </a:r>
            <a:r>
              <a:rPr lang="en-US" sz="1050" b="1" dirty="0">
                <a:solidFill>
                  <a:srgbClr val="475569"/>
                </a:solidFill>
                <a:latin typeface="Calibri" pitchFamily="34" charset="0"/>
                <a:ea typeface="Calibri" pitchFamily="34" charset="-122"/>
                <a:cs typeface="Calibri" pitchFamily="34" charset="-120"/>
              </a:rPr>
              <a:t>“</a:t>
            </a:r>
            <a:r>
              <a:rPr lang="en-US" sz="1050" dirty="0">
                <a:solidFill>
                  <a:srgbClr val="475569"/>
                </a:solidFill>
                <a:latin typeface="Calibri" pitchFamily="34" charset="0"/>
                <a:ea typeface="Calibri" pitchFamily="34" charset="-122"/>
                <a:cs typeface="Calibri" pitchFamily="34" charset="-120"/>
              </a:rPr>
              <a:t> </a:t>
            </a:r>
            <a:r>
              <a:rPr lang="en-US" sz="1050" dirty="0" err="1">
                <a:solidFill>
                  <a:srgbClr val="475569"/>
                </a:solidFill>
                <a:latin typeface="Calibri" pitchFamily="34" charset="0"/>
                <a:ea typeface="Calibri" pitchFamily="34" charset="-122"/>
                <a:cs typeface="Calibri" pitchFamily="34" charset="-120"/>
              </a:rPr>
              <a:t>Wörtern</a:t>
            </a:r>
            <a:r>
              <a:rPr lang="en-US" sz="1050" dirty="0">
                <a:solidFill>
                  <a:srgbClr val="475569"/>
                </a:solidFill>
                <a:latin typeface="Calibri" pitchFamily="34" charset="0"/>
                <a:ea typeface="Calibri" pitchFamily="34" charset="-122"/>
                <a:cs typeface="Calibri" pitchFamily="34" charset="-120"/>
              </a:rPr>
              <a:t> liegen im Vektorraum näher an der Query als die eigentlichen CEO-</a:t>
            </a:r>
            <a:r>
              <a:rPr lang="en-US" sz="1050" dirty="0" err="1">
                <a:solidFill>
                  <a:srgbClr val="475569"/>
                </a:solidFill>
                <a:latin typeface="Calibri" pitchFamily="34" charset="0"/>
                <a:ea typeface="Calibri" pitchFamily="34" charset="-122"/>
                <a:cs typeface="Calibri" pitchFamily="34" charset="-120"/>
              </a:rPr>
              <a:t>Dokumente</a:t>
            </a:r>
            <a:r>
              <a:rPr lang="en-US" sz="1050" dirty="0">
                <a:solidFill>
                  <a:srgbClr val="475569"/>
                </a:solidFill>
                <a:latin typeface="Calibri" pitchFamily="34" charset="0"/>
                <a:ea typeface="Calibri" pitchFamily="34" charset="-122"/>
                <a:cs typeface="Calibri" pitchFamily="34" charset="-120"/>
              </a:rPr>
              <a:t>.</a:t>
            </a:r>
          </a:p>
          <a:p>
            <a:pPr marL="0" indent="0">
              <a:lnSpc>
                <a:spcPct val="130000"/>
              </a:lnSpc>
              <a:buNone/>
            </a:pPr>
            <a:r>
              <a:rPr lang="en-US" sz="1050" b="1" dirty="0">
                <a:solidFill>
                  <a:srgbClr val="475569"/>
                </a:solidFill>
                <a:latin typeface="Calibri" pitchFamily="34" charset="0"/>
                <a:ea typeface="Calibri" pitchFamily="34" charset="-122"/>
                <a:cs typeface="Calibri" pitchFamily="34" charset="-120"/>
              </a:rPr>
              <a:t>→ </a:t>
            </a:r>
            <a:r>
              <a:rPr lang="en-US" sz="1050" b="1" dirty="0" err="1">
                <a:solidFill>
                  <a:srgbClr val="475569"/>
                </a:solidFill>
                <a:latin typeface="Calibri" pitchFamily="34" charset="0"/>
                <a:ea typeface="Calibri" pitchFamily="34" charset="-122"/>
                <a:cs typeface="Calibri" pitchFamily="34" charset="-120"/>
              </a:rPr>
              <a:t>Können</a:t>
            </a:r>
            <a:r>
              <a:rPr lang="en-US" sz="1050" b="1" dirty="0">
                <a:solidFill>
                  <a:srgbClr val="475569"/>
                </a:solidFill>
                <a:latin typeface="Calibri" pitchFamily="34" charset="0"/>
                <a:ea typeface="Calibri" pitchFamily="34" charset="-122"/>
                <a:cs typeface="Calibri" pitchFamily="34" charset="-120"/>
              </a:rPr>
              <a:t> in der Praxis </a:t>
            </a:r>
            <a:r>
              <a:rPr lang="en-US" sz="1050" b="1" dirty="0" err="1">
                <a:solidFill>
                  <a:srgbClr val="475569"/>
                </a:solidFill>
                <a:latin typeface="Calibri" pitchFamily="34" charset="0"/>
                <a:ea typeface="Calibri" pitchFamily="34" charset="-122"/>
                <a:cs typeface="Calibri" pitchFamily="34" charset="-120"/>
              </a:rPr>
              <a:t>höher</a:t>
            </a:r>
            <a:r>
              <a:rPr lang="en-US" sz="1050" b="1" dirty="0">
                <a:solidFill>
                  <a:srgbClr val="475569"/>
                </a:solidFill>
                <a:latin typeface="Calibri" pitchFamily="34" charset="0"/>
                <a:ea typeface="Calibri" pitchFamily="34" charset="-122"/>
                <a:cs typeface="Calibri" pitchFamily="34" charset="-120"/>
              </a:rPr>
              <a:t> </a:t>
            </a:r>
            <a:r>
              <a:rPr lang="en-US" sz="1050" b="1" dirty="0" err="1">
                <a:solidFill>
                  <a:srgbClr val="475569"/>
                </a:solidFill>
                <a:latin typeface="Calibri" pitchFamily="34" charset="0"/>
                <a:ea typeface="Calibri" pitchFamily="34" charset="-122"/>
                <a:cs typeface="Calibri" pitchFamily="34" charset="-120"/>
              </a:rPr>
              <a:t>ranken</a:t>
            </a:r>
            <a:r>
              <a:rPr lang="en-US" sz="1050" dirty="0">
                <a:solidFill>
                  <a:srgbClr val="475569"/>
                </a:solidFill>
                <a:latin typeface="Calibri" pitchFamily="34" charset="0"/>
                <a:ea typeface="Calibri" pitchFamily="34" charset="-122"/>
                <a:cs typeface="Calibri" pitchFamily="34" charset="-120"/>
              </a:rPr>
              <a:t>. </a:t>
            </a:r>
            <a:r>
              <a:rPr lang="en-US" sz="800" dirty="0">
                <a:solidFill>
                  <a:schemeClr val="bg1">
                    <a:lumMod val="65000"/>
                  </a:schemeClr>
                </a:solidFill>
              </a:rPr>
              <a:t>[Q11]</a:t>
            </a:r>
          </a:p>
        </p:txBody>
      </p:sp>
      <p:sp>
        <p:nvSpPr>
          <p:cNvPr id="33" name="Text 21">
            <a:extLst>
              <a:ext uri="{FF2B5EF4-FFF2-40B4-BE49-F238E27FC236}">
                <a16:creationId xmlns:a16="http://schemas.microsoft.com/office/drawing/2014/main" id="{B321FB98-7DA3-4544-AB5F-6B7267C10A18}"/>
              </a:ext>
            </a:extLst>
          </p:cNvPr>
          <p:cNvSpPr/>
          <p:nvPr/>
        </p:nvSpPr>
        <p:spPr>
          <a:xfrm>
            <a:off x="4933834" y="1339796"/>
            <a:ext cx="3840480" cy="274320"/>
          </a:xfrm>
          <a:prstGeom prst="rect">
            <a:avLst/>
          </a:prstGeom>
          <a:noFill/>
          <a:ln/>
        </p:spPr>
        <p:txBody>
          <a:bodyPr wrap="square" lIns="0" tIns="0" rIns="0" bIns="0" rtlCol="0" anchor="ctr"/>
          <a:lstStyle/>
          <a:p>
            <a:pPr marL="0" indent="0">
              <a:buNone/>
            </a:pPr>
            <a:r>
              <a:rPr lang="en-US" sz="1300" b="1" dirty="0" err="1">
                <a:solidFill>
                  <a:srgbClr val="0F172A"/>
                </a:solidFill>
                <a:latin typeface="Cambria" pitchFamily="34" charset="0"/>
                <a:ea typeface="Cambria" pitchFamily="34" charset="-122"/>
                <a:cs typeface="Cambria" pitchFamily="34" charset="-120"/>
              </a:rPr>
              <a:t>Andere</a:t>
            </a:r>
            <a:r>
              <a:rPr lang="en-US" sz="1300" b="1" dirty="0">
                <a:solidFill>
                  <a:srgbClr val="0F172A"/>
                </a:solidFill>
                <a:latin typeface="Cambria" pitchFamily="34" charset="0"/>
                <a:ea typeface="Cambria" pitchFamily="34" charset="-122"/>
                <a:cs typeface="Cambria" pitchFamily="34" charset="-120"/>
              </a:rPr>
              <a:t> </a:t>
            </a:r>
            <a:r>
              <a:rPr lang="en-US" sz="1300" b="1" dirty="0" err="1">
                <a:solidFill>
                  <a:srgbClr val="0F172A"/>
                </a:solidFill>
                <a:latin typeface="Cambria" pitchFamily="34" charset="0"/>
                <a:ea typeface="Cambria" pitchFamily="34" charset="-122"/>
                <a:cs typeface="Cambria" pitchFamily="34" charset="-120"/>
              </a:rPr>
              <a:t>Typische</a:t>
            </a:r>
            <a:r>
              <a:rPr lang="en-US" sz="1300" b="1" dirty="0">
                <a:solidFill>
                  <a:srgbClr val="0F172A"/>
                </a:solidFill>
                <a:latin typeface="Cambria" pitchFamily="34" charset="0"/>
                <a:ea typeface="Cambria" pitchFamily="34" charset="-122"/>
                <a:cs typeface="Cambria" pitchFamily="34" charset="-120"/>
              </a:rPr>
              <a:t> Schwachstellen</a:t>
            </a:r>
            <a:endParaRPr lang="en-US" sz="1300" dirty="0"/>
          </a:p>
        </p:txBody>
      </p:sp>
      <p:sp>
        <p:nvSpPr>
          <p:cNvPr id="34" name="Shape 22">
            <a:extLst>
              <a:ext uri="{FF2B5EF4-FFF2-40B4-BE49-F238E27FC236}">
                <a16:creationId xmlns:a16="http://schemas.microsoft.com/office/drawing/2014/main" id="{04168B63-D1FB-4D08-A5E8-E8367B3A385A}"/>
              </a:ext>
            </a:extLst>
          </p:cNvPr>
          <p:cNvSpPr/>
          <p:nvPr/>
        </p:nvSpPr>
        <p:spPr>
          <a:xfrm>
            <a:off x="4933834" y="1732988"/>
            <a:ext cx="109728" cy="109728"/>
          </a:xfrm>
          <a:prstGeom prst="ellipse">
            <a:avLst/>
          </a:prstGeom>
          <a:solidFill>
            <a:srgbClr val="F97316"/>
          </a:solidFill>
          <a:ln w="12700">
            <a:solidFill>
              <a:srgbClr val="F97316"/>
            </a:solidFill>
            <a:prstDash val="solid"/>
          </a:ln>
        </p:spPr>
      </p:sp>
      <p:sp>
        <p:nvSpPr>
          <p:cNvPr id="35" name="Text 23">
            <a:extLst>
              <a:ext uri="{FF2B5EF4-FFF2-40B4-BE49-F238E27FC236}">
                <a16:creationId xmlns:a16="http://schemas.microsoft.com/office/drawing/2014/main" id="{A1CB6719-A83B-4FF2-9FBC-1A8E2F5D822E}"/>
              </a:ext>
            </a:extLst>
          </p:cNvPr>
          <p:cNvSpPr/>
          <p:nvPr/>
        </p:nvSpPr>
        <p:spPr>
          <a:xfrm>
            <a:off x="5116714" y="1659836"/>
            <a:ext cx="3657600" cy="274320"/>
          </a:xfrm>
          <a:prstGeom prst="rect">
            <a:avLst/>
          </a:prstGeom>
          <a:noFill/>
          <a:ln/>
        </p:spPr>
        <p:txBody>
          <a:bodyPr wrap="square" lIns="0" tIns="0" rIns="0" bIns="0" rtlCol="0" anchor="ctr"/>
          <a:lstStyle/>
          <a:p>
            <a:pPr marL="0" indent="0">
              <a:buNone/>
            </a:pPr>
            <a:r>
              <a:rPr lang="en-US" sz="1150" dirty="0">
                <a:solidFill>
                  <a:srgbClr val="0F172A"/>
                </a:solidFill>
                <a:latin typeface="Cambria" pitchFamily="34" charset="0"/>
                <a:ea typeface="Cambria" pitchFamily="34" charset="-122"/>
                <a:cs typeface="Cambria" pitchFamily="34" charset="-120"/>
              </a:rPr>
              <a:t>Seltene Fachbegriffe, IDs, Codes </a:t>
            </a:r>
            <a:r>
              <a:rPr lang="en-US" sz="800" dirty="0">
                <a:solidFill>
                  <a:schemeClr val="bg1">
                    <a:lumMod val="65000"/>
                  </a:schemeClr>
                </a:solidFill>
              </a:rPr>
              <a:t>[Q15]</a:t>
            </a:r>
          </a:p>
        </p:txBody>
      </p:sp>
      <p:sp>
        <p:nvSpPr>
          <p:cNvPr id="36" name="Text 24">
            <a:extLst>
              <a:ext uri="{FF2B5EF4-FFF2-40B4-BE49-F238E27FC236}">
                <a16:creationId xmlns:a16="http://schemas.microsoft.com/office/drawing/2014/main" id="{9A1AD890-5120-4FCE-9EC5-AB4C6749DEFA}"/>
              </a:ext>
            </a:extLst>
          </p:cNvPr>
          <p:cNvSpPr/>
          <p:nvPr/>
        </p:nvSpPr>
        <p:spPr>
          <a:xfrm>
            <a:off x="5116714" y="1915868"/>
            <a:ext cx="3657600" cy="197528"/>
          </a:xfrm>
          <a:prstGeom prst="rect">
            <a:avLst/>
          </a:prstGeom>
          <a:noFill/>
          <a:ln/>
        </p:spPr>
        <p:txBody>
          <a:bodyPr wrap="square" lIns="0" tIns="0" rIns="0" bIns="0" rtlCol="0" anchor="ctr"/>
          <a:lstStyle/>
          <a:p>
            <a:pPr marL="0" indent="0">
              <a:buNone/>
            </a:pPr>
            <a:r>
              <a:rPr lang="en-US" sz="900" dirty="0">
                <a:solidFill>
                  <a:srgbClr val="475569"/>
                </a:solidFill>
                <a:latin typeface="Calibri" pitchFamily="34" charset="0"/>
                <a:ea typeface="Calibri" pitchFamily="34" charset="-122"/>
                <a:cs typeface="Calibri" pitchFamily="34" charset="-120"/>
              </a:rPr>
              <a:t>z. B. </a:t>
            </a:r>
            <a:r>
              <a:rPr lang="en-US" sz="900" dirty="0" err="1">
                <a:solidFill>
                  <a:srgbClr val="475569"/>
                </a:solidFill>
                <a:latin typeface="Calibri" pitchFamily="34" charset="0"/>
                <a:ea typeface="Calibri" pitchFamily="34" charset="-122"/>
                <a:cs typeface="Calibri" pitchFamily="34" charset="-120"/>
              </a:rPr>
              <a:t>Produkt</a:t>
            </a:r>
            <a:r>
              <a:rPr lang="en-US" sz="900" dirty="0">
                <a:solidFill>
                  <a:srgbClr val="475569"/>
                </a:solidFill>
                <a:latin typeface="Calibri" pitchFamily="34" charset="0"/>
                <a:ea typeface="Calibri" pitchFamily="34" charset="-122"/>
                <a:cs typeface="Calibri" pitchFamily="34" charset="-120"/>
              </a:rPr>
              <a:t>-Code “X-42/B” hat keine gelernte Semantik.</a:t>
            </a:r>
            <a:endParaRPr lang="en-US" sz="900" dirty="0"/>
          </a:p>
        </p:txBody>
      </p:sp>
      <p:sp>
        <p:nvSpPr>
          <p:cNvPr id="37" name="Shape 25">
            <a:extLst>
              <a:ext uri="{FF2B5EF4-FFF2-40B4-BE49-F238E27FC236}">
                <a16:creationId xmlns:a16="http://schemas.microsoft.com/office/drawing/2014/main" id="{A4AEC4F6-730E-419D-B575-55B2A1B3AA17}"/>
              </a:ext>
            </a:extLst>
          </p:cNvPr>
          <p:cNvSpPr/>
          <p:nvPr/>
        </p:nvSpPr>
        <p:spPr>
          <a:xfrm>
            <a:off x="4933834" y="2281628"/>
            <a:ext cx="109728" cy="109728"/>
          </a:xfrm>
          <a:prstGeom prst="ellipse">
            <a:avLst/>
          </a:prstGeom>
          <a:solidFill>
            <a:srgbClr val="F97316"/>
          </a:solidFill>
          <a:ln w="12700">
            <a:solidFill>
              <a:srgbClr val="F97316"/>
            </a:solidFill>
            <a:prstDash val="solid"/>
          </a:ln>
        </p:spPr>
      </p:sp>
      <p:sp>
        <p:nvSpPr>
          <p:cNvPr id="38" name="Text 26">
            <a:extLst>
              <a:ext uri="{FF2B5EF4-FFF2-40B4-BE49-F238E27FC236}">
                <a16:creationId xmlns:a16="http://schemas.microsoft.com/office/drawing/2014/main" id="{59243644-25E4-4824-8A71-B60D997E8E8F}"/>
              </a:ext>
            </a:extLst>
          </p:cNvPr>
          <p:cNvSpPr/>
          <p:nvPr/>
        </p:nvSpPr>
        <p:spPr>
          <a:xfrm>
            <a:off x="5116714" y="2208476"/>
            <a:ext cx="3657600" cy="274320"/>
          </a:xfrm>
          <a:prstGeom prst="rect">
            <a:avLst/>
          </a:prstGeom>
          <a:noFill/>
          <a:ln/>
        </p:spPr>
        <p:txBody>
          <a:bodyPr wrap="square" lIns="0" tIns="0" rIns="0" bIns="0" rtlCol="0" anchor="ctr"/>
          <a:lstStyle/>
          <a:p>
            <a:pPr marL="0" indent="0">
              <a:buNone/>
            </a:pPr>
            <a:r>
              <a:rPr lang="en-US" sz="1150" dirty="0" err="1">
                <a:solidFill>
                  <a:srgbClr val="0F172A"/>
                </a:solidFill>
                <a:latin typeface="Cambria" pitchFamily="34" charset="0"/>
                <a:ea typeface="Cambria" pitchFamily="34" charset="-122"/>
                <a:cs typeface="Cambria" pitchFamily="34" charset="-120"/>
              </a:rPr>
              <a:t>Negationen</a:t>
            </a:r>
            <a:r>
              <a:rPr lang="en-US" sz="1150" dirty="0">
                <a:solidFill>
                  <a:srgbClr val="0F172A"/>
                </a:solidFill>
                <a:latin typeface="Cambria" pitchFamily="34" charset="0"/>
                <a:ea typeface="Cambria" pitchFamily="34" charset="-122"/>
                <a:cs typeface="Cambria" pitchFamily="34" charset="-120"/>
              </a:rPr>
              <a:t> </a:t>
            </a:r>
            <a:r>
              <a:rPr lang="en-US" sz="800" dirty="0">
                <a:solidFill>
                  <a:schemeClr val="bg1">
                    <a:lumMod val="65000"/>
                  </a:schemeClr>
                </a:solidFill>
              </a:rPr>
              <a:t>[Q14]</a:t>
            </a:r>
          </a:p>
        </p:txBody>
      </p:sp>
      <p:sp>
        <p:nvSpPr>
          <p:cNvPr id="39" name="Text 27">
            <a:extLst>
              <a:ext uri="{FF2B5EF4-FFF2-40B4-BE49-F238E27FC236}">
                <a16:creationId xmlns:a16="http://schemas.microsoft.com/office/drawing/2014/main" id="{E79BF6DE-B044-44D6-B2B1-A2B19E28717E}"/>
              </a:ext>
            </a:extLst>
          </p:cNvPr>
          <p:cNvSpPr/>
          <p:nvPr/>
        </p:nvSpPr>
        <p:spPr>
          <a:xfrm>
            <a:off x="5116714" y="2464508"/>
            <a:ext cx="3657600" cy="197528"/>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„nicht toxisch" liegt nahe an „toxisch".</a:t>
            </a:r>
            <a:endParaRPr lang="en-US" sz="1000" dirty="0"/>
          </a:p>
        </p:txBody>
      </p:sp>
      <p:sp>
        <p:nvSpPr>
          <p:cNvPr id="46" name="Shape 31">
            <a:extLst>
              <a:ext uri="{FF2B5EF4-FFF2-40B4-BE49-F238E27FC236}">
                <a16:creationId xmlns:a16="http://schemas.microsoft.com/office/drawing/2014/main" id="{9D9D9E8A-183B-49E0-863C-9B3396E559CC}"/>
              </a:ext>
            </a:extLst>
          </p:cNvPr>
          <p:cNvSpPr/>
          <p:nvPr/>
        </p:nvSpPr>
        <p:spPr>
          <a:xfrm>
            <a:off x="4899973" y="2866992"/>
            <a:ext cx="3840480" cy="1280160"/>
          </a:xfrm>
          <a:prstGeom prst="rect">
            <a:avLst/>
          </a:prstGeom>
          <a:solidFill>
            <a:srgbClr val="1E293B"/>
          </a:solidFill>
          <a:ln w="12700">
            <a:solidFill>
              <a:srgbClr val="1E293B"/>
            </a:solidFill>
            <a:prstDash val="solid"/>
          </a:ln>
        </p:spPr>
      </p:sp>
      <p:sp>
        <p:nvSpPr>
          <p:cNvPr id="47" name="Text 32">
            <a:extLst>
              <a:ext uri="{FF2B5EF4-FFF2-40B4-BE49-F238E27FC236}">
                <a16:creationId xmlns:a16="http://schemas.microsoft.com/office/drawing/2014/main" id="{E8629921-B897-421F-9DE0-2D228ECC2D5E}"/>
              </a:ext>
            </a:extLst>
          </p:cNvPr>
          <p:cNvSpPr/>
          <p:nvPr/>
        </p:nvSpPr>
        <p:spPr>
          <a:xfrm>
            <a:off x="5037133" y="2931000"/>
            <a:ext cx="3611880" cy="274320"/>
          </a:xfrm>
          <a:prstGeom prst="rect">
            <a:avLst/>
          </a:prstGeom>
          <a:noFill/>
          <a:ln/>
        </p:spPr>
        <p:txBody>
          <a:bodyPr wrap="square" lIns="0" tIns="0" rIns="0" bIns="0" rtlCol="0" anchor="ctr"/>
          <a:lstStyle/>
          <a:p>
            <a:pPr marL="0" indent="0">
              <a:buNone/>
            </a:pPr>
            <a:r>
              <a:rPr lang="en-US" sz="1200" b="1" dirty="0">
                <a:solidFill>
                  <a:srgbClr val="F97316"/>
                </a:solidFill>
                <a:latin typeface="Cambria" pitchFamily="34" charset="0"/>
                <a:ea typeface="Cambria" pitchFamily="34" charset="-122"/>
                <a:cs typeface="Cambria" pitchFamily="34" charset="-120"/>
              </a:rPr>
              <a:t>Lösung: Hybrid-Retrieval </a:t>
            </a:r>
            <a:r>
              <a:rPr lang="en-US" sz="800" b="1" dirty="0">
                <a:solidFill>
                  <a:schemeClr val="bg1">
                    <a:lumMod val="65000"/>
                  </a:schemeClr>
                </a:solidFill>
                <a:latin typeface="Cambria" pitchFamily="34" charset="0"/>
                <a:ea typeface="Cambria" pitchFamily="34" charset="-122"/>
                <a:cs typeface="Cambria" pitchFamily="34" charset="-120"/>
              </a:rPr>
              <a:t>[Q8]</a:t>
            </a:r>
            <a:endParaRPr lang="en-US" sz="800" dirty="0">
              <a:solidFill>
                <a:schemeClr val="bg1">
                  <a:lumMod val="65000"/>
                </a:schemeClr>
              </a:solidFill>
            </a:endParaRPr>
          </a:p>
        </p:txBody>
      </p:sp>
      <p:sp>
        <p:nvSpPr>
          <p:cNvPr id="48" name="Text 33">
            <a:extLst>
              <a:ext uri="{FF2B5EF4-FFF2-40B4-BE49-F238E27FC236}">
                <a16:creationId xmlns:a16="http://schemas.microsoft.com/office/drawing/2014/main" id="{A2A93B84-DF4C-4621-BDAE-ADBAAA2C0384}"/>
              </a:ext>
            </a:extLst>
          </p:cNvPr>
          <p:cNvSpPr/>
          <p:nvPr/>
        </p:nvSpPr>
        <p:spPr>
          <a:xfrm>
            <a:off x="5037133" y="3205320"/>
            <a:ext cx="3611880" cy="640080"/>
          </a:xfrm>
          <a:prstGeom prst="rect">
            <a:avLst/>
          </a:prstGeom>
          <a:noFill/>
          <a:ln/>
        </p:spPr>
        <p:txBody>
          <a:bodyPr wrap="square" lIns="0" tIns="0" rIns="0" bIns="0" rtlCol="0" anchor="ctr"/>
          <a:lstStyle/>
          <a:p>
            <a:pPr marL="0" indent="0">
              <a:lnSpc>
                <a:spcPct val="130000"/>
              </a:lnSpc>
              <a:buNone/>
            </a:pPr>
            <a:r>
              <a:rPr lang="en-US" sz="1050" dirty="0">
                <a:solidFill>
                  <a:srgbClr val="E2E8F0"/>
                </a:solidFill>
                <a:latin typeface="Calibri" pitchFamily="34" charset="0"/>
                <a:ea typeface="Calibri" pitchFamily="34" charset="-122"/>
                <a:cs typeface="Calibri" pitchFamily="34" charset="-120"/>
              </a:rPr>
              <a:t>Vektorsuche mit Keyword-Verfahren (BM25 / FTS)</a:t>
            </a:r>
          </a:p>
          <a:p>
            <a:pPr marL="0" indent="0">
              <a:lnSpc>
                <a:spcPct val="130000"/>
              </a:lnSpc>
              <a:buNone/>
            </a:pPr>
            <a:r>
              <a:rPr lang="en-US" sz="1050" dirty="0" err="1">
                <a:solidFill>
                  <a:srgbClr val="E2E8F0"/>
                </a:solidFill>
                <a:latin typeface="Calibri" pitchFamily="34" charset="0"/>
                <a:ea typeface="Calibri" pitchFamily="34" charset="-122"/>
                <a:cs typeface="Calibri" pitchFamily="34" charset="-120"/>
              </a:rPr>
              <a:t>kombinieren</a:t>
            </a:r>
            <a:r>
              <a:rPr lang="en-US" sz="1050" dirty="0">
                <a:solidFill>
                  <a:srgbClr val="E2E8F0"/>
                </a:solidFill>
                <a:latin typeface="Calibri" pitchFamily="34" charset="0"/>
                <a:ea typeface="Calibri" pitchFamily="34" charset="-122"/>
                <a:cs typeface="Calibri" pitchFamily="34" charset="-120"/>
              </a:rPr>
              <a:t> und Ergebnisse gewichtet </a:t>
            </a:r>
            <a:r>
              <a:rPr lang="en-US" sz="1050" dirty="0" err="1">
                <a:solidFill>
                  <a:srgbClr val="E2E8F0"/>
                </a:solidFill>
                <a:latin typeface="Calibri" pitchFamily="34" charset="0"/>
                <a:ea typeface="Calibri" pitchFamily="34" charset="-122"/>
                <a:cs typeface="Calibri" pitchFamily="34" charset="-120"/>
              </a:rPr>
              <a:t>fusionieren</a:t>
            </a:r>
            <a:r>
              <a:rPr lang="en-US" sz="1050" dirty="0">
                <a:solidFill>
                  <a:srgbClr val="E2E8F0"/>
                </a:solidFill>
                <a:latin typeface="Calibri" pitchFamily="34" charset="0"/>
                <a:ea typeface="Calibri" pitchFamily="34" charset="-122"/>
                <a:cs typeface="Calibri" pitchFamily="34" charset="-120"/>
              </a:rPr>
              <a:t>. (RRF)</a:t>
            </a:r>
            <a:br>
              <a:rPr lang="en-US" sz="1050" dirty="0">
                <a:solidFill>
                  <a:srgbClr val="E2E8F0"/>
                </a:solidFill>
                <a:latin typeface="Calibri" pitchFamily="34" charset="0"/>
                <a:ea typeface="Calibri" pitchFamily="34" charset="-122"/>
                <a:cs typeface="Calibri" pitchFamily="34" charset="-120"/>
              </a:rPr>
            </a:br>
            <a:r>
              <a:rPr lang="en-US" sz="1050" dirty="0">
                <a:solidFill>
                  <a:srgbClr val="E2E8F0"/>
                </a:solidFill>
                <a:latin typeface="Calibri" pitchFamily="34" charset="0"/>
                <a:ea typeface="Calibri" pitchFamily="34" charset="-122"/>
                <a:cs typeface="Calibri" pitchFamily="34" charset="-120"/>
              </a:rPr>
              <a:t>Bonus: explizite Ausschlüsse.</a:t>
            </a:r>
            <a:endParaRPr lang="en-US" sz="1050" dirty="0"/>
          </a:p>
        </p:txBody>
      </p:sp>
      <p:sp>
        <p:nvSpPr>
          <p:cNvPr id="49" name="Text 34">
            <a:extLst>
              <a:ext uri="{FF2B5EF4-FFF2-40B4-BE49-F238E27FC236}">
                <a16:creationId xmlns:a16="http://schemas.microsoft.com/office/drawing/2014/main" id="{030C0234-35D4-46E9-9122-148BBA522384}"/>
              </a:ext>
            </a:extLst>
          </p:cNvPr>
          <p:cNvSpPr/>
          <p:nvPr/>
        </p:nvSpPr>
        <p:spPr>
          <a:xfrm>
            <a:off x="5037133" y="3808824"/>
            <a:ext cx="3611880" cy="274320"/>
          </a:xfrm>
          <a:prstGeom prst="rect">
            <a:avLst/>
          </a:prstGeom>
          <a:noFill/>
          <a:ln/>
        </p:spPr>
        <p:txBody>
          <a:bodyPr wrap="square" lIns="0" tIns="0" rIns="0" bIns="0" rtlCol="0" anchor="ctr"/>
          <a:lstStyle/>
          <a:p>
            <a:pPr marL="0" indent="0">
              <a:buNone/>
            </a:pPr>
            <a:r>
              <a:rPr lang="en-US" sz="1000" dirty="0">
                <a:solidFill>
                  <a:srgbClr val="FDE68A"/>
                </a:solidFill>
                <a:latin typeface="Consolas" pitchFamily="34" charset="0"/>
                <a:ea typeface="Consolas" pitchFamily="34" charset="-122"/>
                <a:cs typeface="Consolas" pitchFamily="34" charset="-120"/>
              </a:rPr>
              <a:t>vector_query + bm25_query - excluded_keywords</a:t>
            </a:r>
            <a:endParaRPr lang="en-US" sz="1000" dirty="0"/>
          </a:p>
        </p:txBody>
      </p:sp>
    </p:spTree>
    <p:extLst>
      <p:ext uri="{BB962C8B-B14F-4D97-AF65-F5344CB8AC3E}">
        <p14:creationId xmlns:p14="http://schemas.microsoft.com/office/powerpoint/2010/main" val="12347049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67E8333-A12F-461B-8F36-964EF2A4A284}"/>
              </a:ext>
            </a:extLst>
          </p:cNvPr>
          <p:cNvSpPr>
            <a:spLocks noGrp="1"/>
          </p:cNvSpPr>
          <p:nvPr>
            <p:ph type="title"/>
          </p:nvPr>
        </p:nvSpPr>
        <p:spPr>
          <a:xfrm>
            <a:off x="326356" y="382496"/>
            <a:ext cx="6549399" cy="359255"/>
          </a:xfrm>
        </p:spPr>
        <p:txBody>
          <a:bodyPr>
            <a:normAutofit fontScale="90000"/>
          </a:bodyPr>
          <a:lstStyle/>
          <a:p>
            <a:pPr marL="0" indent="0">
              <a:buNone/>
            </a:pPr>
            <a:r>
              <a:rPr lang="en-US" sz="3200" b="1" dirty="0" err="1">
                <a:solidFill>
                  <a:srgbClr val="0F172A"/>
                </a:solidFill>
                <a:latin typeface="Cambria" pitchFamily="34" charset="0"/>
                <a:ea typeface="Cambria" pitchFamily="34" charset="-122"/>
              </a:rPr>
              <a:t>Architekturvorschlag</a:t>
            </a:r>
            <a:r>
              <a:rPr lang="en-US" sz="3200" b="1" dirty="0">
                <a:solidFill>
                  <a:srgbClr val="0F172A"/>
                </a:solidFill>
                <a:latin typeface="Cambria" pitchFamily="34" charset="0"/>
                <a:ea typeface="Cambria" pitchFamily="34" charset="-122"/>
              </a:rPr>
              <a:t> </a:t>
            </a:r>
            <a:endParaRPr lang="en-US" sz="3200" dirty="0"/>
          </a:p>
        </p:txBody>
      </p:sp>
      <p:sp>
        <p:nvSpPr>
          <p:cNvPr id="6" name="Rechteck 5">
            <a:extLst>
              <a:ext uri="{FF2B5EF4-FFF2-40B4-BE49-F238E27FC236}">
                <a16:creationId xmlns:a16="http://schemas.microsoft.com/office/drawing/2014/main" id="{9B1134CE-53FF-4066-B059-D6ACA70914F2}"/>
              </a:ext>
            </a:extLst>
          </p:cNvPr>
          <p:cNvSpPr/>
          <p:nvPr/>
        </p:nvSpPr>
        <p:spPr>
          <a:xfrm>
            <a:off x="452981" y="1083791"/>
            <a:ext cx="383507" cy="52083"/>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013"/>
          </a:p>
        </p:txBody>
      </p:sp>
      <p:sp>
        <p:nvSpPr>
          <p:cNvPr id="7" name="Titel 1">
            <a:extLst>
              <a:ext uri="{FF2B5EF4-FFF2-40B4-BE49-F238E27FC236}">
                <a16:creationId xmlns:a16="http://schemas.microsoft.com/office/drawing/2014/main" id="{8C89B5C6-61EC-420A-A7BF-D697C040511D}"/>
              </a:ext>
            </a:extLst>
          </p:cNvPr>
          <p:cNvSpPr txBox="1">
            <a:spLocks/>
          </p:cNvSpPr>
          <p:nvPr/>
        </p:nvSpPr>
        <p:spPr>
          <a:xfrm>
            <a:off x="361192" y="688385"/>
            <a:ext cx="4292206" cy="359255"/>
          </a:xfrm>
          <a:prstGeom prst="rect">
            <a:avLst/>
          </a:prstGeom>
        </p:spPr>
        <p:txBody>
          <a:bodyPr vert="horz" lIns="68580" tIns="34290" rIns="68580" bIns="3429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sz="1500" dirty="0">
                <a:solidFill>
                  <a:srgbClr val="0F172A"/>
                </a:solidFill>
                <a:latin typeface="Calibri Light" panose="020F0302020204030204" pitchFamily="34" charset="0"/>
                <a:ea typeface="Calibri Light" panose="020F0302020204030204" pitchFamily="34" charset="0"/>
                <a:cs typeface="Calibri Light" panose="020F0302020204030204" pitchFamily="34" charset="0"/>
              </a:rPr>
              <a:t>Ingestion &amp; Retrieval-Tool</a:t>
            </a:r>
          </a:p>
        </p:txBody>
      </p:sp>
      <p:sp>
        <p:nvSpPr>
          <p:cNvPr id="76" name="Datumsplatzhalter 75">
            <a:extLst>
              <a:ext uri="{FF2B5EF4-FFF2-40B4-BE49-F238E27FC236}">
                <a16:creationId xmlns:a16="http://schemas.microsoft.com/office/drawing/2014/main" id="{FB534BCA-17DB-4EBE-9103-31EF5969BBD5}"/>
              </a:ext>
            </a:extLst>
          </p:cNvPr>
          <p:cNvSpPr>
            <a:spLocks noGrp="1"/>
          </p:cNvSpPr>
          <p:nvPr>
            <p:ph type="dt" sz="half" idx="10"/>
          </p:nvPr>
        </p:nvSpPr>
        <p:spPr>
          <a:xfrm>
            <a:off x="347840" y="4807006"/>
            <a:ext cx="2338210" cy="273844"/>
          </a:xfrm>
        </p:spPr>
        <p:txBody>
          <a:bodyPr/>
          <a:lstStyle/>
          <a:p>
            <a:fld id="{0D05602C-25EE-48A8-8786-3C51BA41DB9E}" type="datetime1">
              <a:rPr lang="de-DE"/>
              <a:t>04.05.2026</a:t>
            </a:fld>
            <a:endParaRPr lang="de-DE" dirty="0"/>
          </a:p>
        </p:txBody>
      </p:sp>
      <p:sp>
        <p:nvSpPr>
          <p:cNvPr id="77" name="Fußzeilenplatzhalter 76">
            <a:extLst>
              <a:ext uri="{FF2B5EF4-FFF2-40B4-BE49-F238E27FC236}">
                <a16:creationId xmlns:a16="http://schemas.microsoft.com/office/drawing/2014/main" id="{10A96F6C-9081-4668-9382-F92081EE73D0}"/>
              </a:ext>
            </a:extLst>
          </p:cNvPr>
          <p:cNvSpPr>
            <a:spLocks noGrp="1"/>
          </p:cNvSpPr>
          <p:nvPr>
            <p:ph type="ftr" sz="quarter" idx="11"/>
          </p:nvPr>
        </p:nvSpPr>
        <p:spPr>
          <a:xfrm>
            <a:off x="2686050" y="4807006"/>
            <a:ext cx="3812404" cy="273844"/>
          </a:xfrm>
        </p:spPr>
        <p:txBody>
          <a:bodyPr/>
          <a:lstStyle/>
          <a:p>
            <a:r>
              <a:rPr lang="de-DE" dirty="0"/>
              <a:t>Vektordatenbanken </a:t>
            </a:r>
            <a:r>
              <a:rPr lang="en-US" dirty="0"/>
              <a:t>· </a:t>
            </a:r>
            <a:r>
              <a:rPr lang="en-US" dirty="0" err="1"/>
              <a:t>Studienprojekt</a:t>
            </a:r>
            <a:r>
              <a:rPr lang="en-US" dirty="0"/>
              <a:t> Reverse Chatbots</a:t>
            </a:r>
            <a:endParaRPr lang="de-DE" dirty="0"/>
          </a:p>
        </p:txBody>
      </p:sp>
      <p:sp>
        <p:nvSpPr>
          <p:cNvPr id="78" name="Foliennummernplatzhalter 77">
            <a:extLst>
              <a:ext uri="{FF2B5EF4-FFF2-40B4-BE49-F238E27FC236}">
                <a16:creationId xmlns:a16="http://schemas.microsoft.com/office/drawing/2014/main" id="{2B507CAF-8A2B-4670-8A8F-519A0AECCF4A}"/>
              </a:ext>
            </a:extLst>
          </p:cNvPr>
          <p:cNvSpPr>
            <a:spLocks noGrp="1"/>
          </p:cNvSpPr>
          <p:nvPr>
            <p:ph type="sldNum" sz="quarter" idx="12"/>
          </p:nvPr>
        </p:nvSpPr>
        <p:spPr>
          <a:xfrm>
            <a:off x="6457950" y="4807006"/>
            <a:ext cx="2338210" cy="273844"/>
          </a:xfrm>
        </p:spPr>
        <p:txBody>
          <a:bodyPr/>
          <a:lstStyle/>
          <a:p>
            <a:fld id="{0E836345-B243-4000-8050-9A1A9D10D9C9}" type="slidenum">
              <a:rPr lang="de-DE" smtClean="0"/>
              <a:t>9</a:t>
            </a:fld>
            <a:r>
              <a:rPr lang="de-DE" dirty="0"/>
              <a:t> / 12</a:t>
            </a:r>
          </a:p>
        </p:txBody>
      </p:sp>
      <p:sp>
        <p:nvSpPr>
          <p:cNvPr id="10" name="Shape 3">
            <a:extLst>
              <a:ext uri="{FF2B5EF4-FFF2-40B4-BE49-F238E27FC236}">
                <a16:creationId xmlns:a16="http://schemas.microsoft.com/office/drawing/2014/main" id="{DB406E96-CC47-42D0-89A9-C4A5FFB2D8CB}"/>
              </a:ext>
            </a:extLst>
          </p:cNvPr>
          <p:cNvSpPr/>
          <p:nvPr/>
        </p:nvSpPr>
        <p:spPr>
          <a:xfrm>
            <a:off x="457200" y="1463040"/>
            <a:ext cx="1783080" cy="1097280"/>
          </a:xfrm>
          <a:prstGeom prst="rect">
            <a:avLst/>
          </a:prstGeom>
          <a:solidFill>
            <a:srgbClr val="FFFFFF"/>
          </a:solidFill>
          <a:ln w="12700">
            <a:solidFill>
              <a:srgbClr val="CBD5E1"/>
            </a:solidFill>
            <a:prstDash val="solid"/>
          </a:ln>
        </p:spPr>
      </p:sp>
      <p:sp>
        <p:nvSpPr>
          <p:cNvPr id="11" name="Text 4">
            <a:extLst>
              <a:ext uri="{FF2B5EF4-FFF2-40B4-BE49-F238E27FC236}">
                <a16:creationId xmlns:a16="http://schemas.microsoft.com/office/drawing/2014/main" id="{7083A308-784C-4974-933C-B2F9BE4548CE}"/>
              </a:ext>
            </a:extLst>
          </p:cNvPr>
          <p:cNvSpPr/>
          <p:nvPr/>
        </p:nvSpPr>
        <p:spPr>
          <a:xfrm>
            <a:off x="457200" y="1645920"/>
            <a:ext cx="1783080" cy="365760"/>
          </a:xfrm>
          <a:prstGeom prst="rect">
            <a:avLst/>
          </a:prstGeom>
          <a:noFill/>
          <a:ln/>
        </p:spPr>
        <p:txBody>
          <a:bodyPr wrap="square" lIns="0" tIns="0" rIns="0" bIns="0" rtlCol="0" anchor="ctr"/>
          <a:lstStyle/>
          <a:p>
            <a:pPr marL="0" indent="0" algn="ctr">
              <a:buNone/>
            </a:pPr>
            <a:r>
              <a:rPr lang="en-US" sz="1200" b="1" dirty="0" err="1">
                <a:solidFill>
                  <a:srgbClr val="0F172A"/>
                </a:solidFill>
                <a:latin typeface="Cambria" pitchFamily="34" charset="0"/>
                <a:ea typeface="Cambria" pitchFamily="34" charset="-122"/>
                <a:cs typeface="Cambria" pitchFamily="34" charset="-120"/>
              </a:rPr>
              <a:t>Dokumente</a:t>
            </a:r>
            <a:r>
              <a:rPr lang="en-US" sz="1200" b="1" dirty="0">
                <a:solidFill>
                  <a:srgbClr val="0F172A"/>
                </a:solidFill>
                <a:latin typeface="Cambria" pitchFamily="34" charset="0"/>
                <a:ea typeface="Cambria" pitchFamily="34" charset="-122"/>
                <a:cs typeface="Cambria" pitchFamily="34" charset="-120"/>
              </a:rPr>
              <a:t> / </a:t>
            </a:r>
            <a:r>
              <a:rPr lang="en-US" sz="1200" b="1" dirty="0" err="1">
                <a:solidFill>
                  <a:srgbClr val="0F172A"/>
                </a:solidFill>
                <a:latin typeface="Cambria" pitchFamily="34" charset="0"/>
                <a:ea typeface="Cambria" pitchFamily="34" charset="-122"/>
                <a:cs typeface="Cambria" pitchFamily="34" charset="-120"/>
              </a:rPr>
              <a:t>Wissensbasis</a:t>
            </a:r>
            <a:endParaRPr lang="en-US" sz="1200" dirty="0"/>
          </a:p>
        </p:txBody>
      </p:sp>
      <p:sp>
        <p:nvSpPr>
          <p:cNvPr id="12" name="Text 5">
            <a:extLst>
              <a:ext uri="{FF2B5EF4-FFF2-40B4-BE49-F238E27FC236}">
                <a16:creationId xmlns:a16="http://schemas.microsoft.com/office/drawing/2014/main" id="{F8909F4A-3AEE-4B28-B49D-EF39A3700428}"/>
              </a:ext>
            </a:extLst>
          </p:cNvPr>
          <p:cNvSpPr/>
          <p:nvPr/>
        </p:nvSpPr>
        <p:spPr>
          <a:xfrm>
            <a:off x="457200" y="2011680"/>
            <a:ext cx="1783080" cy="502920"/>
          </a:xfrm>
          <a:prstGeom prst="rect">
            <a:avLst/>
          </a:prstGeom>
          <a:noFill/>
          <a:ln/>
        </p:spPr>
        <p:txBody>
          <a:bodyPr wrap="square" lIns="0" tIns="0" rIns="0" bIns="0" rtlCol="0" anchor="ctr"/>
          <a:lstStyle/>
          <a:p>
            <a:pPr marL="0" indent="0" algn="ctr">
              <a:lnSpc>
                <a:spcPct val="125000"/>
              </a:lnSpc>
              <a:buNone/>
            </a:pPr>
            <a:r>
              <a:rPr lang="en-US" sz="1000" dirty="0">
                <a:solidFill>
                  <a:srgbClr val="475569"/>
                </a:solidFill>
                <a:latin typeface="Calibri" pitchFamily="34" charset="0"/>
                <a:ea typeface="Calibri" pitchFamily="34" charset="-122"/>
                <a:cs typeface="Calibri" pitchFamily="34" charset="-120"/>
              </a:rPr>
              <a:t>PDFs, Web, </a:t>
            </a:r>
            <a:r>
              <a:rPr lang="en-US" sz="1000" dirty="0" err="1">
                <a:solidFill>
                  <a:srgbClr val="475569"/>
                </a:solidFill>
                <a:latin typeface="Calibri" pitchFamily="34" charset="0"/>
                <a:ea typeface="Calibri" pitchFamily="34" charset="-122"/>
                <a:cs typeface="Calibri" pitchFamily="34" charset="-120"/>
              </a:rPr>
              <a:t>Datenbanken</a:t>
            </a:r>
            <a:r>
              <a:rPr lang="en-US" sz="1000" dirty="0">
                <a:solidFill>
                  <a:srgbClr val="475569"/>
                </a:solidFill>
                <a:latin typeface="Calibri" pitchFamily="34" charset="0"/>
                <a:ea typeface="Calibri" pitchFamily="34" charset="-122"/>
                <a:cs typeface="Calibri" pitchFamily="34" charset="-120"/>
              </a:rPr>
              <a:t>,</a:t>
            </a:r>
          </a:p>
          <a:p>
            <a:pPr marL="0" indent="0" algn="ctr">
              <a:lnSpc>
                <a:spcPct val="125000"/>
              </a:lnSpc>
              <a:buNone/>
            </a:pPr>
            <a:r>
              <a:rPr lang="en-US" sz="1000" dirty="0" err="1">
                <a:solidFill>
                  <a:srgbClr val="475569"/>
                </a:solidFill>
                <a:latin typeface="Calibri" pitchFamily="34" charset="0"/>
                <a:ea typeface="Calibri" pitchFamily="34" charset="-122"/>
                <a:cs typeface="Calibri" pitchFamily="34" charset="-120"/>
              </a:rPr>
              <a:t>Konnektoren</a:t>
            </a:r>
            <a:r>
              <a:rPr lang="en-US" sz="1000" dirty="0">
                <a:solidFill>
                  <a:srgbClr val="475569"/>
                </a:solidFill>
                <a:latin typeface="Calibri" pitchFamily="34" charset="0"/>
                <a:ea typeface="Calibri" pitchFamily="34" charset="-122"/>
                <a:cs typeface="Calibri" pitchFamily="34" charset="-120"/>
              </a:rPr>
              <a:t> (</a:t>
            </a:r>
            <a:r>
              <a:rPr lang="en-US" sz="1000" dirty="0" err="1">
                <a:solidFill>
                  <a:srgbClr val="475569"/>
                </a:solidFill>
                <a:latin typeface="Calibri" pitchFamily="34" charset="0"/>
                <a:ea typeface="Calibri" pitchFamily="34" charset="-122"/>
                <a:cs typeface="Calibri" pitchFamily="34" charset="-120"/>
              </a:rPr>
              <a:t>zB</a:t>
            </a:r>
            <a:r>
              <a:rPr lang="en-US" sz="1000" dirty="0">
                <a:solidFill>
                  <a:srgbClr val="475569"/>
                </a:solidFill>
                <a:latin typeface="Calibri" pitchFamily="34" charset="0"/>
                <a:ea typeface="Calibri" pitchFamily="34" charset="-122"/>
                <a:cs typeface="Calibri" pitchFamily="34" charset="-120"/>
              </a:rPr>
              <a:t>. Confluence)</a:t>
            </a:r>
            <a:endParaRPr lang="en-US" sz="1000" dirty="0"/>
          </a:p>
        </p:txBody>
      </p:sp>
      <p:sp>
        <p:nvSpPr>
          <p:cNvPr id="13" name="Shape 6">
            <a:extLst>
              <a:ext uri="{FF2B5EF4-FFF2-40B4-BE49-F238E27FC236}">
                <a16:creationId xmlns:a16="http://schemas.microsoft.com/office/drawing/2014/main" id="{1FAB2B59-B037-4FE9-B5DA-DD8821FF32E3}"/>
              </a:ext>
            </a:extLst>
          </p:cNvPr>
          <p:cNvSpPr/>
          <p:nvPr/>
        </p:nvSpPr>
        <p:spPr>
          <a:xfrm>
            <a:off x="2258568" y="2011680"/>
            <a:ext cx="146304" cy="0"/>
          </a:xfrm>
          <a:prstGeom prst="line">
            <a:avLst/>
          </a:prstGeom>
          <a:noFill/>
          <a:ln w="19050">
            <a:solidFill>
              <a:srgbClr val="64748B"/>
            </a:solidFill>
            <a:prstDash val="solid"/>
            <a:tailEnd type="triangle"/>
          </a:ln>
        </p:spPr>
      </p:sp>
      <p:sp>
        <p:nvSpPr>
          <p:cNvPr id="14" name="Shape 7">
            <a:extLst>
              <a:ext uri="{FF2B5EF4-FFF2-40B4-BE49-F238E27FC236}">
                <a16:creationId xmlns:a16="http://schemas.microsoft.com/office/drawing/2014/main" id="{F309DCBD-E69C-4AB1-BEF6-71D67608EF27}"/>
              </a:ext>
            </a:extLst>
          </p:cNvPr>
          <p:cNvSpPr/>
          <p:nvPr/>
        </p:nvSpPr>
        <p:spPr>
          <a:xfrm>
            <a:off x="2423160" y="1463040"/>
            <a:ext cx="1783080" cy="1097280"/>
          </a:xfrm>
          <a:prstGeom prst="rect">
            <a:avLst/>
          </a:prstGeom>
          <a:solidFill>
            <a:srgbClr val="FFFFFF"/>
          </a:solidFill>
          <a:ln w="12700">
            <a:solidFill>
              <a:srgbClr val="CBD5E1"/>
            </a:solidFill>
            <a:prstDash val="solid"/>
          </a:ln>
        </p:spPr>
      </p:sp>
      <p:sp>
        <p:nvSpPr>
          <p:cNvPr id="15" name="Text 8">
            <a:extLst>
              <a:ext uri="{FF2B5EF4-FFF2-40B4-BE49-F238E27FC236}">
                <a16:creationId xmlns:a16="http://schemas.microsoft.com/office/drawing/2014/main" id="{43A01521-8EF3-4956-B7EF-12E6A4C38C2A}"/>
              </a:ext>
            </a:extLst>
          </p:cNvPr>
          <p:cNvSpPr/>
          <p:nvPr/>
        </p:nvSpPr>
        <p:spPr>
          <a:xfrm>
            <a:off x="2404872" y="1828800"/>
            <a:ext cx="1783080" cy="365760"/>
          </a:xfrm>
          <a:prstGeom prst="rect">
            <a:avLst/>
          </a:prstGeom>
          <a:noFill/>
          <a:ln/>
        </p:spPr>
        <p:txBody>
          <a:bodyPr wrap="square" lIns="0" tIns="0" rIns="0" bIns="0" rtlCol="0" anchor="ctr"/>
          <a:lstStyle/>
          <a:p>
            <a:pPr marL="0" indent="0" algn="ctr">
              <a:buNone/>
            </a:pPr>
            <a:r>
              <a:rPr lang="en-US" sz="1200" b="1" dirty="0">
                <a:solidFill>
                  <a:srgbClr val="0F172A"/>
                </a:solidFill>
                <a:latin typeface="Cambria" pitchFamily="34" charset="0"/>
                <a:ea typeface="Cambria" pitchFamily="34" charset="-122"/>
                <a:cs typeface="Cambria" pitchFamily="34" charset="-120"/>
              </a:rPr>
              <a:t>Chunking</a:t>
            </a:r>
            <a:endParaRPr lang="en-US" sz="1200" dirty="0"/>
          </a:p>
        </p:txBody>
      </p:sp>
      <p:sp>
        <p:nvSpPr>
          <p:cNvPr id="17" name="Shape 10">
            <a:extLst>
              <a:ext uri="{FF2B5EF4-FFF2-40B4-BE49-F238E27FC236}">
                <a16:creationId xmlns:a16="http://schemas.microsoft.com/office/drawing/2014/main" id="{C5A21BEB-46B6-43D2-9278-2DA413E885ED}"/>
              </a:ext>
            </a:extLst>
          </p:cNvPr>
          <p:cNvSpPr/>
          <p:nvPr/>
        </p:nvSpPr>
        <p:spPr>
          <a:xfrm>
            <a:off x="4224528" y="2011680"/>
            <a:ext cx="146304" cy="0"/>
          </a:xfrm>
          <a:prstGeom prst="line">
            <a:avLst/>
          </a:prstGeom>
          <a:noFill/>
          <a:ln w="19050">
            <a:solidFill>
              <a:srgbClr val="64748B"/>
            </a:solidFill>
            <a:prstDash val="solid"/>
            <a:tailEnd type="triangle"/>
          </a:ln>
        </p:spPr>
      </p:sp>
      <p:sp>
        <p:nvSpPr>
          <p:cNvPr id="18" name="Shape 11">
            <a:extLst>
              <a:ext uri="{FF2B5EF4-FFF2-40B4-BE49-F238E27FC236}">
                <a16:creationId xmlns:a16="http://schemas.microsoft.com/office/drawing/2014/main" id="{BAB5137C-91AC-4DB8-B9AA-FC745F3C0DBC}"/>
              </a:ext>
            </a:extLst>
          </p:cNvPr>
          <p:cNvSpPr/>
          <p:nvPr/>
        </p:nvSpPr>
        <p:spPr>
          <a:xfrm>
            <a:off x="4389120" y="1463040"/>
            <a:ext cx="1783080" cy="1097280"/>
          </a:xfrm>
          <a:prstGeom prst="rect">
            <a:avLst/>
          </a:prstGeom>
          <a:solidFill>
            <a:srgbClr val="FFFFFF"/>
          </a:solidFill>
          <a:ln w="12700">
            <a:solidFill>
              <a:srgbClr val="CBD5E1"/>
            </a:solidFill>
            <a:prstDash val="solid"/>
          </a:ln>
        </p:spPr>
        <p:txBody>
          <a:bodyPr/>
          <a:lstStyle/>
          <a:p>
            <a:endParaRPr lang="de-DE" dirty="0"/>
          </a:p>
        </p:txBody>
      </p:sp>
      <p:sp>
        <p:nvSpPr>
          <p:cNvPr id="19" name="Text 12">
            <a:extLst>
              <a:ext uri="{FF2B5EF4-FFF2-40B4-BE49-F238E27FC236}">
                <a16:creationId xmlns:a16="http://schemas.microsoft.com/office/drawing/2014/main" id="{AD12AD19-F4D4-4D20-A94C-383378C5130C}"/>
              </a:ext>
            </a:extLst>
          </p:cNvPr>
          <p:cNvSpPr/>
          <p:nvPr/>
        </p:nvSpPr>
        <p:spPr>
          <a:xfrm>
            <a:off x="4389120" y="1531620"/>
            <a:ext cx="1783080" cy="685800"/>
          </a:xfrm>
          <a:prstGeom prst="rect">
            <a:avLst/>
          </a:prstGeom>
          <a:noFill/>
          <a:ln/>
        </p:spPr>
        <p:txBody>
          <a:bodyPr wrap="square" lIns="0" tIns="0" rIns="0" bIns="0" rtlCol="0" anchor="ctr"/>
          <a:lstStyle/>
          <a:p>
            <a:pPr marL="0" indent="0" algn="ctr">
              <a:buNone/>
            </a:pPr>
            <a:r>
              <a:rPr lang="en-US" sz="1200" b="1" dirty="0" err="1">
                <a:solidFill>
                  <a:srgbClr val="0F172A"/>
                </a:solidFill>
                <a:latin typeface="Cambria" pitchFamily="34" charset="0"/>
                <a:ea typeface="Cambria" pitchFamily="34" charset="-122"/>
                <a:cs typeface="Cambria" pitchFamily="34" charset="-120"/>
              </a:rPr>
              <a:t>Selbst-Gehostetes</a:t>
            </a:r>
            <a:r>
              <a:rPr lang="en-US" sz="1200" b="1" dirty="0">
                <a:solidFill>
                  <a:srgbClr val="0F172A"/>
                </a:solidFill>
                <a:latin typeface="Cambria" pitchFamily="34" charset="0"/>
                <a:ea typeface="Cambria" pitchFamily="34" charset="-122"/>
                <a:cs typeface="Cambria" pitchFamily="34" charset="-120"/>
              </a:rPr>
              <a:t> Embedding-Modell</a:t>
            </a:r>
            <a:br>
              <a:rPr lang="en-US" sz="1200" b="1" dirty="0">
                <a:solidFill>
                  <a:srgbClr val="0F172A"/>
                </a:solidFill>
                <a:latin typeface="Cambria" pitchFamily="34" charset="0"/>
                <a:ea typeface="Cambria" pitchFamily="34" charset="-122"/>
                <a:cs typeface="Cambria" pitchFamily="34" charset="-120"/>
              </a:rPr>
            </a:br>
            <a:r>
              <a:rPr lang="en-US" sz="900" dirty="0" err="1">
                <a:solidFill>
                  <a:srgbClr val="0F172A"/>
                </a:solidFill>
                <a:latin typeface="Cambria" pitchFamily="34" charset="0"/>
                <a:ea typeface="Cambria" pitchFamily="34" charset="-122"/>
                <a:cs typeface="Cambria" pitchFamily="34" charset="-120"/>
              </a:rPr>
              <a:t>z.B.</a:t>
            </a:r>
            <a:r>
              <a:rPr lang="en-US" sz="900" dirty="0">
                <a:solidFill>
                  <a:srgbClr val="0F172A"/>
                </a:solidFill>
                <a:latin typeface="Cambria" pitchFamily="34" charset="0"/>
                <a:ea typeface="Cambria" pitchFamily="34" charset="-122"/>
                <a:cs typeface="Cambria" pitchFamily="34" charset="-120"/>
              </a:rPr>
              <a:t> Qwen3-Embedding-0.6B</a:t>
            </a:r>
            <a:endParaRPr lang="en-US" sz="1200" dirty="0"/>
          </a:p>
        </p:txBody>
      </p:sp>
      <p:sp>
        <p:nvSpPr>
          <p:cNvPr id="20" name="Text 13">
            <a:extLst>
              <a:ext uri="{FF2B5EF4-FFF2-40B4-BE49-F238E27FC236}">
                <a16:creationId xmlns:a16="http://schemas.microsoft.com/office/drawing/2014/main" id="{66075A3A-E9DC-42C6-83AC-ABCB1649A8ED}"/>
              </a:ext>
            </a:extLst>
          </p:cNvPr>
          <p:cNvSpPr/>
          <p:nvPr/>
        </p:nvSpPr>
        <p:spPr>
          <a:xfrm>
            <a:off x="4389120" y="2029968"/>
            <a:ext cx="1783080" cy="502920"/>
          </a:xfrm>
          <a:prstGeom prst="rect">
            <a:avLst/>
          </a:prstGeom>
          <a:noFill/>
          <a:ln/>
        </p:spPr>
        <p:txBody>
          <a:bodyPr wrap="square" lIns="0" tIns="0" rIns="0" bIns="0" rtlCol="0" anchor="ctr"/>
          <a:lstStyle/>
          <a:p>
            <a:pPr marL="0" indent="0" algn="ctr">
              <a:lnSpc>
                <a:spcPct val="125000"/>
              </a:lnSpc>
              <a:buNone/>
            </a:pPr>
            <a:r>
              <a:rPr lang="en-US" sz="1000" dirty="0">
                <a:solidFill>
                  <a:srgbClr val="475569"/>
                </a:solidFill>
                <a:latin typeface="Calibri" pitchFamily="34" charset="0"/>
                <a:ea typeface="Calibri" pitchFamily="34" charset="-122"/>
                <a:cs typeface="Calibri" pitchFamily="34" charset="-120"/>
              </a:rPr>
              <a:t>multilingual · 1024-dim</a:t>
            </a:r>
            <a:endParaRPr lang="en-US" sz="1000" dirty="0"/>
          </a:p>
        </p:txBody>
      </p:sp>
      <p:sp>
        <p:nvSpPr>
          <p:cNvPr id="21" name="Shape 14">
            <a:extLst>
              <a:ext uri="{FF2B5EF4-FFF2-40B4-BE49-F238E27FC236}">
                <a16:creationId xmlns:a16="http://schemas.microsoft.com/office/drawing/2014/main" id="{D1896807-D0F7-4AC4-AD0D-493C76CFCB51}"/>
              </a:ext>
            </a:extLst>
          </p:cNvPr>
          <p:cNvSpPr/>
          <p:nvPr/>
        </p:nvSpPr>
        <p:spPr>
          <a:xfrm>
            <a:off x="6190488" y="2011680"/>
            <a:ext cx="146304" cy="0"/>
          </a:xfrm>
          <a:prstGeom prst="line">
            <a:avLst/>
          </a:prstGeom>
          <a:noFill/>
          <a:ln w="19050">
            <a:solidFill>
              <a:srgbClr val="64748B"/>
            </a:solidFill>
            <a:prstDash val="solid"/>
            <a:tailEnd type="triangle"/>
          </a:ln>
        </p:spPr>
      </p:sp>
      <p:sp>
        <p:nvSpPr>
          <p:cNvPr id="22" name="Shape 15">
            <a:extLst>
              <a:ext uri="{FF2B5EF4-FFF2-40B4-BE49-F238E27FC236}">
                <a16:creationId xmlns:a16="http://schemas.microsoft.com/office/drawing/2014/main" id="{D270F1B9-2279-4902-85CD-8CDD7BCE655C}"/>
              </a:ext>
            </a:extLst>
          </p:cNvPr>
          <p:cNvSpPr/>
          <p:nvPr/>
        </p:nvSpPr>
        <p:spPr>
          <a:xfrm>
            <a:off x="6355080" y="1463040"/>
            <a:ext cx="1783080" cy="1097280"/>
          </a:xfrm>
          <a:prstGeom prst="rect">
            <a:avLst/>
          </a:prstGeom>
          <a:solidFill>
            <a:srgbClr val="0F172A"/>
          </a:solidFill>
          <a:ln w="12700">
            <a:solidFill>
              <a:srgbClr val="0F172A"/>
            </a:solidFill>
            <a:prstDash val="solid"/>
          </a:ln>
        </p:spPr>
      </p:sp>
      <p:sp>
        <p:nvSpPr>
          <p:cNvPr id="23" name="Text 16">
            <a:extLst>
              <a:ext uri="{FF2B5EF4-FFF2-40B4-BE49-F238E27FC236}">
                <a16:creationId xmlns:a16="http://schemas.microsoft.com/office/drawing/2014/main" id="{C0AD9DDF-784C-4D75-A9D9-69CEA4D378C7}"/>
              </a:ext>
            </a:extLst>
          </p:cNvPr>
          <p:cNvSpPr/>
          <p:nvPr/>
        </p:nvSpPr>
        <p:spPr>
          <a:xfrm>
            <a:off x="6355080" y="1645920"/>
            <a:ext cx="1783080" cy="365760"/>
          </a:xfrm>
          <a:prstGeom prst="rect">
            <a:avLst/>
          </a:prstGeom>
          <a:noFill/>
          <a:ln/>
        </p:spPr>
        <p:txBody>
          <a:bodyPr wrap="square" lIns="0" tIns="0" rIns="0" bIns="0" rtlCol="0" anchor="ctr"/>
          <a:lstStyle/>
          <a:p>
            <a:pPr marL="0" indent="0" algn="ctr">
              <a:buNone/>
            </a:pPr>
            <a:r>
              <a:rPr lang="en-US" sz="1200" b="1" dirty="0">
                <a:solidFill>
                  <a:srgbClr val="F97316"/>
                </a:solidFill>
                <a:latin typeface="Cambria" pitchFamily="34" charset="0"/>
                <a:ea typeface="Cambria" pitchFamily="34" charset="-122"/>
                <a:cs typeface="Cambria" pitchFamily="34" charset="-120"/>
              </a:rPr>
              <a:t>Qdrant</a:t>
            </a:r>
            <a:endParaRPr lang="en-US" sz="1200" dirty="0"/>
          </a:p>
        </p:txBody>
      </p:sp>
      <p:sp>
        <p:nvSpPr>
          <p:cNvPr id="24" name="Text 17">
            <a:extLst>
              <a:ext uri="{FF2B5EF4-FFF2-40B4-BE49-F238E27FC236}">
                <a16:creationId xmlns:a16="http://schemas.microsoft.com/office/drawing/2014/main" id="{84CB9D6A-56DA-4CC8-9779-54A8F8AEDB01}"/>
              </a:ext>
            </a:extLst>
          </p:cNvPr>
          <p:cNvSpPr/>
          <p:nvPr/>
        </p:nvSpPr>
        <p:spPr>
          <a:xfrm>
            <a:off x="6355080" y="2011680"/>
            <a:ext cx="1783080" cy="502920"/>
          </a:xfrm>
          <a:prstGeom prst="rect">
            <a:avLst/>
          </a:prstGeom>
          <a:noFill/>
          <a:ln/>
        </p:spPr>
        <p:txBody>
          <a:bodyPr wrap="square" lIns="0" tIns="0" rIns="0" bIns="0" rtlCol="0" anchor="ctr"/>
          <a:lstStyle/>
          <a:p>
            <a:pPr marL="0" indent="0" algn="ctr">
              <a:lnSpc>
                <a:spcPct val="125000"/>
              </a:lnSpc>
              <a:buNone/>
            </a:pPr>
            <a:r>
              <a:rPr lang="en-US" sz="1000" dirty="0">
                <a:solidFill>
                  <a:srgbClr val="CBD5E1"/>
                </a:solidFill>
                <a:latin typeface="Calibri" pitchFamily="34" charset="0"/>
                <a:ea typeface="Calibri" pitchFamily="34" charset="-122"/>
                <a:cs typeface="Calibri" pitchFamily="34" charset="-120"/>
              </a:rPr>
              <a:t>HNSW + BM25</a:t>
            </a:r>
            <a:endParaRPr lang="en-US" sz="1000" dirty="0"/>
          </a:p>
          <a:p>
            <a:pPr marL="0" indent="0" algn="ctr">
              <a:lnSpc>
                <a:spcPct val="125000"/>
              </a:lnSpc>
              <a:buNone/>
            </a:pPr>
            <a:r>
              <a:rPr lang="en-US" sz="1000" dirty="0">
                <a:solidFill>
                  <a:srgbClr val="CBD5E1"/>
                </a:solidFill>
                <a:latin typeface="Calibri" pitchFamily="34" charset="0"/>
                <a:ea typeface="Calibri" pitchFamily="34" charset="-122"/>
                <a:cs typeface="Calibri" pitchFamily="34" charset="-120"/>
              </a:rPr>
              <a:t>(Hybrid)</a:t>
            </a:r>
            <a:endParaRPr lang="en-US" sz="1000" dirty="0"/>
          </a:p>
        </p:txBody>
      </p:sp>
      <p:sp>
        <p:nvSpPr>
          <p:cNvPr id="25" name="Text 18">
            <a:extLst>
              <a:ext uri="{FF2B5EF4-FFF2-40B4-BE49-F238E27FC236}">
                <a16:creationId xmlns:a16="http://schemas.microsoft.com/office/drawing/2014/main" id="{1B97EC9B-115F-470B-90BA-7A6F2D8F316E}"/>
              </a:ext>
            </a:extLst>
          </p:cNvPr>
          <p:cNvSpPr/>
          <p:nvPr/>
        </p:nvSpPr>
        <p:spPr>
          <a:xfrm>
            <a:off x="457200" y="2788920"/>
            <a:ext cx="8229600" cy="274320"/>
          </a:xfrm>
          <a:prstGeom prst="rect">
            <a:avLst/>
          </a:prstGeom>
          <a:noFill/>
          <a:ln/>
        </p:spPr>
        <p:txBody>
          <a:bodyPr wrap="square" lIns="0" tIns="0" rIns="0" bIns="0" rtlCol="0" anchor="ctr"/>
          <a:lstStyle/>
          <a:p>
            <a:pPr marL="0" indent="0">
              <a:buNone/>
            </a:pPr>
            <a:r>
              <a:rPr lang="en-US" sz="1300" b="1" dirty="0">
                <a:solidFill>
                  <a:srgbClr val="0F172A"/>
                </a:solidFill>
                <a:latin typeface="Cambria" pitchFamily="34" charset="0"/>
                <a:ea typeface="Cambria" pitchFamily="34" charset="-122"/>
                <a:cs typeface="Cambria" pitchFamily="34" charset="-120"/>
              </a:rPr>
              <a:t>Retrieval-Tool für den Chatbot</a:t>
            </a:r>
            <a:endParaRPr lang="en-US" sz="1300" dirty="0"/>
          </a:p>
        </p:txBody>
      </p:sp>
      <p:sp>
        <p:nvSpPr>
          <p:cNvPr id="26" name="Shape 19">
            <a:extLst>
              <a:ext uri="{FF2B5EF4-FFF2-40B4-BE49-F238E27FC236}">
                <a16:creationId xmlns:a16="http://schemas.microsoft.com/office/drawing/2014/main" id="{3510C5DA-94F7-40FB-8158-DC8F4F7E0698}"/>
              </a:ext>
            </a:extLst>
          </p:cNvPr>
          <p:cNvSpPr/>
          <p:nvPr/>
        </p:nvSpPr>
        <p:spPr>
          <a:xfrm>
            <a:off x="457200" y="3108960"/>
            <a:ext cx="5303520" cy="1600200"/>
          </a:xfrm>
          <a:prstGeom prst="rect">
            <a:avLst/>
          </a:prstGeom>
          <a:solidFill>
            <a:srgbClr val="1E293B"/>
          </a:solidFill>
          <a:ln w="12700">
            <a:solidFill>
              <a:srgbClr val="1E293B"/>
            </a:solidFill>
            <a:prstDash val="solid"/>
          </a:ln>
        </p:spPr>
      </p:sp>
      <p:sp>
        <p:nvSpPr>
          <p:cNvPr id="27" name="Text 20">
            <a:extLst>
              <a:ext uri="{FF2B5EF4-FFF2-40B4-BE49-F238E27FC236}">
                <a16:creationId xmlns:a16="http://schemas.microsoft.com/office/drawing/2014/main" id="{BEC7B0D9-46BB-4C89-BF5B-B2826EDF1E00}"/>
              </a:ext>
            </a:extLst>
          </p:cNvPr>
          <p:cNvSpPr/>
          <p:nvPr/>
        </p:nvSpPr>
        <p:spPr>
          <a:xfrm>
            <a:off x="640080" y="3200400"/>
            <a:ext cx="5029200" cy="1417320"/>
          </a:xfrm>
          <a:prstGeom prst="rect">
            <a:avLst/>
          </a:prstGeom>
          <a:noFill/>
          <a:ln/>
        </p:spPr>
        <p:txBody>
          <a:bodyPr wrap="square" lIns="0" tIns="0" rIns="0" bIns="0" rtlCol="0" anchor="ctr"/>
          <a:lstStyle/>
          <a:p>
            <a:pPr marL="0" indent="0">
              <a:lnSpc>
                <a:spcPct val="135000"/>
              </a:lnSpc>
              <a:buNone/>
            </a:pPr>
            <a:r>
              <a:rPr lang="en-US" sz="1100" b="1" dirty="0">
                <a:solidFill>
                  <a:srgbClr val="93C5FD"/>
                </a:solidFill>
                <a:latin typeface="Consolas" pitchFamily="34" charset="0"/>
                <a:ea typeface="Consolas" pitchFamily="34" charset="-122"/>
                <a:cs typeface="Consolas" pitchFamily="34" charset="-120"/>
              </a:rPr>
              <a:t>search</a:t>
            </a:r>
            <a:r>
              <a:rPr lang="en-US" sz="1100" dirty="0">
                <a:solidFill>
                  <a:srgbClr val="E2E8F0"/>
                </a:solidFill>
                <a:latin typeface="Consolas" pitchFamily="34" charset="0"/>
                <a:ea typeface="Consolas" pitchFamily="34" charset="-122"/>
                <a:cs typeface="Consolas" pitchFamily="34" charset="-120"/>
              </a:rPr>
              <a:t>({</a:t>
            </a:r>
            <a:endParaRPr lang="en-US" sz="1100" dirty="0"/>
          </a:p>
          <a:p>
            <a:pPr marL="0" indent="0">
              <a:lnSpc>
                <a:spcPct val="135000"/>
              </a:lnSpc>
              <a:buNone/>
            </a:pPr>
            <a:r>
              <a:rPr lang="en-US" sz="1100" dirty="0">
                <a:solidFill>
                  <a:srgbClr val="93C5FD"/>
                </a:solidFill>
                <a:latin typeface="Consolas" pitchFamily="34" charset="0"/>
                <a:ea typeface="Consolas" pitchFamily="34" charset="-122"/>
                <a:cs typeface="Consolas" pitchFamily="34" charset="-120"/>
              </a:rPr>
              <a:t>  vector_query</a:t>
            </a:r>
            <a:r>
              <a:rPr lang="en-US" sz="1100" dirty="0">
                <a:solidFill>
                  <a:srgbClr val="E2E8F0"/>
                </a:solidFill>
                <a:latin typeface="Consolas" pitchFamily="34" charset="0"/>
                <a:ea typeface="Consolas" pitchFamily="34" charset="-122"/>
                <a:cs typeface="Consolas" pitchFamily="34" charset="-120"/>
              </a:rPr>
              <a:t>:      </a:t>
            </a:r>
            <a:r>
              <a:rPr lang="en-US" sz="1100" dirty="0">
                <a:solidFill>
                  <a:srgbClr val="FDE68A"/>
                </a:solidFill>
                <a:latin typeface="Consolas" pitchFamily="34" charset="0"/>
                <a:ea typeface="Consolas" pitchFamily="34" charset="-122"/>
                <a:cs typeface="Consolas" pitchFamily="34" charset="-120"/>
              </a:rPr>
              <a:t>"Kündigungsfrist"</a:t>
            </a:r>
            <a:endParaRPr lang="en-US" sz="1100" dirty="0"/>
          </a:p>
          <a:p>
            <a:pPr marL="0" indent="0">
              <a:lnSpc>
                <a:spcPct val="135000"/>
              </a:lnSpc>
              <a:buNone/>
            </a:pPr>
            <a:r>
              <a:rPr lang="en-US" sz="1100" dirty="0">
                <a:solidFill>
                  <a:srgbClr val="93C5FD"/>
                </a:solidFill>
                <a:latin typeface="Consolas" pitchFamily="34" charset="0"/>
                <a:ea typeface="Consolas" pitchFamily="34" charset="-122"/>
                <a:cs typeface="Consolas" pitchFamily="34" charset="-120"/>
              </a:rPr>
              <a:t>  bm25_query</a:t>
            </a:r>
            <a:r>
              <a:rPr lang="en-US" sz="1100" dirty="0">
                <a:solidFill>
                  <a:srgbClr val="E2E8F0"/>
                </a:solidFill>
                <a:latin typeface="Consolas" pitchFamily="34" charset="0"/>
                <a:ea typeface="Consolas" pitchFamily="34" charset="-122"/>
                <a:cs typeface="Consolas" pitchFamily="34" charset="-120"/>
              </a:rPr>
              <a:t>:        </a:t>
            </a:r>
            <a:r>
              <a:rPr lang="en-US" sz="1100" dirty="0">
                <a:solidFill>
                  <a:srgbClr val="FDE68A"/>
                </a:solidFill>
                <a:latin typeface="Consolas" pitchFamily="34" charset="0"/>
                <a:ea typeface="Consolas" pitchFamily="34" charset="-122"/>
                <a:cs typeface="Consolas" pitchFamily="34" charset="-120"/>
              </a:rPr>
              <a:t>"§ 622 BGB"</a:t>
            </a:r>
            <a:endParaRPr lang="en-US" sz="1100" dirty="0"/>
          </a:p>
          <a:p>
            <a:pPr marL="0" indent="0">
              <a:lnSpc>
                <a:spcPct val="135000"/>
              </a:lnSpc>
              <a:buNone/>
            </a:pPr>
            <a:r>
              <a:rPr lang="en-US" sz="1100" dirty="0">
                <a:solidFill>
                  <a:srgbClr val="93C5FD"/>
                </a:solidFill>
                <a:latin typeface="Consolas" pitchFamily="34" charset="0"/>
                <a:ea typeface="Consolas" pitchFamily="34" charset="-122"/>
                <a:cs typeface="Consolas" pitchFamily="34" charset="-120"/>
              </a:rPr>
              <a:t>  vector_weight</a:t>
            </a:r>
            <a:r>
              <a:rPr lang="en-US" sz="1100" dirty="0">
                <a:solidFill>
                  <a:srgbClr val="E2E8F0"/>
                </a:solidFill>
                <a:latin typeface="Consolas" pitchFamily="34" charset="0"/>
                <a:ea typeface="Consolas" pitchFamily="34" charset="-122"/>
                <a:cs typeface="Consolas" pitchFamily="34" charset="-120"/>
              </a:rPr>
              <a:t>:     </a:t>
            </a:r>
            <a:r>
              <a:rPr lang="en-US" sz="1100" dirty="0">
                <a:solidFill>
                  <a:srgbClr val="FCA5A5"/>
                </a:solidFill>
                <a:latin typeface="Consolas" pitchFamily="34" charset="0"/>
                <a:ea typeface="Consolas" pitchFamily="34" charset="-122"/>
                <a:cs typeface="Consolas" pitchFamily="34" charset="-120"/>
              </a:rPr>
              <a:t>0.2</a:t>
            </a:r>
            <a:endParaRPr lang="en-US" sz="1100" dirty="0"/>
          </a:p>
          <a:p>
            <a:pPr marL="0" indent="0">
              <a:lnSpc>
                <a:spcPct val="135000"/>
              </a:lnSpc>
              <a:buNone/>
            </a:pPr>
            <a:r>
              <a:rPr lang="en-US" sz="1100" dirty="0">
                <a:solidFill>
                  <a:srgbClr val="93C5FD"/>
                </a:solidFill>
                <a:latin typeface="Consolas" pitchFamily="34" charset="0"/>
                <a:ea typeface="Consolas" pitchFamily="34" charset="-122"/>
                <a:cs typeface="Consolas" pitchFamily="34" charset="-120"/>
              </a:rPr>
              <a:t>  excluded_keywords</a:t>
            </a:r>
            <a:r>
              <a:rPr lang="en-US" sz="1100" dirty="0">
                <a:solidFill>
                  <a:srgbClr val="E2E8F0"/>
                </a:solidFill>
                <a:latin typeface="Consolas" pitchFamily="34" charset="0"/>
                <a:ea typeface="Consolas" pitchFamily="34" charset="-122"/>
                <a:cs typeface="Consolas" pitchFamily="34" charset="-120"/>
              </a:rPr>
              <a:t>: </a:t>
            </a:r>
            <a:r>
              <a:rPr lang="en-US" sz="1100" dirty="0">
                <a:solidFill>
                  <a:srgbClr val="FDE68A"/>
                </a:solidFill>
                <a:latin typeface="Consolas" pitchFamily="34" charset="0"/>
                <a:ea typeface="Consolas" pitchFamily="34" charset="-122"/>
                <a:cs typeface="Consolas" pitchFamily="34" charset="-120"/>
              </a:rPr>
              <a:t>["Entwurf"]</a:t>
            </a:r>
            <a:endParaRPr lang="en-US" sz="1100" dirty="0"/>
          </a:p>
          <a:p>
            <a:pPr marL="0" indent="0">
              <a:lnSpc>
                <a:spcPct val="135000"/>
              </a:lnSpc>
              <a:buNone/>
            </a:pPr>
            <a:r>
              <a:rPr lang="en-US" sz="1100" dirty="0">
                <a:solidFill>
                  <a:srgbClr val="E2E8F0"/>
                </a:solidFill>
                <a:latin typeface="Consolas" pitchFamily="34" charset="0"/>
                <a:ea typeface="Consolas" pitchFamily="34" charset="-122"/>
                <a:cs typeface="Consolas" pitchFamily="34" charset="-120"/>
              </a:rPr>
              <a:t>})</a:t>
            </a:r>
            <a:endParaRPr lang="en-US" sz="1100" dirty="0"/>
          </a:p>
        </p:txBody>
      </p:sp>
      <p:sp>
        <p:nvSpPr>
          <p:cNvPr id="28" name="Text 21">
            <a:extLst>
              <a:ext uri="{FF2B5EF4-FFF2-40B4-BE49-F238E27FC236}">
                <a16:creationId xmlns:a16="http://schemas.microsoft.com/office/drawing/2014/main" id="{41542B15-616A-48EE-8224-9860E0A148C1}"/>
              </a:ext>
            </a:extLst>
          </p:cNvPr>
          <p:cNvSpPr/>
          <p:nvPr/>
        </p:nvSpPr>
        <p:spPr>
          <a:xfrm>
            <a:off x="5943600" y="3108960"/>
            <a:ext cx="2743200" cy="274320"/>
          </a:xfrm>
          <a:prstGeom prst="rect">
            <a:avLst/>
          </a:prstGeom>
          <a:noFill/>
          <a:ln/>
        </p:spPr>
        <p:txBody>
          <a:bodyPr wrap="square" lIns="0" tIns="0" rIns="0" bIns="0" rtlCol="0" anchor="ctr"/>
          <a:lstStyle/>
          <a:p>
            <a:pPr marL="0" indent="0">
              <a:buNone/>
            </a:pPr>
            <a:r>
              <a:rPr lang="en-US" sz="1200" b="1" dirty="0">
                <a:solidFill>
                  <a:srgbClr val="0F172A"/>
                </a:solidFill>
                <a:latin typeface="Cambria" pitchFamily="34" charset="0"/>
                <a:ea typeface="Cambria" pitchFamily="34" charset="-122"/>
                <a:cs typeface="Cambria" pitchFamily="34" charset="-120"/>
              </a:rPr>
              <a:t>Warum diese Wahl?</a:t>
            </a:r>
            <a:endParaRPr lang="en-US" sz="1200" dirty="0"/>
          </a:p>
        </p:txBody>
      </p:sp>
      <p:sp>
        <p:nvSpPr>
          <p:cNvPr id="29" name="Shape 22">
            <a:extLst>
              <a:ext uri="{FF2B5EF4-FFF2-40B4-BE49-F238E27FC236}">
                <a16:creationId xmlns:a16="http://schemas.microsoft.com/office/drawing/2014/main" id="{FB24D0F2-EF19-43A6-A1AC-E3D2EEC62E41}"/>
              </a:ext>
            </a:extLst>
          </p:cNvPr>
          <p:cNvSpPr/>
          <p:nvPr/>
        </p:nvSpPr>
        <p:spPr>
          <a:xfrm>
            <a:off x="5943600" y="3456432"/>
            <a:ext cx="73152" cy="73152"/>
          </a:xfrm>
          <a:prstGeom prst="ellipse">
            <a:avLst/>
          </a:prstGeom>
          <a:solidFill>
            <a:srgbClr val="F97316"/>
          </a:solidFill>
          <a:ln w="12700">
            <a:solidFill>
              <a:srgbClr val="F97316"/>
            </a:solidFill>
            <a:prstDash val="solid"/>
          </a:ln>
        </p:spPr>
      </p:sp>
      <p:sp>
        <p:nvSpPr>
          <p:cNvPr id="30" name="Text 23">
            <a:extLst>
              <a:ext uri="{FF2B5EF4-FFF2-40B4-BE49-F238E27FC236}">
                <a16:creationId xmlns:a16="http://schemas.microsoft.com/office/drawing/2014/main" id="{E20D34F9-0BF7-48CA-A839-CF8164E8CAA3}"/>
              </a:ext>
            </a:extLst>
          </p:cNvPr>
          <p:cNvSpPr/>
          <p:nvPr/>
        </p:nvSpPr>
        <p:spPr>
          <a:xfrm>
            <a:off x="6080760" y="3401568"/>
            <a:ext cx="2606040" cy="365760"/>
          </a:xfrm>
          <a:prstGeom prst="rect">
            <a:avLst/>
          </a:prstGeom>
          <a:noFill/>
          <a:ln/>
        </p:spPr>
        <p:txBody>
          <a:bodyPr wrap="square" lIns="0" tIns="0" rIns="0" bIns="0" rtlCol="0" anchor="ctr"/>
          <a:lstStyle/>
          <a:p>
            <a:pPr marL="0" indent="0">
              <a:lnSpc>
                <a:spcPct val="125000"/>
              </a:lnSpc>
              <a:buNone/>
            </a:pPr>
            <a:r>
              <a:rPr lang="en-US" sz="1050" dirty="0">
                <a:solidFill>
                  <a:srgbClr val="1E293B"/>
                </a:solidFill>
                <a:latin typeface="Calibri" pitchFamily="34" charset="0"/>
                <a:ea typeface="Calibri" pitchFamily="34" charset="-122"/>
                <a:cs typeface="Calibri" pitchFamily="34" charset="-120"/>
              </a:rPr>
              <a:t>Qwen3-Embedding:</a:t>
            </a:r>
          </a:p>
          <a:p>
            <a:pPr marL="0" indent="0">
              <a:lnSpc>
                <a:spcPct val="125000"/>
              </a:lnSpc>
              <a:buNone/>
            </a:pPr>
            <a:r>
              <a:rPr lang="en-US" sz="1050" dirty="0">
                <a:solidFill>
                  <a:srgbClr val="1E293B"/>
                </a:solidFill>
                <a:latin typeface="Calibri" pitchFamily="34" charset="0"/>
                <a:ea typeface="Calibri" pitchFamily="34" charset="-122"/>
                <a:cs typeface="Calibri" pitchFamily="34" charset="-120"/>
              </a:rPr>
              <a:t>Top-</a:t>
            </a:r>
            <a:r>
              <a:rPr lang="en-US" sz="1050" dirty="0" err="1">
                <a:solidFill>
                  <a:srgbClr val="1E293B"/>
                </a:solidFill>
                <a:latin typeface="Calibri" pitchFamily="34" charset="0"/>
                <a:ea typeface="Calibri" pitchFamily="34" charset="-122"/>
                <a:cs typeface="Calibri" pitchFamily="34" charset="-120"/>
              </a:rPr>
              <a:t>Werte</a:t>
            </a:r>
            <a:r>
              <a:rPr lang="en-US" sz="1050" dirty="0">
                <a:solidFill>
                  <a:srgbClr val="1E293B"/>
                </a:solidFill>
                <a:latin typeface="Calibri" pitchFamily="34" charset="0"/>
                <a:ea typeface="Calibri" pitchFamily="34" charset="-122"/>
                <a:cs typeface="Calibri" pitchFamily="34" charset="-120"/>
              </a:rPr>
              <a:t> im MTEB-Benchmark für DE/EN </a:t>
            </a:r>
            <a:r>
              <a:rPr lang="en-US" sz="800" dirty="0">
                <a:solidFill>
                  <a:schemeClr val="bg1">
                    <a:lumMod val="65000"/>
                  </a:schemeClr>
                </a:solidFill>
                <a:latin typeface="Calibri" pitchFamily="34" charset="0"/>
                <a:ea typeface="Calibri" pitchFamily="34" charset="-122"/>
                <a:cs typeface="Calibri" pitchFamily="34" charset="-120"/>
              </a:rPr>
              <a:t>[Q9]</a:t>
            </a:r>
            <a:endParaRPr lang="en-US" sz="800" dirty="0">
              <a:solidFill>
                <a:schemeClr val="bg1">
                  <a:lumMod val="65000"/>
                </a:schemeClr>
              </a:solidFill>
            </a:endParaRPr>
          </a:p>
        </p:txBody>
      </p:sp>
      <p:sp>
        <p:nvSpPr>
          <p:cNvPr id="31" name="Shape 24">
            <a:extLst>
              <a:ext uri="{FF2B5EF4-FFF2-40B4-BE49-F238E27FC236}">
                <a16:creationId xmlns:a16="http://schemas.microsoft.com/office/drawing/2014/main" id="{1BE355AC-6F91-4049-B35E-E2106079BC17}"/>
              </a:ext>
            </a:extLst>
          </p:cNvPr>
          <p:cNvSpPr/>
          <p:nvPr/>
        </p:nvSpPr>
        <p:spPr>
          <a:xfrm>
            <a:off x="5943600" y="3840480"/>
            <a:ext cx="73152" cy="73152"/>
          </a:xfrm>
          <a:prstGeom prst="ellipse">
            <a:avLst/>
          </a:prstGeom>
          <a:solidFill>
            <a:srgbClr val="F97316"/>
          </a:solidFill>
          <a:ln w="12700">
            <a:solidFill>
              <a:srgbClr val="F97316"/>
            </a:solidFill>
            <a:prstDash val="solid"/>
          </a:ln>
        </p:spPr>
      </p:sp>
      <p:sp>
        <p:nvSpPr>
          <p:cNvPr id="32" name="Text 25">
            <a:extLst>
              <a:ext uri="{FF2B5EF4-FFF2-40B4-BE49-F238E27FC236}">
                <a16:creationId xmlns:a16="http://schemas.microsoft.com/office/drawing/2014/main" id="{556B84F7-4C1D-44EF-8B52-40D2025F9EEE}"/>
              </a:ext>
            </a:extLst>
          </p:cNvPr>
          <p:cNvSpPr/>
          <p:nvPr/>
        </p:nvSpPr>
        <p:spPr>
          <a:xfrm>
            <a:off x="6080760" y="3785616"/>
            <a:ext cx="2606040" cy="365760"/>
          </a:xfrm>
          <a:prstGeom prst="rect">
            <a:avLst/>
          </a:prstGeom>
          <a:noFill/>
          <a:ln/>
        </p:spPr>
        <p:txBody>
          <a:bodyPr wrap="square" lIns="0" tIns="0" rIns="0" bIns="0" rtlCol="0" anchor="ctr"/>
          <a:lstStyle/>
          <a:p>
            <a:pPr marL="0" indent="0">
              <a:lnSpc>
                <a:spcPct val="125000"/>
              </a:lnSpc>
              <a:buNone/>
            </a:pPr>
            <a:r>
              <a:rPr lang="en-US" sz="1050" dirty="0" err="1">
                <a:solidFill>
                  <a:srgbClr val="1E293B"/>
                </a:solidFill>
                <a:latin typeface="Calibri" pitchFamily="34" charset="0"/>
                <a:ea typeface="Calibri" pitchFamily="34" charset="-122"/>
                <a:cs typeface="Calibri" pitchFamily="34" charset="-120"/>
              </a:rPr>
              <a:t>Lokaler</a:t>
            </a:r>
            <a:r>
              <a:rPr lang="en-US" sz="1050" dirty="0">
                <a:solidFill>
                  <a:srgbClr val="1E293B"/>
                </a:solidFill>
                <a:latin typeface="Calibri" pitchFamily="34" charset="0"/>
                <a:ea typeface="Calibri" pitchFamily="34" charset="-122"/>
                <a:cs typeface="Calibri" pitchFamily="34" charset="-120"/>
              </a:rPr>
              <a:t> </a:t>
            </a:r>
            <a:r>
              <a:rPr lang="en-US" sz="1050" dirty="0" err="1">
                <a:solidFill>
                  <a:srgbClr val="1E293B"/>
                </a:solidFill>
                <a:latin typeface="Calibri" pitchFamily="34" charset="0"/>
                <a:ea typeface="Calibri" pitchFamily="34" charset="-122"/>
                <a:cs typeface="Calibri" pitchFamily="34" charset="-120"/>
              </a:rPr>
              <a:t>Betrieb</a:t>
            </a:r>
            <a:r>
              <a:rPr lang="en-US" sz="1050" dirty="0">
                <a:solidFill>
                  <a:srgbClr val="1E293B"/>
                </a:solidFill>
                <a:latin typeface="Calibri" pitchFamily="34" charset="0"/>
                <a:ea typeface="Calibri" pitchFamily="34" charset="-122"/>
                <a:cs typeface="Calibri" pitchFamily="34" charset="-120"/>
              </a:rPr>
              <a:t>:</a:t>
            </a:r>
            <a:br>
              <a:rPr lang="en-US" sz="1050" dirty="0">
                <a:solidFill>
                  <a:srgbClr val="1E293B"/>
                </a:solidFill>
                <a:latin typeface="Calibri" pitchFamily="34" charset="0"/>
                <a:ea typeface="Calibri" pitchFamily="34" charset="-122"/>
                <a:cs typeface="Calibri" pitchFamily="34" charset="-120"/>
              </a:rPr>
            </a:br>
            <a:r>
              <a:rPr lang="en-US" sz="1050" dirty="0">
                <a:solidFill>
                  <a:srgbClr val="1E293B"/>
                </a:solidFill>
                <a:latin typeface="Calibri" pitchFamily="34" charset="0"/>
                <a:ea typeface="Calibri" pitchFamily="34" charset="-122"/>
                <a:cs typeface="Calibri" pitchFamily="34" charset="-120"/>
              </a:rPr>
              <a:t> </a:t>
            </a:r>
            <a:r>
              <a:rPr lang="en-US" sz="1050" dirty="0">
                <a:solidFill>
                  <a:srgbClr val="475569"/>
                </a:solidFill>
                <a:latin typeface="Calibri" pitchFamily="34" charset="0"/>
                <a:ea typeface="Calibri" pitchFamily="34" charset="-122"/>
                <a:cs typeface="Calibri" pitchFamily="34" charset="-120"/>
              </a:rPr>
              <a:t>→</a:t>
            </a:r>
            <a:r>
              <a:rPr lang="en-US" sz="1050" b="1" dirty="0">
                <a:solidFill>
                  <a:srgbClr val="475569"/>
                </a:solidFill>
                <a:latin typeface="Calibri" pitchFamily="34" charset="0"/>
                <a:ea typeface="Calibri" pitchFamily="34" charset="-122"/>
                <a:cs typeface="Calibri" pitchFamily="34" charset="-120"/>
              </a:rPr>
              <a:t> </a:t>
            </a:r>
            <a:r>
              <a:rPr lang="en-US" sz="1050" dirty="0" err="1">
                <a:solidFill>
                  <a:srgbClr val="1E293B"/>
                </a:solidFill>
                <a:latin typeface="Calibri" pitchFamily="34" charset="0"/>
                <a:ea typeface="Calibri" pitchFamily="34" charset="-122"/>
                <a:cs typeface="Calibri" pitchFamily="34" charset="-120"/>
              </a:rPr>
              <a:t>keine</a:t>
            </a:r>
            <a:r>
              <a:rPr lang="en-US" sz="1050" dirty="0">
                <a:solidFill>
                  <a:srgbClr val="1E293B"/>
                </a:solidFill>
                <a:latin typeface="Calibri" pitchFamily="34" charset="0"/>
                <a:ea typeface="Calibri" pitchFamily="34" charset="-122"/>
                <a:cs typeface="Calibri" pitchFamily="34" charset="-120"/>
              </a:rPr>
              <a:t> API-Kosten, DSGVO-konform</a:t>
            </a:r>
            <a:endParaRPr lang="en-US" sz="1050" dirty="0"/>
          </a:p>
        </p:txBody>
      </p:sp>
      <p:sp>
        <p:nvSpPr>
          <p:cNvPr id="33" name="Shape 26">
            <a:extLst>
              <a:ext uri="{FF2B5EF4-FFF2-40B4-BE49-F238E27FC236}">
                <a16:creationId xmlns:a16="http://schemas.microsoft.com/office/drawing/2014/main" id="{45FE22E8-BCFE-4E96-BB8A-61608FA5B567}"/>
              </a:ext>
            </a:extLst>
          </p:cNvPr>
          <p:cNvSpPr/>
          <p:nvPr/>
        </p:nvSpPr>
        <p:spPr>
          <a:xfrm>
            <a:off x="5943600" y="4224528"/>
            <a:ext cx="73152" cy="73152"/>
          </a:xfrm>
          <a:prstGeom prst="ellipse">
            <a:avLst/>
          </a:prstGeom>
          <a:solidFill>
            <a:srgbClr val="F97316"/>
          </a:solidFill>
          <a:ln w="12700">
            <a:solidFill>
              <a:srgbClr val="F97316"/>
            </a:solidFill>
            <a:prstDash val="solid"/>
          </a:ln>
        </p:spPr>
      </p:sp>
      <p:sp>
        <p:nvSpPr>
          <p:cNvPr id="34" name="Text 27">
            <a:extLst>
              <a:ext uri="{FF2B5EF4-FFF2-40B4-BE49-F238E27FC236}">
                <a16:creationId xmlns:a16="http://schemas.microsoft.com/office/drawing/2014/main" id="{739854A1-B163-43AE-991C-B8AB5B2C8D20}"/>
              </a:ext>
            </a:extLst>
          </p:cNvPr>
          <p:cNvSpPr/>
          <p:nvPr/>
        </p:nvSpPr>
        <p:spPr>
          <a:xfrm>
            <a:off x="6080760" y="4169664"/>
            <a:ext cx="2606040" cy="365760"/>
          </a:xfrm>
          <a:prstGeom prst="rect">
            <a:avLst/>
          </a:prstGeom>
          <a:noFill/>
          <a:ln/>
        </p:spPr>
        <p:txBody>
          <a:bodyPr wrap="square" lIns="0" tIns="0" rIns="0" bIns="0" rtlCol="0" anchor="ctr"/>
          <a:lstStyle/>
          <a:p>
            <a:pPr marL="0" indent="0">
              <a:lnSpc>
                <a:spcPct val="125000"/>
              </a:lnSpc>
              <a:buNone/>
            </a:pPr>
            <a:r>
              <a:rPr lang="en-US" sz="1050" dirty="0" err="1">
                <a:solidFill>
                  <a:srgbClr val="1E293B"/>
                </a:solidFill>
                <a:latin typeface="Calibri" pitchFamily="34" charset="0"/>
                <a:ea typeface="Calibri" pitchFamily="34" charset="-122"/>
                <a:cs typeface="Calibri" pitchFamily="34" charset="-120"/>
              </a:rPr>
              <a:t>Qdrant</a:t>
            </a:r>
            <a:r>
              <a:rPr lang="en-US" sz="1050" dirty="0">
                <a:solidFill>
                  <a:srgbClr val="1E293B"/>
                </a:solidFill>
                <a:latin typeface="Calibri" pitchFamily="34" charset="0"/>
                <a:ea typeface="Calibri" pitchFamily="34" charset="-122"/>
                <a:cs typeface="Calibri" pitchFamily="34" charset="-120"/>
              </a:rPr>
              <a:t> </a:t>
            </a:r>
            <a:r>
              <a:rPr lang="en-US" sz="1050" dirty="0" err="1">
                <a:solidFill>
                  <a:srgbClr val="1E293B"/>
                </a:solidFill>
                <a:latin typeface="Calibri" pitchFamily="34" charset="0"/>
                <a:ea typeface="Calibri" pitchFamily="34" charset="-122"/>
                <a:cs typeface="Calibri" pitchFamily="34" charset="-120"/>
              </a:rPr>
              <a:t>ist</a:t>
            </a:r>
            <a:r>
              <a:rPr lang="en-US" sz="1050" dirty="0">
                <a:solidFill>
                  <a:srgbClr val="1E293B"/>
                </a:solidFill>
                <a:latin typeface="Calibri" pitchFamily="34" charset="0"/>
                <a:ea typeface="Calibri" pitchFamily="34" charset="-122"/>
                <a:cs typeface="Calibri" pitchFamily="34" charset="-120"/>
              </a:rPr>
              <a:t> hybrid aus einer Hand - kein </a:t>
            </a:r>
            <a:r>
              <a:rPr lang="en-US" sz="1050" dirty="0" err="1">
                <a:solidFill>
                  <a:srgbClr val="1E293B"/>
                </a:solidFill>
                <a:latin typeface="Calibri" pitchFamily="34" charset="0"/>
                <a:ea typeface="Calibri" pitchFamily="34" charset="-122"/>
                <a:cs typeface="Calibri" pitchFamily="34" charset="-120"/>
              </a:rPr>
              <a:t>zusätzlicher</a:t>
            </a:r>
            <a:r>
              <a:rPr lang="en-US" sz="1050" dirty="0">
                <a:solidFill>
                  <a:srgbClr val="1E293B"/>
                </a:solidFill>
                <a:latin typeface="Calibri" pitchFamily="34" charset="0"/>
                <a:ea typeface="Calibri" pitchFamily="34" charset="-122"/>
                <a:cs typeface="Calibri" pitchFamily="34" charset="-120"/>
              </a:rPr>
              <a:t> </a:t>
            </a:r>
            <a:r>
              <a:rPr lang="en-US" sz="1050" dirty="0" err="1">
                <a:solidFill>
                  <a:srgbClr val="1E293B"/>
                </a:solidFill>
                <a:latin typeface="Calibri" pitchFamily="34" charset="0"/>
                <a:ea typeface="Calibri" pitchFamily="34" charset="-122"/>
                <a:cs typeface="Calibri" pitchFamily="34" charset="-120"/>
              </a:rPr>
              <a:t>Suchindex</a:t>
            </a:r>
            <a:r>
              <a:rPr lang="en-US" sz="1050" dirty="0">
                <a:solidFill>
                  <a:srgbClr val="1E293B"/>
                </a:solidFill>
                <a:latin typeface="Calibri" pitchFamily="34" charset="0"/>
                <a:ea typeface="Calibri" pitchFamily="34" charset="-122"/>
                <a:cs typeface="Calibri" pitchFamily="34" charset="-120"/>
              </a:rPr>
              <a:t> </a:t>
            </a:r>
            <a:r>
              <a:rPr lang="en-US" sz="800" dirty="0">
                <a:solidFill>
                  <a:schemeClr val="bg1">
                    <a:lumMod val="65000"/>
                  </a:schemeClr>
                </a:solidFill>
                <a:latin typeface="Calibri" pitchFamily="34" charset="0"/>
                <a:ea typeface="Calibri" pitchFamily="34" charset="-122"/>
                <a:cs typeface="Calibri" pitchFamily="34" charset="-120"/>
              </a:rPr>
              <a:t>[Q10]</a:t>
            </a:r>
            <a:endParaRPr lang="en-US" sz="800" dirty="0">
              <a:solidFill>
                <a:schemeClr val="bg1">
                  <a:lumMod val="65000"/>
                </a:schemeClr>
              </a:solidFill>
            </a:endParaRPr>
          </a:p>
        </p:txBody>
      </p:sp>
    </p:spTree>
    <p:extLst>
      <p:ext uri="{BB962C8B-B14F-4D97-AF65-F5344CB8AC3E}">
        <p14:creationId xmlns:p14="http://schemas.microsoft.com/office/powerpoint/2010/main" val="41267327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Datumsplatzhalter 75">
            <a:extLst>
              <a:ext uri="{FF2B5EF4-FFF2-40B4-BE49-F238E27FC236}">
                <a16:creationId xmlns:a16="http://schemas.microsoft.com/office/drawing/2014/main" id="{FB534BCA-17DB-4EBE-9103-31EF5969BBD5}"/>
              </a:ext>
            </a:extLst>
          </p:cNvPr>
          <p:cNvSpPr>
            <a:spLocks noGrp="1"/>
          </p:cNvSpPr>
          <p:nvPr>
            <p:ph type="dt" sz="half" idx="10"/>
          </p:nvPr>
        </p:nvSpPr>
        <p:spPr>
          <a:xfrm>
            <a:off x="347840" y="4807006"/>
            <a:ext cx="2338210" cy="273844"/>
          </a:xfrm>
        </p:spPr>
        <p:txBody>
          <a:bodyPr/>
          <a:lstStyle/>
          <a:p>
            <a:fld id="{0D05602C-25EE-48A8-8786-3C51BA41DB9E}" type="datetime1">
              <a:rPr lang="de-DE"/>
              <a:t>04.05.2026</a:t>
            </a:fld>
            <a:endParaRPr lang="de-DE" dirty="0"/>
          </a:p>
        </p:txBody>
      </p:sp>
      <p:sp>
        <p:nvSpPr>
          <p:cNvPr id="77" name="Fußzeilenplatzhalter 76">
            <a:extLst>
              <a:ext uri="{FF2B5EF4-FFF2-40B4-BE49-F238E27FC236}">
                <a16:creationId xmlns:a16="http://schemas.microsoft.com/office/drawing/2014/main" id="{10A96F6C-9081-4668-9382-F92081EE73D0}"/>
              </a:ext>
            </a:extLst>
          </p:cNvPr>
          <p:cNvSpPr>
            <a:spLocks noGrp="1"/>
          </p:cNvSpPr>
          <p:nvPr>
            <p:ph type="ftr" sz="quarter" idx="11"/>
          </p:nvPr>
        </p:nvSpPr>
        <p:spPr>
          <a:xfrm>
            <a:off x="2686050" y="4807006"/>
            <a:ext cx="3812404" cy="273844"/>
          </a:xfrm>
        </p:spPr>
        <p:txBody>
          <a:bodyPr/>
          <a:lstStyle/>
          <a:p>
            <a:r>
              <a:rPr lang="de-DE" dirty="0"/>
              <a:t>Vektordatenbanken </a:t>
            </a:r>
            <a:r>
              <a:rPr lang="en-US" dirty="0"/>
              <a:t>· </a:t>
            </a:r>
            <a:r>
              <a:rPr lang="en-US" dirty="0" err="1"/>
              <a:t>Studienprojekt</a:t>
            </a:r>
            <a:r>
              <a:rPr lang="en-US" dirty="0"/>
              <a:t> Reverse Chatbots</a:t>
            </a:r>
            <a:endParaRPr lang="de-DE" dirty="0"/>
          </a:p>
        </p:txBody>
      </p:sp>
      <p:sp>
        <p:nvSpPr>
          <p:cNvPr id="78" name="Foliennummernplatzhalter 77">
            <a:extLst>
              <a:ext uri="{FF2B5EF4-FFF2-40B4-BE49-F238E27FC236}">
                <a16:creationId xmlns:a16="http://schemas.microsoft.com/office/drawing/2014/main" id="{2B507CAF-8A2B-4670-8A8F-519A0AECCF4A}"/>
              </a:ext>
            </a:extLst>
          </p:cNvPr>
          <p:cNvSpPr>
            <a:spLocks noGrp="1"/>
          </p:cNvSpPr>
          <p:nvPr>
            <p:ph type="sldNum" sz="quarter" idx="12"/>
          </p:nvPr>
        </p:nvSpPr>
        <p:spPr>
          <a:xfrm>
            <a:off x="6457950" y="4807006"/>
            <a:ext cx="2338210" cy="273844"/>
          </a:xfrm>
        </p:spPr>
        <p:txBody>
          <a:bodyPr/>
          <a:lstStyle/>
          <a:p>
            <a:fld id="{0E836345-B243-4000-8050-9A1A9D10D9C9}" type="slidenum">
              <a:rPr lang="de-DE" smtClean="0"/>
              <a:t>10</a:t>
            </a:fld>
            <a:r>
              <a:rPr lang="de-DE" dirty="0"/>
              <a:t> / 12</a:t>
            </a:r>
          </a:p>
        </p:txBody>
      </p:sp>
      <p:pic>
        <p:nvPicPr>
          <p:cNvPr id="50" name="Grafik 49">
            <a:extLst>
              <a:ext uri="{FF2B5EF4-FFF2-40B4-BE49-F238E27FC236}">
                <a16:creationId xmlns:a16="http://schemas.microsoft.com/office/drawing/2014/main" id="{39A1D2A4-3C4C-4FC8-8AFB-03FC2B3E34C6}"/>
              </a:ext>
            </a:extLst>
          </p:cNvPr>
          <p:cNvPicPr>
            <a:picLocks noChangeAspect="1"/>
          </p:cNvPicPr>
          <p:nvPr/>
        </p:nvPicPr>
        <p:blipFill>
          <a:blip r:embed="rId3"/>
          <a:stretch>
            <a:fillRect/>
          </a:stretch>
        </p:blipFill>
        <p:spPr>
          <a:xfrm>
            <a:off x="-1" y="485385"/>
            <a:ext cx="9144000" cy="4314875"/>
          </a:xfrm>
          <a:prstGeom prst="rect">
            <a:avLst/>
          </a:prstGeom>
        </p:spPr>
      </p:pic>
      <p:sp>
        <p:nvSpPr>
          <p:cNvPr id="8" name="Titel 1">
            <a:extLst>
              <a:ext uri="{FF2B5EF4-FFF2-40B4-BE49-F238E27FC236}">
                <a16:creationId xmlns:a16="http://schemas.microsoft.com/office/drawing/2014/main" id="{BD143167-2C4B-41E2-8839-E9115482A127}"/>
              </a:ext>
            </a:extLst>
          </p:cNvPr>
          <p:cNvSpPr txBox="1">
            <a:spLocks/>
          </p:cNvSpPr>
          <p:nvPr/>
        </p:nvSpPr>
        <p:spPr>
          <a:xfrm>
            <a:off x="205213" y="173191"/>
            <a:ext cx="1520846" cy="359255"/>
          </a:xfrm>
          <a:prstGeom prst="rect">
            <a:avLst/>
          </a:prstGeom>
        </p:spPr>
        <p:txBody>
          <a:bodyPr vert="horz" lIns="91440" tIns="45720" rIns="91440" bIns="45720" rtlCol="0" anchor="ctr">
            <a:normAutofit fontScale="67500" lnSpcReduction="20000"/>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3200" b="1" dirty="0" err="1">
                <a:solidFill>
                  <a:srgbClr val="0F172A"/>
                </a:solidFill>
                <a:latin typeface="Cambria" pitchFamily="34" charset="0"/>
                <a:ea typeface="Cambria" pitchFamily="34" charset="-122"/>
              </a:rPr>
              <a:t>Anhang</a:t>
            </a:r>
            <a:r>
              <a:rPr lang="en-US" sz="3200" b="1" dirty="0">
                <a:solidFill>
                  <a:srgbClr val="0F172A"/>
                </a:solidFill>
                <a:latin typeface="Cambria" pitchFamily="34" charset="0"/>
                <a:ea typeface="Cambria" pitchFamily="34" charset="-122"/>
              </a:rPr>
              <a:t> </a:t>
            </a:r>
            <a:endParaRPr lang="en-US" sz="3200" dirty="0"/>
          </a:p>
        </p:txBody>
      </p:sp>
    </p:spTree>
    <p:extLst>
      <p:ext uri="{BB962C8B-B14F-4D97-AF65-F5344CB8AC3E}">
        <p14:creationId xmlns:p14="http://schemas.microsoft.com/office/powerpoint/2010/main" val="39590804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Datumsplatzhalter 75">
            <a:extLst>
              <a:ext uri="{FF2B5EF4-FFF2-40B4-BE49-F238E27FC236}">
                <a16:creationId xmlns:a16="http://schemas.microsoft.com/office/drawing/2014/main" id="{FB534BCA-17DB-4EBE-9103-31EF5969BBD5}"/>
              </a:ext>
            </a:extLst>
          </p:cNvPr>
          <p:cNvSpPr>
            <a:spLocks noGrp="1"/>
          </p:cNvSpPr>
          <p:nvPr>
            <p:ph type="dt" sz="half" idx="10"/>
          </p:nvPr>
        </p:nvSpPr>
        <p:spPr>
          <a:xfrm>
            <a:off x="347840" y="4807006"/>
            <a:ext cx="2338210" cy="273844"/>
          </a:xfrm>
        </p:spPr>
        <p:txBody>
          <a:bodyPr/>
          <a:lstStyle/>
          <a:p>
            <a:fld id="{0D05602C-25EE-48A8-8786-3C51BA41DB9E}" type="datetime1">
              <a:rPr lang="de-DE"/>
              <a:t>04.05.2026</a:t>
            </a:fld>
            <a:endParaRPr lang="de-DE" dirty="0"/>
          </a:p>
        </p:txBody>
      </p:sp>
      <p:sp>
        <p:nvSpPr>
          <p:cNvPr id="77" name="Fußzeilenplatzhalter 76">
            <a:extLst>
              <a:ext uri="{FF2B5EF4-FFF2-40B4-BE49-F238E27FC236}">
                <a16:creationId xmlns:a16="http://schemas.microsoft.com/office/drawing/2014/main" id="{10A96F6C-9081-4668-9382-F92081EE73D0}"/>
              </a:ext>
            </a:extLst>
          </p:cNvPr>
          <p:cNvSpPr>
            <a:spLocks noGrp="1"/>
          </p:cNvSpPr>
          <p:nvPr>
            <p:ph type="ftr" sz="quarter" idx="11"/>
          </p:nvPr>
        </p:nvSpPr>
        <p:spPr>
          <a:xfrm>
            <a:off x="2686050" y="4807006"/>
            <a:ext cx="3812404" cy="273844"/>
          </a:xfrm>
        </p:spPr>
        <p:txBody>
          <a:bodyPr/>
          <a:lstStyle/>
          <a:p>
            <a:r>
              <a:rPr lang="de-DE" dirty="0"/>
              <a:t>Vektordatenbanken </a:t>
            </a:r>
            <a:r>
              <a:rPr lang="en-US" dirty="0"/>
              <a:t>· </a:t>
            </a:r>
            <a:r>
              <a:rPr lang="en-US" dirty="0" err="1"/>
              <a:t>Studienprojekt</a:t>
            </a:r>
            <a:r>
              <a:rPr lang="en-US" dirty="0"/>
              <a:t> Reverse Chatbots</a:t>
            </a:r>
            <a:endParaRPr lang="de-DE" dirty="0"/>
          </a:p>
        </p:txBody>
      </p:sp>
      <p:sp>
        <p:nvSpPr>
          <p:cNvPr id="78" name="Foliennummernplatzhalter 77">
            <a:extLst>
              <a:ext uri="{FF2B5EF4-FFF2-40B4-BE49-F238E27FC236}">
                <a16:creationId xmlns:a16="http://schemas.microsoft.com/office/drawing/2014/main" id="{2B507CAF-8A2B-4670-8A8F-519A0AECCF4A}"/>
              </a:ext>
            </a:extLst>
          </p:cNvPr>
          <p:cNvSpPr>
            <a:spLocks noGrp="1"/>
          </p:cNvSpPr>
          <p:nvPr>
            <p:ph type="sldNum" sz="quarter" idx="12"/>
          </p:nvPr>
        </p:nvSpPr>
        <p:spPr>
          <a:xfrm>
            <a:off x="6457950" y="4807006"/>
            <a:ext cx="2338210" cy="273844"/>
          </a:xfrm>
        </p:spPr>
        <p:txBody>
          <a:bodyPr/>
          <a:lstStyle/>
          <a:p>
            <a:fld id="{0E836345-B243-4000-8050-9A1A9D10D9C9}" type="slidenum">
              <a:rPr lang="de-DE" smtClean="0"/>
              <a:t>11</a:t>
            </a:fld>
            <a:r>
              <a:rPr lang="de-DE" dirty="0"/>
              <a:t> / 12</a:t>
            </a:r>
          </a:p>
        </p:txBody>
      </p:sp>
      <p:sp>
        <p:nvSpPr>
          <p:cNvPr id="12" name="Titel 1">
            <a:extLst>
              <a:ext uri="{FF2B5EF4-FFF2-40B4-BE49-F238E27FC236}">
                <a16:creationId xmlns:a16="http://schemas.microsoft.com/office/drawing/2014/main" id="{81E954D4-F65D-4D0A-86F3-BBAEF3CF2E4C}"/>
              </a:ext>
            </a:extLst>
          </p:cNvPr>
          <p:cNvSpPr txBox="1">
            <a:spLocks/>
          </p:cNvSpPr>
          <p:nvPr/>
        </p:nvSpPr>
        <p:spPr>
          <a:xfrm>
            <a:off x="326356" y="382496"/>
            <a:ext cx="6549399" cy="359255"/>
          </a:xfrm>
          <a:prstGeom prst="rect">
            <a:avLst/>
          </a:prstGeom>
        </p:spPr>
        <p:txBody>
          <a:bodyPr vert="horz" lIns="91440" tIns="45720" rIns="91440" bIns="45720" rtlCol="0" anchor="ctr">
            <a:normAutofit fontScale="67500" lnSpcReduction="20000"/>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3200" b="1" dirty="0" err="1">
                <a:solidFill>
                  <a:srgbClr val="0F172A"/>
                </a:solidFill>
                <a:latin typeface="Cambria" pitchFamily="34" charset="0"/>
                <a:ea typeface="Cambria" pitchFamily="34" charset="-122"/>
              </a:rPr>
              <a:t>Anhang</a:t>
            </a:r>
            <a:r>
              <a:rPr lang="en-US" sz="3200" b="1" dirty="0">
                <a:solidFill>
                  <a:srgbClr val="0F172A"/>
                </a:solidFill>
                <a:latin typeface="Cambria" pitchFamily="34" charset="0"/>
                <a:ea typeface="Cambria" pitchFamily="34" charset="-122"/>
              </a:rPr>
              <a:t> </a:t>
            </a:r>
            <a:endParaRPr lang="en-US" sz="3200" dirty="0"/>
          </a:p>
        </p:txBody>
      </p:sp>
      <p:sp>
        <p:nvSpPr>
          <p:cNvPr id="13" name="Rechteck 12">
            <a:extLst>
              <a:ext uri="{FF2B5EF4-FFF2-40B4-BE49-F238E27FC236}">
                <a16:creationId xmlns:a16="http://schemas.microsoft.com/office/drawing/2014/main" id="{90551C61-1825-4DC6-8EAC-38A3DBDCC535}"/>
              </a:ext>
            </a:extLst>
          </p:cNvPr>
          <p:cNvSpPr/>
          <p:nvPr/>
        </p:nvSpPr>
        <p:spPr>
          <a:xfrm>
            <a:off x="452981" y="1083791"/>
            <a:ext cx="383507" cy="52083"/>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013"/>
          </a:p>
        </p:txBody>
      </p:sp>
      <p:sp>
        <p:nvSpPr>
          <p:cNvPr id="14" name="Titel 1">
            <a:extLst>
              <a:ext uri="{FF2B5EF4-FFF2-40B4-BE49-F238E27FC236}">
                <a16:creationId xmlns:a16="http://schemas.microsoft.com/office/drawing/2014/main" id="{EF21B44B-BFD0-4210-B8E5-DCDC48DDD8EF}"/>
              </a:ext>
            </a:extLst>
          </p:cNvPr>
          <p:cNvSpPr txBox="1">
            <a:spLocks/>
          </p:cNvSpPr>
          <p:nvPr/>
        </p:nvSpPr>
        <p:spPr>
          <a:xfrm>
            <a:off x="361192" y="688385"/>
            <a:ext cx="4292206" cy="359255"/>
          </a:xfrm>
          <a:prstGeom prst="rect">
            <a:avLst/>
          </a:prstGeom>
        </p:spPr>
        <p:txBody>
          <a:bodyPr vert="horz" lIns="68580" tIns="34290" rIns="68580" bIns="3429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sz="1500" dirty="0">
                <a:solidFill>
                  <a:srgbClr val="0F172A"/>
                </a:solidFill>
                <a:latin typeface="Calibri Light" panose="020F0302020204030204" pitchFamily="34" charset="0"/>
                <a:ea typeface="Calibri Light" panose="020F0302020204030204" pitchFamily="34" charset="0"/>
                <a:cs typeface="Calibri Light" panose="020F0302020204030204" pitchFamily="34" charset="0"/>
              </a:rPr>
              <a:t>Quellen</a:t>
            </a:r>
          </a:p>
        </p:txBody>
      </p:sp>
      <p:sp>
        <p:nvSpPr>
          <p:cNvPr id="2" name="Textfeld 1">
            <a:extLst>
              <a:ext uri="{FF2B5EF4-FFF2-40B4-BE49-F238E27FC236}">
                <a16:creationId xmlns:a16="http://schemas.microsoft.com/office/drawing/2014/main" id="{71FEA43F-EE43-4D54-9BB3-00F09834B87B}"/>
              </a:ext>
            </a:extLst>
          </p:cNvPr>
          <p:cNvSpPr txBox="1"/>
          <p:nvPr/>
        </p:nvSpPr>
        <p:spPr>
          <a:xfrm>
            <a:off x="381740" y="1353529"/>
            <a:ext cx="5097870" cy="3416320"/>
          </a:xfrm>
          <a:prstGeom prst="rect">
            <a:avLst/>
          </a:prstGeom>
          <a:noFill/>
        </p:spPr>
        <p:txBody>
          <a:bodyPr wrap="none" rtlCol="0">
            <a:spAutoFit/>
          </a:bodyPr>
          <a:lstStyle/>
          <a:p>
            <a:r>
              <a:rPr lang="de-DE" sz="1000" dirty="0"/>
              <a:t>Q1 - Google BERT Blogpost</a:t>
            </a:r>
          </a:p>
          <a:p>
            <a:r>
              <a:rPr lang="de-DE" sz="800" dirty="0">
                <a:hlinkClick r:id="rId3"/>
              </a:rPr>
              <a:t>https://blog.google/products/search/search-language-understanding-bert/</a:t>
            </a:r>
            <a:endParaRPr lang="de-DE" sz="800" dirty="0"/>
          </a:p>
          <a:p>
            <a:r>
              <a:rPr lang="de-DE" sz="1000" dirty="0"/>
              <a:t>Q2 - </a:t>
            </a:r>
            <a:r>
              <a:rPr lang="de-DE" sz="1000" dirty="0" err="1"/>
              <a:t>TikTok</a:t>
            </a:r>
            <a:r>
              <a:rPr lang="de-DE" sz="1000" dirty="0"/>
              <a:t> / Monolith (</a:t>
            </a:r>
            <a:r>
              <a:rPr lang="de-DE" sz="1000" dirty="0" err="1"/>
              <a:t>ByteDance</a:t>
            </a:r>
            <a:r>
              <a:rPr lang="de-DE" sz="1000" dirty="0"/>
              <a:t>, Liu et al. 2022)</a:t>
            </a:r>
          </a:p>
          <a:p>
            <a:r>
              <a:rPr lang="de-DE" sz="800" dirty="0">
                <a:hlinkClick r:id="rId4"/>
              </a:rPr>
              <a:t>https://arxiv.org/abs/2209.07663</a:t>
            </a:r>
            <a:endParaRPr lang="de-DE" sz="800" dirty="0"/>
          </a:p>
          <a:p>
            <a:r>
              <a:rPr lang="de-DE" sz="1000" dirty="0"/>
              <a:t>Q3 - </a:t>
            </a:r>
            <a:r>
              <a:rPr lang="de-DE" sz="1000" dirty="0" err="1"/>
              <a:t>Embeddings</a:t>
            </a:r>
            <a:r>
              <a:rPr lang="de-DE" sz="1000" dirty="0"/>
              <a:t> als Grundbaustein von LLMs: Attention </a:t>
            </a:r>
            <a:r>
              <a:rPr lang="de-DE" sz="1000" dirty="0" err="1"/>
              <a:t>Is</a:t>
            </a:r>
            <a:r>
              <a:rPr lang="de-DE" sz="1000" dirty="0"/>
              <a:t> All </a:t>
            </a:r>
            <a:r>
              <a:rPr lang="de-DE" sz="1000" dirty="0" err="1"/>
              <a:t>You</a:t>
            </a:r>
            <a:r>
              <a:rPr lang="de-DE" sz="1000" dirty="0"/>
              <a:t> Need</a:t>
            </a:r>
          </a:p>
          <a:p>
            <a:r>
              <a:rPr lang="de-DE" sz="800" dirty="0">
                <a:hlinkClick r:id="rId5"/>
              </a:rPr>
              <a:t>https://arxiv.org/abs/1706.03762</a:t>
            </a:r>
            <a:endParaRPr lang="de-DE" sz="800" dirty="0"/>
          </a:p>
          <a:p>
            <a:r>
              <a:rPr lang="de-DE" sz="1000" dirty="0"/>
              <a:t>Q4 - Aktuelle Embedding-Modelle mit 3072 Dimensionen + </a:t>
            </a:r>
            <a:r>
              <a:rPr lang="de-DE" sz="1000" dirty="0" err="1"/>
              <a:t>Matryoshka-Shortening</a:t>
            </a:r>
            <a:r>
              <a:rPr lang="de-DE" sz="1000" dirty="0"/>
              <a:t> (256 </a:t>
            </a:r>
            <a:r>
              <a:rPr lang="de-DE" sz="1000" dirty="0" err="1"/>
              <a:t>Dims</a:t>
            </a:r>
            <a:r>
              <a:rPr lang="de-DE" sz="1000" dirty="0"/>
              <a:t>)</a:t>
            </a:r>
          </a:p>
          <a:p>
            <a:r>
              <a:rPr lang="de-DE" sz="800" dirty="0">
                <a:hlinkClick r:id="rId6"/>
              </a:rPr>
              <a:t>https://openai.com/index/new-embedding-models-and-api-updates/</a:t>
            </a:r>
            <a:endParaRPr lang="de-DE" sz="800" dirty="0"/>
          </a:p>
          <a:p>
            <a:r>
              <a:rPr lang="de-DE" sz="1000" dirty="0"/>
              <a:t>Q5 - </a:t>
            </a:r>
            <a:r>
              <a:rPr lang="de-DE" sz="1000" dirty="0" err="1"/>
              <a:t>Mikolov</a:t>
            </a:r>
            <a:r>
              <a:rPr lang="de-DE" sz="1000" dirty="0"/>
              <a:t> et al. 2013 (word2vec)</a:t>
            </a:r>
          </a:p>
          <a:p>
            <a:r>
              <a:rPr lang="de-DE" sz="800" dirty="0">
                <a:hlinkClick r:id="rId7"/>
              </a:rPr>
              <a:t>https://arxiv.org/abs/1301.3781</a:t>
            </a:r>
            <a:endParaRPr lang="de-DE" sz="800" dirty="0"/>
          </a:p>
          <a:p>
            <a:r>
              <a:rPr lang="de-DE" sz="1000" dirty="0"/>
              <a:t>Q6 - </a:t>
            </a:r>
            <a:r>
              <a:rPr lang="de-DE" sz="1000" dirty="0" err="1"/>
              <a:t>Qdrant</a:t>
            </a:r>
            <a:r>
              <a:rPr lang="de-DE" sz="1000" dirty="0"/>
              <a:t> Point-Struktur</a:t>
            </a:r>
          </a:p>
          <a:p>
            <a:r>
              <a:rPr lang="de-DE" sz="800" dirty="0">
                <a:hlinkClick r:id="rId8"/>
              </a:rPr>
              <a:t>https://qdrant.tech/documentation/manage-data/points/</a:t>
            </a:r>
            <a:endParaRPr lang="de-DE" sz="800" dirty="0"/>
          </a:p>
          <a:p>
            <a:r>
              <a:rPr lang="de-DE" sz="1000" dirty="0"/>
              <a:t>Q7 - HNSW (</a:t>
            </a:r>
            <a:r>
              <a:rPr lang="de-DE" sz="1000" dirty="0" err="1"/>
              <a:t>Malkov</a:t>
            </a:r>
            <a:r>
              <a:rPr lang="de-DE" sz="1000" dirty="0"/>
              <a:t> &amp; </a:t>
            </a:r>
            <a:r>
              <a:rPr lang="de-DE" sz="1000" dirty="0" err="1"/>
              <a:t>Yashunin</a:t>
            </a:r>
            <a:r>
              <a:rPr lang="de-DE" sz="1000" dirty="0"/>
              <a:t>)</a:t>
            </a:r>
          </a:p>
          <a:p>
            <a:r>
              <a:rPr lang="de-DE" sz="800" dirty="0">
                <a:hlinkClick r:id="rId9"/>
              </a:rPr>
              <a:t>https://arxiv.org/abs/1603.09320</a:t>
            </a:r>
            <a:endParaRPr lang="de-DE" sz="800" dirty="0"/>
          </a:p>
          <a:p>
            <a:r>
              <a:rPr lang="de-DE" sz="1000" dirty="0"/>
              <a:t>Q8 - Hybridsuche mit BM25 (</a:t>
            </a:r>
            <a:r>
              <a:rPr lang="de-DE" sz="1000" dirty="0" err="1"/>
              <a:t>Thakur</a:t>
            </a:r>
            <a:r>
              <a:rPr lang="de-DE" sz="1000" dirty="0"/>
              <a:t> et al. 2021, BEIR-Benchmark, </a:t>
            </a:r>
            <a:r>
              <a:rPr lang="de-DE" sz="1000" dirty="0" err="1"/>
              <a:t>NeurIPS</a:t>
            </a:r>
            <a:r>
              <a:rPr lang="de-DE" sz="1000" dirty="0"/>
              <a:t>)</a:t>
            </a:r>
          </a:p>
          <a:p>
            <a:r>
              <a:rPr lang="de-DE" sz="800" dirty="0">
                <a:hlinkClick r:id="rId10"/>
              </a:rPr>
              <a:t>https://arxiv.org/abs/2104.08663</a:t>
            </a:r>
            <a:endParaRPr lang="de-DE" sz="800" dirty="0"/>
          </a:p>
          <a:p>
            <a:r>
              <a:rPr lang="de-DE" sz="1000" dirty="0"/>
              <a:t>Q9 - MTEB &amp; </a:t>
            </a:r>
            <a:r>
              <a:rPr lang="de-DE" sz="1000" dirty="0" err="1"/>
              <a:t>Leaderboard</a:t>
            </a:r>
            <a:r>
              <a:rPr lang="de-DE" sz="1000" dirty="0"/>
              <a:t> </a:t>
            </a:r>
          </a:p>
          <a:p>
            <a:r>
              <a:rPr lang="de-DE" sz="800" dirty="0"/>
              <a:t>Paper: </a:t>
            </a:r>
            <a:r>
              <a:rPr lang="de-DE" sz="800" dirty="0">
                <a:hlinkClick r:id="rId11"/>
              </a:rPr>
              <a:t>https://arxiv.org/abs/2210.07316</a:t>
            </a:r>
            <a:endParaRPr lang="de-DE" sz="800" dirty="0"/>
          </a:p>
          <a:p>
            <a:r>
              <a:rPr lang="de-DE" sz="800" dirty="0"/>
              <a:t>Live-</a:t>
            </a:r>
            <a:r>
              <a:rPr lang="de-DE" sz="800" dirty="0" err="1"/>
              <a:t>Leaderboard</a:t>
            </a:r>
            <a:r>
              <a:rPr lang="de-DE" sz="800" dirty="0"/>
              <a:t>: </a:t>
            </a:r>
            <a:r>
              <a:rPr lang="de-DE" sz="800" dirty="0">
                <a:hlinkClick r:id="rId12"/>
              </a:rPr>
              <a:t>https://huggingface.co/spaces/mteb/leaderboard</a:t>
            </a:r>
            <a:endParaRPr lang="de-DE" sz="800" dirty="0"/>
          </a:p>
          <a:p>
            <a:r>
              <a:rPr lang="de-DE" sz="1000" dirty="0"/>
              <a:t>Q10 - </a:t>
            </a:r>
            <a:r>
              <a:rPr lang="de-DE" sz="1000" dirty="0" err="1"/>
              <a:t>Qdrant</a:t>
            </a:r>
            <a:r>
              <a:rPr lang="de-DE" sz="1000" dirty="0"/>
              <a:t> Hybrid-Suche mit BM25 nativ </a:t>
            </a:r>
          </a:p>
          <a:p>
            <a:r>
              <a:rPr lang="de-DE" sz="800" dirty="0">
                <a:hlinkClick r:id="rId13"/>
              </a:rPr>
              <a:t>https://qdrant.tech/documentation/tutorials-and-examples/cloud-inference-hybrid-search/</a:t>
            </a:r>
            <a:endParaRPr lang="de-DE" sz="800" dirty="0"/>
          </a:p>
          <a:p>
            <a:r>
              <a:rPr lang="de-DE" sz="1000" dirty="0"/>
              <a:t>Q11 – Eigenreproduktion CEO/CFO: Siehe Anhang/</a:t>
            </a:r>
            <a:r>
              <a:rPr lang="de-DE" sz="1000" dirty="0" err="1"/>
              <a:t>Github</a:t>
            </a:r>
            <a:endParaRPr lang="de-DE" sz="1000" dirty="0"/>
          </a:p>
          <a:p>
            <a:r>
              <a:rPr lang="de-DE" sz="1000" dirty="0"/>
              <a:t>Q12 – </a:t>
            </a:r>
            <a:r>
              <a:rPr lang="de-DE" sz="1000" dirty="0" err="1"/>
              <a:t>ChromaDB</a:t>
            </a:r>
            <a:r>
              <a:rPr lang="de-DE" sz="1000" dirty="0"/>
              <a:t> Hybrid </a:t>
            </a:r>
            <a:r>
              <a:rPr lang="de-DE" sz="1000" dirty="0" err="1"/>
              <a:t>Sparse</a:t>
            </a:r>
            <a:r>
              <a:rPr lang="de-DE" sz="1000" dirty="0"/>
              <a:t> Vector Support</a:t>
            </a:r>
          </a:p>
          <a:p>
            <a:r>
              <a:rPr lang="de-DE" sz="800" dirty="0">
                <a:hlinkClick r:id="rId14"/>
              </a:rPr>
              <a:t>https://www.trychroma.com/project/sparse-vector-search</a:t>
            </a:r>
            <a:endParaRPr lang="de-DE" sz="800" dirty="0"/>
          </a:p>
        </p:txBody>
      </p:sp>
      <p:sp>
        <p:nvSpPr>
          <p:cNvPr id="9" name="Textfeld 8">
            <a:extLst>
              <a:ext uri="{FF2B5EF4-FFF2-40B4-BE49-F238E27FC236}">
                <a16:creationId xmlns:a16="http://schemas.microsoft.com/office/drawing/2014/main" id="{A02EDA2A-7F69-49EE-993C-D3899A624F77}"/>
              </a:ext>
            </a:extLst>
          </p:cNvPr>
          <p:cNvSpPr txBox="1"/>
          <p:nvPr/>
        </p:nvSpPr>
        <p:spPr>
          <a:xfrm>
            <a:off x="5479610" y="1353529"/>
            <a:ext cx="3282650" cy="1877437"/>
          </a:xfrm>
          <a:prstGeom prst="rect">
            <a:avLst/>
          </a:prstGeom>
          <a:noFill/>
        </p:spPr>
        <p:txBody>
          <a:bodyPr wrap="square" rtlCol="0">
            <a:spAutoFit/>
          </a:bodyPr>
          <a:lstStyle/>
          <a:p>
            <a:r>
              <a:rPr lang="de-DE" sz="1000" dirty="0"/>
              <a:t>Q13 – </a:t>
            </a:r>
            <a:r>
              <a:rPr lang="de-DE" sz="1000" dirty="0" err="1"/>
              <a:t>VectorChord</a:t>
            </a:r>
            <a:r>
              <a:rPr lang="de-DE" sz="1000" dirty="0"/>
              <a:t> </a:t>
            </a:r>
            <a:r>
              <a:rPr lang="de-DE" sz="1000" dirty="0" err="1"/>
              <a:t>Github</a:t>
            </a:r>
            <a:r>
              <a:rPr lang="de-DE" sz="1000" dirty="0"/>
              <a:t> &amp; Readme</a:t>
            </a:r>
          </a:p>
          <a:p>
            <a:r>
              <a:rPr lang="de-DE" sz="800" dirty="0">
                <a:hlinkClick r:id="rId15"/>
              </a:rPr>
              <a:t>https://github.com/tensorchord/VectorChord-bm25</a:t>
            </a:r>
            <a:endParaRPr lang="de-DE" sz="800" dirty="0"/>
          </a:p>
          <a:p>
            <a:r>
              <a:rPr lang="de-DE" sz="1000" dirty="0"/>
              <a:t>Q14 – Vektorsuche Negation Blind-Spot</a:t>
            </a:r>
          </a:p>
          <a:p>
            <a:r>
              <a:rPr lang="de-DE" sz="800" dirty="0">
                <a:hlinkClick r:id="rId16"/>
              </a:rPr>
              <a:t>https://arxiv.org/abs/2603.17580</a:t>
            </a:r>
            <a:endParaRPr lang="de-DE" sz="800" dirty="0"/>
          </a:p>
          <a:p>
            <a:r>
              <a:rPr lang="de-DE" sz="1000" dirty="0"/>
              <a:t>Q15 – Vektorsuche Out </a:t>
            </a:r>
            <a:r>
              <a:rPr lang="de-DE" sz="1000" dirty="0" err="1"/>
              <a:t>of</a:t>
            </a:r>
            <a:r>
              <a:rPr lang="de-DE" sz="1000" dirty="0"/>
              <a:t> </a:t>
            </a:r>
            <a:r>
              <a:rPr lang="de-DE" sz="1000" dirty="0" err="1"/>
              <a:t>Vocabulary</a:t>
            </a:r>
            <a:r>
              <a:rPr lang="de-DE" sz="1000" dirty="0"/>
              <a:t> / Out </a:t>
            </a:r>
            <a:r>
              <a:rPr lang="de-DE" sz="1000" dirty="0" err="1"/>
              <a:t>of</a:t>
            </a:r>
            <a:r>
              <a:rPr lang="de-DE" sz="1000" dirty="0"/>
              <a:t> Domain Blind-Spot</a:t>
            </a:r>
          </a:p>
          <a:p>
            <a:r>
              <a:rPr lang="de-DE" sz="800" dirty="0">
                <a:hlinkClick r:id="rId17"/>
              </a:rPr>
              <a:t>https://dev.to/gabrielanhaia/rag-without-embeddings-when-bm25-beats-your-020-per-1k-vector-index-2140</a:t>
            </a:r>
            <a:endParaRPr lang="de-DE" sz="800" dirty="0"/>
          </a:p>
          <a:p>
            <a:r>
              <a:rPr lang="de-DE" sz="1000" dirty="0"/>
              <a:t>Q16 – </a:t>
            </a:r>
            <a:r>
              <a:rPr lang="de-DE" sz="1000" dirty="0" err="1"/>
              <a:t>Masking&amp;Attention</a:t>
            </a:r>
            <a:r>
              <a:rPr lang="de-DE" sz="1000" dirty="0"/>
              <a:t> als Training-Strategie für Embedding-Modelle</a:t>
            </a:r>
          </a:p>
          <a:p>
            <a:r>
              <a:rPr lang="de-DE" sz="800" dirty="0">
                <a:hlinkClick r:id="rId18"/>
              </a:rPr>
              <a:t>https://arxiv.org/abs/1810.04805</a:t>
            </a:r>
            <a:endParaRPr lang="de-DE" sz="800" dirty="0"/>
          </a:p>
          <a:p>
            <a:endParaRPr lang="de-DE" sz="800" dirty="0"/>
          </a:p>
          <a:p>
            <a:endParaRPr lang="de-DE" sz="800" dirty="0"/>
          </a:p>
        </p:txBody>
      </p:sp>
    </p:spTree>
    <p:extLst>
      <p:ext uri="{BB962C8B-B14F-4D97-AF65-F5344CB8AC3E}">
        <p14:creationId xmlns:p14="http://schemas.microsoft.com/office/powerpoint/2010/main" val="41303314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Datumsplatzhalter 75">
            <a:extLst>
              <a:ext uri="{FF2B5EF4-FFF2-40B4-BE49-F238E27FC236}">
                <a16:creationId xmlns:a16="http://schemas.microsoft.com/office/drawing/2014/main" id="{FB534BCA-17DB-4EBE-9103-31EF5969BBD5}"/>
              </a:ext>
            </a:extLst>
          </p:cNvPr>
          <p:cNvSpPr>
            <a:spLocks noGrp="1"/>
          </p:cNvSpPr>
          <p:nvPr>
            <p:ph type="dt" sz="half" idx="10"/>
          </p:nvPr>
        </p:nvSpPr>
        <p:spPr>
          <a:xfrm>
            <a:off x="347840" y="4807006"/>
            <a:ext cx="2338210" cy="273844"/>
          </a:xfrm>
        </p:spPr>
        <p:txBody>
          <a:bodyPr/>
          <a:lstStyle/>
          <a:p>
            <a:fld id="{0D05602C-25EE-48A8-8786-3C51BA41DB9E}" type="datetime1">
              <a:rPr lang="de-DE"/>
              <a:t>04.05.2026</a:t>
            </a:fld>
            <a:endParaRPr lang="de-DE" dirty="0"/>
          </a:p>
        </p:txBody>
      </p:sp>
      <p:sp>
        <p:nvSpPr>
          <p:cNvPr id="77" name="Fußzeilenplatzhalter 76">
            <a:extLst>
              <a:ext uri="{FF2B5EF4-FFF2-40B4-BE49-F238E27FC236}">
                <a16:creationId xmlns:a16="http://schemas.microsoft.com/office/drawing/2014/main" id="{10A96F6C-9081-4668-9382-F92081EE73D0}"/>
              </a:ext>
            </a:extLst>
          </p:cNvPr>
          <p:cNvSpPr>
            <a:spLocks noGrp="1"/>
          </p:cNvSpPr>
          <p:nvPr>
            <p:ph type="ftr" sz="quarter" idx="11"/>
          </p:nvPr>
        </p:nvSpPr>
        <p:spPr>
          <a:xfrm>
            <a:off x="2686050" y="4807006"/>
            <a:ext cx="3812404" cy="273844"/>
          </a:xfrm>
        </p:spPr>
        <p:txBody>
          <a:bodyPr/>
          <a:lstStyle/>
          <a:p>
            <a:r>
              <a:rPr lang="de-DE" dirty="0"/>
              <a:t>Vektordatenbanken </a:t>
            </a:r>
            <a:r>
              <a:rPr lang="en-US" dirty="0"/>
              <a:t>· </a:t>
            </a:r>
            <a:r>
              <a:rPr lang="en-US" dirty="0" err="1"/>
              <a:t>Studienprojekt</a:t>
            </a:r>
            <a:r>
              <a:rPr lang="en-US" dirty="0"/>
              <a:t> Reverse Chatbots</a:t>
            </a:r>
            <a:endParaRPr lang="de-DE" dirty="0"/>
          </a:p>
        </p:txBody>
      </p:sp>
      <p:sp>
        <p:nvSpPr>
          <p:cNvPr id="78" name="Foliennummernplatzhalter 77">
            <a:extLst>
              <a:ext uri="{FF2B5EF4-FFF2-40B4-BE49-F238E27FC236}">
                <a16:creationId xmlns:a16="http://schemas.microsoft.com/office/drawing/2014/main" id="{2B507CAF-8A2B-4670-8A8F-519A0AECCF4A}"/>
              </a:ext>
            </a:extLst>
          </p:cNvPr>
          <p:cNvSpPr>
            <a:spLocks noGrp="1"/>
          </p:cNvSpPr>
          <p:nvPr>
            <p:ph type="sldNum" sz="quarter" idx="12"/>
          </p:nvPr>
        </p:nvSpPr>
        <p:spPr>
          <a:xfrm>
            <a:off x="6457950" y="4807006"/>
            <a:ext cx="2338210" cy="273844"/>
          </a:xfrm>
        </p:spPr>
        <p:txBody>
          <a:bodyPr/>
          <a:lstStyle/>
          <a:p>
            <a:fld id="{0E836345-B243-4000-8050-9A1A9D10D9C9}" type="slidenum">
              <a:rPr lang="de-DE" smtClean="0"/>
              <a:t>12</a:t>
            </a:fld>
            <a:r>
              <a:rPr lang="de-DE" dirty="0"/>
              <a:t> / 12</a:t>
            </a:r>
          </a:p>
        </p:txBody>
      </p:sp>
      <p:sp>
        <p:nvSpPr>
          <p:cNvPr id="12" name="Titel 1">
            <a:extLst>
              <a:ext uri="{FF2B5EF4-FFF2-40B4-BE49-F238E27FC236}">
                <a16:creationId xmlns:a16="http://schemas.microsoft.com/office/drawing/2014/main" id="{81E954D4-F65D-4D0A-86F3-BBAEF3CF2E4C}"/>
              </a:ext>
            </a:extLst>
          </p:cNvPr>
          <p:cNvSpPr txBox="1">
            <a:spLocks/>
          </p:cNvSpPr>
          <p:nvPr/>
        </p:nvSpPr>
        <p:spPr>
          <a:xfrm>
            <a:off x="326356" y="382496"/>
            <a:ext cx="6549399" cy="359255"/>
          </a:xfrm>
          <a:prstGeom prst="rect">
            <a:avLst/>
          </a:prstGeom>
        </p:spPr>
        <p:txBody>
          <a:bodyPr vert="horz" lIns="91440" tIns="45720" rIns="91440" bIns="45720" rtlCol="0" anchor="ctr">
            <a:normAutofit fontScale="67500" lnSpcReduction="20000"/>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3200" b="1" dirty="0" err="1">
                <a:solidFill>
                  <a:srgbClr val="0F172A"/>
                </a:solidFill>
                <a:latin typeface="Cambria" pitchFamily="34" charset="0"/>
                <a:ea typeface="Cambria" pitchFamily="34" charset="-122"/>
              </a:rPr>
              <a:t>Anhang</a:t>
            </a:r>
            <a:r>
              <a:rPr lang="en-US" sz="3200" b="1" dirty="0">
                <a:solidFill>
                  <a:srgbClr val="0F172A"/>
                </a:solidFill>
                <a:latin typeface="Cambria" pitchFamily="34" charset="0"/>
                <a:ea typeface="Cambria" pitchFamily="34" charset="-122"/>
              </a:rPr>
              <a:t> </a:t>
            </a:r>
            <a:endParaRPr lang="en-US" sz="3200" dirty="0"/>
          </a:p>
        </p:txBody>
      </p:sp>
      <p:sp>
        <p:nvSpPr>
          <p:cNvPr id="13" name="Rechteck 12">
            <a:extLst>
              <a:ext uri="{FF2B5EF4-FFF2-40B4-BE49-F238E27FC236}">
                <a16:creationId xmlns:a16="http://schemas.microsoft.com/office/drawing/2014/main" id="{90551C61-1825-4DC6-8EAC-38A3DBDCC535}"/>
              </a:ext>
            </a:extLst>
          </p:cNvPr>
          <p:cNvSpPr/>
          <p:nvPr/>
        </p:nvSpPr>
        <p:spPr>
          <a:xfrm>
            <a:off x="452981" y="1083791"/>
            <a:ext cx="383507" cy="52083"/>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013"/>
          </a:p>
        </p:txBody>
      </p:sp>
      <p:sp>
        <p:nvSpPr>
          <p:cNvPr id="14" name="Titel 1">
            <a:extLst>
              <a:ext uri="{FF2B5EF4-FFF2-40B4-BE49-F238E27FC236}">
                <a16:creationId xmlns:a16="http://schemas.microsoft.com/office/drawing/2014/main" id="{EF21B44B-BFD0-4210-B8E5-DCDC48DDD8EF}"/>
              </a:ext>
            </a:extLst>
          </p:cNvPr>
          <p:cNvSpPr txBox="1">
            <a:spLocks/>
          </p:cNvSpPr>
          <p:nvPr/>
        </p:nvSpPr>
        <p:spPr>
          <a:xfrm>
            <a:off x="350918" y="688385"/>
            <a:ext cx="4292206" cy="359255"/>
          </a:xfrm>
          <a:prstGeom prst="rect">
            <a:avLst/>
          </a:prstGeom>
        </p:spPr>
        <p:txBody>
          <a:bodyPr vert="horz" lIns="68580" tIns="34290" rIns="68580" bIns="34290" rtlCol="0" anchor="ctr">
            <a:normAutofit fontScale="9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sz="1500" dirty="0">
                <a:solidFill>
                  <a:srgbClr val="0F172A"/>
                </a:solidFill>
                <a:latin typeface="Calibri Light" panose="020F0302020204030204" pitchFamily="34" charset="0"/>
                <a:ea typeface="Calibri Light" panose="020F0302020204030204" pitchFamily="34" charset="0"/>
                <a:cs typeface="Calibri Light" panose="020F0302020204030204" pitchFamily="34" charset="0"/>
              </a:rPr>
              <a:t>Empirischer Test der Vektorsuche-Schwäche aus Folie 7</a:t>
            </a:r>
          </a:p>
        </p:txBody>
      </p:sp>
      <p:sp>
        <p:nvSpPr>
          <p:cNvPr id="143" name="Shape 4">
            <a:extLst>
              <a:ext uri="{FF2B5EF4-FFF2-40B4-BE49-F238E27FC236}">
                <a16:creationId xmlns:a16="http://schemas.microsoft.com/office/drawing/2014/main" id="{38EF4860-231C-46C2-9FAF-84DD41A4569F}"/>
              </a:ext>
            </a:extLst>
          </p:cNvPr>
          <p:cNvSpPr/>
          <p:nvPr/>
        </p:nvSpPr>
        <p:spPr>
          <a:xfrm>
            <a:off x="452981" y="1239795"/>
            <a:ext cx="8435340" cy="582930"/>
          </a:xfrm>
          <a:prstGeom prst="rect">
            <a:avLst/>
          </a:prstGeom>
          <a:solidFill>
            <a:srgbClr val="F7F9FB"/>
          </a:solidFill>
          <a:ln/>
        </p:spPr>
      </p:sp>
      <p:sp>
        <p:nvSpPr>
          <p:cNvPr id="144" name="Text 5">
            <a:extLst>
              <a:ext uri="{FF2B5EF4-FFF2-40B4-BE49-F238E27FC236}">
                <a16:creationId xmlns:a16="http://schemas.microsoft.com/office/drawing/2014/main" id="{6DD35A5C-6A69-4E77-BD31-52B68F5BCFF1}"/>
              </a:ext>
            </a:extLst>
          </p:cNvPr>
          <p:cNvSpPr/>
          <p:nvPr/>
        </p:nvSpPr>
        <p:spPr>
          <a:xfrm>
            <a:off x="555851" y="1274085"/>
            <a:ext cx="1028700" cy="192024"/>
          </a:xfrm>
          <a:prstGeom prst="rect">
            <a:avLst/>
          </a:prstGeom>
          <a:noFill/>
          <a:ln/>
        </p:spPr>
        <p:txBody>
          <a:bodyPr wrap="square" lIns="0" tIns="0" rIns="0" bIns="0" rtlCol="0" anchor="ctr"/>
          <a:lstStyle/>
          <a:p>
            <a:r>
              <a:rPr lang="en-US" sz="825" b="1" dirty="0">
                <a:solidFill>
                  <a:srgbClr val="E8743C"/>
                </a:solidFill>
                <a:latin typeface="Calibri" pitchFamily="34" charset="0"/>
                <a:ea typeface="Calibri" pitchFamily="34" charset="-122"/>
                <a:cs typeface="Calibri" pitchFamily="34" charset="-120"/>
              </a:rPr>
              <a:t>Setup</a:t>
            </a:r>
            <a:endParaRPr lang="en-US" sz="825" dirty="0"/>
          </a:p>
        </p:txBody>
      </p:sp>
      <p:sp>
        <p:nvSpPr>
          <p:cNvPr id="145" name="Text 6">
            <a:extLst>
              <a:ext uri="{FF2B5EF4-FFF2-40B4-BE49-F238E27FC236}">
                <a16:creationId xmlns:a16="http://schemas.microsoft.com/office/drawing/2014/main" id="{0BC7A934-FF5F-4BEB-B624-B3BB6E968E31}"/>
              </a:ext>
            </a:extLst>
          </p:cNvPr>
          <p:cNvSpPr/>
          <p:nvPr/>
        </p:nvSpPr>
        <p:spPr>
          <a:xfrm>
            <a:off x="555851" y="1466109"/>
            <a:ext cx="8229600" cy="342900"/>
          </a:xfrm>
          <a:prstGeom prst="rect">
            <a:avLst/>
          </a:prstGeom>
          <a:noFill/>
          <a:ln/>
        </p:spPr>
        <p:txBody>
          <a:bodyPr wrap="square" lIns="0" tIns="0" rIns="0" bIns="0" rtlCol="0" anchor="ctr"/>
          <a:lstStyle/>
          <a:p>
            <a:r>
              <a:rPr lang="en-US" sz="825" b="1" dirty="0">
                <a:solidFill>
                  <a:srgbClr val="1A2A40"/>
                </a:solidFill>
                <a:latin typeface="Calibri" pitchFamily="34" charset="0"/>
                <a:ea typeface="Calibri" pitchFamily="34" charset="-122"/>
                <a:cs typeface="Calibri" pitchFamily="34" charset="-120"/>
              </a:rPr>
              <a:t>Query: </a:t>
            </a:r>
            <a:r>
              <a:rPr lang="en-US" sz="825" dirty="0">
                <a:solidFill>
                  <a:srgbClr val="1A2A40"/>
                </a:solidFill>
                <a:latin typeface="Calibri" pitchFamily="34" charset="0"/>
                <a:ea typeface="Calibri" pitchFamily="34" charset="-122"/>
                <a:cs typeface="Calibri" pitchFamily="34" charset="-120"/>
              </a:rPr>
              <a:t>"CEO"  ·  </a:t>
            </a:r>
            <a:r>
              <a:rPr lang="en-US" sz="825" b="1" dirty="0">
                <a:solidFill>
                  <a:srgbClr val="1A2A40"/>
                </a:solidFill>
                <a:latin typeface="Calibri" pitchFamily="34" charset="0"/>
                <a:ea typeface="Calibri" pitchFamily="34" charset="-122"/>
                <a:cs typeface="Calibri" pitchFamily="34" charset="-120"/>
              </a:rPr>
              <a:t>Korpus: </a:t>
            </a:r>
            <a:r>
              <a:rPr lang="en-US" sz="825" dirty="0">
                <a:solidFill>
                  <a:srgbClr val="1A2A40"/>
                </a:solidFill>
                <a:latin typeface="Calibri" pitchFamily="34" charset="0"/>
                <a:ea typeface="Calibri" pitchFamily="34" charset="-122"/>
                <a:cs typeface="Calibri" pitchFamily="34" charset="-120"/>
              </a:rPr>
              <a:t>8 Chunks (1× CEO-Profil, 7× andere Führungsrollen ohne den Begriff „CEO“)  ·  </a:t>
            </a:r>
            <a:r>
              <a:rPr lang="en-US" sz="825" b="1" dirty="0">
                <a:solidFill>
                  <a:srgbClr val="1A2A40"/>
                </a:solidFill>
                <a:latin typeface="Calibri" pitchFamily="34" charset="0"/>
                <a:ea typeface="Calibri" pitchFamily="34" charset="-122"/>
                <a:cs typeface="Calibri" pitchFamily="34" charset="-120"/>
              </a:rPr>
              <a:t>Bewertung: </a:t>
            </a:r>
            <a:r>
              <a:rPr lang="en-US" sz="825" dirty="0">
                <a:solidFill>
                  <a:srgbClr val="1A2A40"/>
                </a:solidFill>
                <a:latin typeface="Calibri" pitchFamily="34" charset="0"/>
                <a:ea typeface="Calibri" pitchFamily="34" charset="-122"/>
                <a:cs typeface="Calibri" pitchFamily="34" charset="-120"/>
              </a:rPr>
              <a:t>Failure, wenn das CEO-Dokument nicht in den Top-3 nach Kosinusähnlichkeit landet.</a:t>
            </a:r>
            <a:endParaRPr lang="en-US" sz="825" dirty="0"/>
          </a:p>
        </p:txBody>
      </p:sp>
      <p:sp>
        <p:nvSpPr>
          <p:cNvPr id="146" name="Shape 7">
            <a:extLst>
              <a:ext uri="{FF2B5EF4-FFF2-40B4-BE49-F238E27FC236}">
                <a16:creationId xmlns:a16="http://schemas.microsoft.com/office/drawing/2014/main" id="{3EAE7B9A-9AA5-487A-BCE1-AD5D772059E5}"/>
              </a:ext>
            </a:extLst>
          </p:cNvPr>
          <p:cNvSpPr/>
          <p:nvPr/>
        </p:nvSpPr>
        <p:spPr>
          <a:xfrm>
            <a:off x="452981" y="1959885"/>
            <a:ext cx="2743200" cy="2263140"/>
          </a:xfrm>
          <a:prstGeom prst="rect">
            <a:avLst/>
          </a:prstGeom>
          <a:solidFill>
            <a:srgbClr val="FFFFFF"/>
          </a:solidFill>
          <a:ln w="9525">
            <a:solidFill>
              <a:srgbClr val="D9DEE5"/>
            </a:solidFill>
            <a:prstDash val="solid"/>
          </a:ln>
        </p:spPr>
      </p:sp>
      <p:sp>
        <p:nvSpPr>
          <p:cNvPr id="147" name="Shape 8">
            <a:extLst>
              <a:ext uri="{FF2B5EF4-FFF2-40B4-BE49-F238E27FC236}">
                <a16:creationId xmlns:a16="http://schemas.microsoft.com/office/drawing/2014/main" id="{539D0943-6509-48B6-8C4F-E28649A97A34}"/>
              </a:ext>
            </a:extLst>
          </p:cNvPr>
          <p:cNvSpPr/>
          <p:nvPr/>
        </p:nvSpPr>
        <p:spPr>
          <a:xfrm>
            <a:off x="452981" y="1959885"/>
            <a:ext cx="2743200" cy="41148"/>
          </a:xfrm>
          <a:prstGeom prst="rect">
            <a:avLst/>
          </a:prstGeom>
          <a:solidFill>
            <a:srgbClr val="C24A3A"/>
          </a:solidFill>
          <a:ln/>
        </p:spPr>
      </p:sp>
      <p:sp>
        <p:nvSpPr>
          <p:cNvPr id="148" name="Text 9">
            <a:extLst>
              <a:ext uri="{FF2B5EF4-FFF2-40B4-BE49-F238E27FC236}">
                <a16:creationId xmlns:a16="http://schemas.microsoft.com/office/drawing/2014/main" id="{A710B38F-4989-4631-A7A9-80C409B7E44A}"/>
              </a:ext>
            </a:extLst>
          </p:cNvPr>
          <p:cNvSpPr/>
          <p:nvPr/>
        </p:nvSpPr>
        <p:spPr>
          <a:xfrm>
            <a:off x="576425" y="2062755"/>
            <a:ext cx="2496312" cy="205740"/>
          </a:xfrm>
          <a:prstGeom prst="rect">
            <a:avLst/>
          </a:prstGeom>
          <a:noFill/>
          <a:ln/>
        </p:spPr>
        <p:txBody>
          <a:bodyPr wrap="square" lIns="0" tIns="0" rIns="0" bIns="0" rtlCol="0" anchor="ctr"/>
          <a:lstStyle/>
          <a:p>
            <a:r>
              <a:rPr lang="en-US" sz="825" b="1" dirty="0">
                <a:solidFill>
                  <a:srgbClr val="1A2A40"/>
                </a:solidFill>
                <a:latin typeface="Calibri" pitchFamily="34" charset="0"/>
                <a:ea typeface="Calibri" pitchFamily="34" charset="-122"/>
                <a:cs typeface="Calibri" pitchFamily="34" charset="-120"/>
              </a:rPr>
              <a:t>openai · text-embedding-3-large</a:t>
            </a:r>
            <a:endParaRPr lang="en-US" sz="825" dirty="0"/>
          </a:p>
        </p:txBody>
      </p:sp>
      <p:sp>
        <p:nvSpPr>
          <p:cNvPr id="149" name="Text 10">
            <a:extLst>
              <a:ext uri="{FF2B5EF4-FFF2-40B4-BE49-F238E27FC236}">
                <a16:creationId xmlns:a16="http://schemas.microsoft.com/office/drawing/2014/main" id="{5C486326-5E71-4792-8305-2C1A4AD6BFC7}"/>
              </a:ext>
            </a:extLst>
          </p:cNvPr>
          <p:cNvSpPr/>
          <p:nvPr/>
        </p:nvSpPr>
        <p:spPr>
          <a:xfrm>
            <a:off x="576425" y="2275353"/>
            <a:ext cx="1028700" cy="171450"/>
          </a:xfrm>
          <a:prstGeom prst="rect">
            <a:avLst/>
          </a:prstGeom>
          <a:noFill/>
          <a:ln/>
        </p:spPr>
        <p:txBody>
          <a:bodyPr wrap="square" lIns="0" tIns="0" rIns="0" bIns="0" rtlCol="0" anchor="ctr"/>
          <a:lstStyle/>
          <a:p>
            <a:r>
              <a:rPr lang="en-US" sz="713" b="1" kern="0" spc="150" dirty="0">
                <a:solidFill>
                  <a:srgbClr val="C24A3A"/>
                </a:solidFill>
                <a:latin typeface="Calibri" pitchFamily="34" charset="0"/>
                <a:ea typeface="Calibri" pitchFamily="34" charset="-122"/>
                <a:cs typeface="Calibri" pitchFamily="34" charset="-120"/>
              </a:rPr>
              <a:t>FAILURE</a:t>
            </a:r>
            <a:endParaRPr lang="en-US" sz="713" dirty="0"/>
          </a:p>
        </p:txBody>
      </p:sp>
      <p:sp>
        <p:nvSpPr>
          <p:cNvPr id="150" name="Text 11">
            <a:extLst>
              <a:ext uri="{FF2B5EF4-FFF2-40B4-BE49-F238E27FC236}">
                <a16:creationId xmlns:a16="http://schemas.microsoft.com/office/drawing/2014/main" id="{7743FEBC-987E-4DF4-8D58-36BDB069B1A1}"/>
              </a:ext>
            </a:extLst>
          </p:cNvPr>
          <p:cNvSpPr/>
          <p:nvPr/>
        </p:nvSpPr>
        <p:spPr>
          <a:xfrm>
            <a:off x="1550261" y="2275353"/>
            <a:ext cx="1522476" cy="171450"/>
          </a:xfrm>
          <a:prstGeom prst="rect">
            <a:avLst/>
          </a:prstGeom>
          <a:noFill/>
          <a:ln/>
        </p:spPr>
        <p:txBody>
          <a:bodyPr wrap="square" lIns="0" tIns="0" rIns="0" bIns="0" rtlCol="0" anchor="ctr"/>
          <a:lstStyle/>
          <a:p>
            <a:pPr algn="r"/>
            <a:r>
              <a:rPr lang="en-US" sz="713" dirty="0">
                <a:solidFill>
                  <a:srgbClr val="5A6A7C"/>
                </a:solidFill>
                <a:latin typeface="Calibri" pitchFamily="34" charset="0"/>
                <a:ea typeface="Calibri" pitchFamily="34" charset="-122"/>
                <a:cs typeface="Calibri" pitchFamily="34" charset="-120"/>
              </a:rPr>
              <a:t>Wanted-Rank: 4 / 8</a:t>
            </a:r>
            <a:endParaRPr lang="en-US" sz="713" dirty="0"/>
          </a:p>
        </p:txBody>
      </p:sp>
      <p:sp>
        <p:nvSpPr>
          <p:cNvPr id="151" name="Shape 12">
            <a:extLst>
              <a:ext uri="{FF2B5EF4-FFF2-40B4-BE49-F238E27FC236}">
                <a16:creationId xmlns:a16="http://schemas.microsoft.com/office/drawing/2014/main" id="{757676B7-E172-44A1-9B24-12C92B1C19F2}"/>
              </a:ext>
            </a:extLst>
          </p:cNvPr>
          <p:cNvSpPr/>
          <p:nvPr/>
        </p:nvSpPr>
        <p:spPr>
          <a:xfrm>
            <a:off x="576425" y="2494809"/>
            <a:ext cx="2496312" cy="0"/>
          </a:xfrm>
          <a:prstGeom prst="line">
            <a:avLst/>
          </a:prstGeom>
          <a:noFill/>
          <a:ln w="9525">
            <a:solidFill>
              <a:srgbClr val="EDF0F4"/>
            </a:solidFill>
            <a:prstDash val="solid"/>
          </a:ln>
        </p:spPr>
      </p:sp>
      <p:sp>
        <p:nvSpPr>
          <p:cNvPr id="152" name="Text 13">
            <a:extLst>
              <a:ext uri="{FF2B5EF4-FFF2-40B4-BE49-F238E27FC236}">
                <a16:creationId xmlns:a16="http://schemas.microsoft.com/office/drawing/2014/main" id="{4F1DFC82-D1CE-4AC0-98B4-6DB418723EAE}"/>
              </a:ext>
            </a:extLst>
          </p:cNvPr>
          <p:cNvSpPr/>
          <p:nvPr/>
        </p:nvSpPr>
        <p:spPr>
          <a:xfrm>
            <a:off x="576425" y="2577105"/>
            <a:ext cx="342900" cy="219456"/>
          </a:xfrm>
          <a:prstGeom prst="rect">
            <a:avLst/>
          </a:prstGeom>
          <a:noFill/>
          <a:ln/>
        </p:spPr>
        <p:txBody>
          <a:bodyPr wrap="square" lIns="0" tIns="0" rIns="0" bIns="0" rtlCol="0" anchor="ctr"/>
          <a:lstStyle/>
          <a:p>
            <a:r>
              <a:rPr lang="en-US" sz="825" dirty="0">
                <a:solidFill>
                  <a:srgbClr val="5A6A7C"/>
                </a:solidFill>
                <a:latin typeface="Calibri" pitchFamily="34" charset="0"/>
                <a:ea typeface="Calibri" pitchFamily="34" charset="-122"/>
                <a:cs typeface="Calibri" pitchFamily="34" charset="-120"/>
              </a:rPr>
              <a:t>#1</a:t>
            </a:r>
            <a:endParaRPr lang="en-US" sz="825" dirty="0"/>
          </a:p>
        </p:txBody>
      </p:sp>
      <p:sp>
        <p:nvSpPr>
          <p:cNvPr id="153" name="Text 14">
            <a:extLst>
              <a:ext uri="{FF2B5EF4-FFF2-40B4-BE49-F238E27FC236}">
                <a16:creationId xmlns:a16="http://schemas.microsoft.com/office/drawing/2014/main" id="{0F87189F-828E-4C98-B221-613C150D28D6}"/>
              </a:ext>
            </a:extLst>
          </p:cNvPr>
          <p:cNvSpPr/>
          <p:nvPr/>
        </p:nvSpPr>
        <p:spPr>
          <a:xfrm>
            <a:off x="898751" y="2577105"/>
            <a:ext cx="411480" cy="219456"/>
          </a:xfrm>
          <a:prstGeom prst="rect">
            <a:avLst/>
          </a:prstGeom>
          <a:noFill/>
          <a:ln/>
        </p:spPr>
        <p:txBody>
          <a:bodyPr wrap="square" lIns="0" tIns="0" rIns="0" bIns="0" rtlCol="0" anchor="ctr"/>
          <a:lstStyle/>
          <a:p>
            <a:r>
              <a:rPr lang="en-US" sz="788" dirty="0">
                <a:solidFill>
                  <a:srgbClr val="5A6A7C"/>
                </a:solidFill>
                <a:latin typeface="Consolas" pitchFamily="34" charset="0"/>
                <a:ea typeface="Consolas" pitchFamily="34" charset="-122"/>
                <a:cs typeface="Consolas" pitchFamily="34" charset="-120"/>
              </a:rPr>
              <a:t>0.397</a:t>
            </a:r>
            <a:endParaRPr lang="en-US" sz="788" dirty="0"/>
          </a:p>
        </p:txBody>
      </p:sp>
      <p:sp>
        <p:nvSpPr>
          <p:cNvPr id="154" name="Text 15">
            <a:extLst>
              <a:ext uri="{FF2B5EF4-FFF2-40B4-BE49-F238E27FC236}">
                <a16:creationId xmlns:a16="http://schemas.microsoft.com/office/drawing/2014/main" id="{BF05ABCE-F6A2-4020-809D-54AA68AD8E40}"/>
              </a:ext>
            </a:extLst>
          </p:cNvPr>
          <p:cNvSpPr/>
          <p:nvPr/>
        </p:nvSpPr>
        <p:spPr>
          <a:xfrm>
            <a:off x="1344521" y="2577105"/>
            <a:ext cx="1714500" cy="219456"/>
          </a:xfrm>
          <a:prstGeom prst="rect">
            <a:avLst/>
          </a:prstGeom>
          <a:noFill/>
          <a:ln/>
        </p:spPr>
        <p:txBody>
          <a:bodyPr wrap="square" lIns="0" tIns="0" rIns="0" bIns="0" rtlCol="0" anchor="ctr"/>
          <a:lstStyle/>
          <a:p>
            <a:r>
              <a:rPr lang="en-US" sz="788" dirty="0">
                <a:solidFill>
                  <a:srgbClr val="5A6A7C"/>
                </a:solidFill>
                <a:latin typeface="Calibri" pitchFamily="34" charset="0"/>
                <a:ea typeface="Calibri" pitchFamily="34" charset="-122"/>
                <a:cs typeface="Calibri" pitchFamily="34" charset="-120"/>
              </a:rPr>
              <a:t>Operations-Chunk</a:t>
            </a:r>
            <a:endParaRPr lang="en-US" sz="788" dirty="0"/>
          </a:p>
        </p:txBody>
      </p:sp>
      <p:sp>
        <p:nvSpPr>
          <p:cNvPr id="155" name="Text 16">
            <a:extLst>
              <a:ext uri="{FF2B5EF4-FFF2-40B4-BE49-F238E27FC236}">
                <a16:creationId xmlns:a16="http://schemas.microsoft.com/office/drawing/2014/main" id="{65566EC6-7B75-487E-B178-3DCE042EED23}"/>
              </a:ext>
            </a:extLst>
          </p:cNvPr>
          <p:cNvSpPr/>
          <p:nvPr/>
        </p:nvSpPr>
        <p:spPr>
          <a:xfrm>
            <a:off x="576425" y="2865141"/>
            <a:ext cx="342900" cy="219456"/>
          </a:xfrm>
          <a:prstGeom prst="rect">
            <a:avLst/>
          </a:prstGeom>
          <a:noFill/>
          <a:ln/>
        </p:spPr>
        <p:txBody>
          <a:bodyPr wrap="square" lIns="0" tIns="0" rIns="0" bIns="0" rtlCol="0" anchor="ctr"/>
          <a:lstStyle/>
          <a:p>
            <a:r>
              <a:rPr lang="en-US" sz="825" dirty="0">
                <a:solidFill>
                  <a:srgbClr val="5A6A7C"/>
                </a:solidFill>
                <a:latin typeface="Calibri" pitchFamily="34" charset="0"/>
                <a:ea typeface="Calibri" pitchFamily="34" charset="-122"/>
                <a:cs typeface="Calibri" pitchFamily="34" charset="-120"/>
              </a:rPr>
              <a:t>#2</a:t>
            </a:r>
            <a:endParaRPr lang="en-US" sz="825" dirty="0"/>
          </a:p>
        </p:txBody>
      </p:sp>
      <p:sp>
        <p:nvSpPr>
          <p:cNvPr id="156" name="Text 17">
            <a:extLst>
              <a:ext uri="{FF2B5EF4-FFF2-40B4-BE49-F238E27FC236}">
                <a16:creationId xmlns:a16="http://schemas.microsoft.com/office/drawing/2014/main" id="{6447BAC3-FBAD-4C03-9265-002948038181}"/>
              </a:ext>
            </a:extLst>
          </p:cNvPr>
          <p:cNvSpPr/>
          <p:nvPr/>
        </p:nvSpPr>
        <p:spPr>
          <a:xfrm>
            <a:off x="898751" y="2865141"/>
            <a:ext cx="411480" cy="219456"/>
          </a:xfrm>
          <a:prstGeom prst="rect">
            <a:avLst/>
          </a:prstGeom>
          <a:noFill/>
          <a:ln/>
        </p:spPr>
        <p:txBody>
          <a:bodyPr wrap="square" lIns="0" tIns="0" rIns="0" bIns="0" rtlCol="0" anchor="ctr"/>
          <a:lstStyle/>
          <a:p>
            <a:r>
              <a:rPr lang="en-US" sz="788" dirty="0">
                <a:solidFill>
                  <a:srgbClr val="5A6A7C"/>
                </a:solidFill>
                <a:latin typeface="Consolas" pitchFamily="34" charset="0"/>
                <a:ea typeface="Consolas" pitchFamily="34" charset="-122"/>
                <a:cs typeface="Consolas" pitchFamily="34" charset="-120"/>
              </a:rPr>
              <a:t>0.367</a:t>
            </a:r>
            <a:endParaRPr lang="en-US" sz="788" dirty="0"/>
          </a:p>
        </p:txBody>
      </p:sp>
      <p:sp>
        <p:nvSpPr>
          <p:cNvPr id="157" name="Text 18">
            <a:extLst>
              <a:ext uri="{FF2B5EF4-FFF2-40B4-BE49-F238E27FC236}">
                <a16:creationId xmlns:a16="http://schemas.microsoft.com/office/drawing/2014/main" id="{A2DCF290-AD49-4A1B-AEA3-372D18F078B7}"/>
              </a:ext>
            </a:extLst>
          </p:cNvPr>
          <p:cNvSpPr/>
          <p:nvPr/>
        </p:nvSpPr>
        <p:spPr>
          <a:xfrm>
            <a:off x="1344521" y="2865141"/>
            <a:ext cx="1714500" cy="219456"/>
          </a:xfrm>
          <a:prstGeom prst="rect">
            <a:avLst/>
          </a:prstGeom>
          <a:noFill/>
          <a:ln/>
        </p:spPr>
        <p:txBody>
          <a:bodyPr wrap="square" lIns="0" tIns="0" rIns="0" bIns="0" rtlCol="0" anchor="ctr"/>
          <a:lstStyle/>
          <a:p>
            <a:r>
              <a:rPr lang="en-US" sz="788" dirty="0">
                <a:solidFill>
                  <a:srgbClr val="5A6A7C"/>
                </a:solidFill>
                <a:latin typeface="Calibri" pitchFamily="34" charset="0"/>
                <a:ea typeface="Calibri" pitchFamily="34" charset="-122"/>
                <a:cs typeface="Calibri" pitchFamily="34" charset="-120"/>
              </a:rPr>
              <a:t>Chief Revenue Officer</a:t>
            </a:r>
            <a:endParaRPr lang="en-US" sz="788" dirty="0"/>
          </a:p>
        </p:txBody>
      </p:sp>
      <p:sp>
        <p:nvSpPr>
          <p:cNvPr id="158" name="Text 19">
            <a:extLst>
              <a:ext uri="{FF2B5EF4-FFF2-40B4-BE49-F238E27FC236}">
                <a16:creationId xmlns:a16="http://schemas.microsoft.com/office/drawing/2014/main" id="{41382849-D417-4A9E-AC8F-040B2E0A5F3A}"/>
              </a:ext>
            </a:extLst>
          </p:cNvPr>
          <p:cNvSpPr/>
          <p:nvPr/>
        </p:nvSpPr>
        <p:spPr>
          <a:xfrm>
            <a:off x="576425" y="3153177"/>
            <a:ext cx="342900" cy="219456"/>
          </a:xfrm>
          <a:prstGeom prst="rect">
            <a:avLst/>
          </a:prstGeom>
          <a:noFill/>
          <a:ln/>
        </p:spPr>
        <p:txBody>
          <a:bodyPr wrap="square" lIns="0" tIns="0" rIns="0" bIns="0" rtlCol="0" anchor="ctr"/>
          <a:lstStyle/>
          <a:p>
            <a:r>
              <a:rPr lang="en-US" sz="825" dirty="0">
                <a:solidFill>
                  <a:srgbClr val="5A6A7C"/>
                </a:solidFill>
                <a:latin typeface="Calibri" pitchFamily="34" charset="0"/>
                <a:ea typeface="Calibri" pitchFamily="34" charset="-122"/>
                <a:cs typeface="Calibri" pitchFamily="34" charset="-120"/>
              </a:rPr>
              <a:t>#3</a:t>
            </a:r>
            <a:endParaRPr lang="en-US" sz="825" dirty="0"/>
          </a:p>
        </p:txBody>
      </p:sp>
      <p:sp>
        <p:nvSpPr>
          <p:cNvPr id="159" name="Text 20">
            <a:extLst>
              <a:ext uri="{FF2B5EF4-FFF2-40B4-BE49-F238E27FC236}">
                <a16:creationId xmlns:a16="http://schemas.microsoft.com/office/drawing/2014/main" id="{13D834EF-2FA4-4D11-835C-F875F22C3421}"/>
              </a:ext>
            </a:extLst>
          </p:cNvPr>
          <p:cNvSpPr/>
          <p:nvPr/>
        </p:nvSpPr>
        <p:spPr>
          <a:xfrm>
            <a:off x="898751" y="3153177"/>
            <a:ext cx="411480" cy="219456"/>
          </a:xfrm>
          <a:prstGeom prst="rect">
            <a:avLst/>
          </a:prstGeom>
          <a:noFill/>
          <a:ln/>
        </p:spPr>
        <p:txBody>
          <a:bodyPr wrap="square" lIns="0" tIns="0" rIns="0" bIns="0" rtlCol="0" anchor="ctr"/>
          <a:lstStyle/>
          <a:p>
            <a:r>
              <a:rPr lang="en-US" sz="788" dirty="0">
                <a:solidFill>
                  <a:srgbClr val="5A6A7C"/>
                </a:solidFill>
                <a:latin typeface="Consolas" pitchFamily="34" charset="0"/>
                <a:ea typeface="Consolas" pitchFamily="34" charset="-122"/>
                <a:cs typeface="Consolas" pitchFamily="34" charset="-120"/>
              </a:rPr>
              <a:t>0.316</a:t>
            </a:r>
            <a:endParaRPr lang="en-US" sz="788" dirty="0"/>
          </a:p>
        </p:txBody>
      </p:sp>
      <p:sp>
        <p:nvSpPr>
          <p:cNvPr id="160" name="Text 21">
            <a:extLst>
              <a:ext uri="{FF2B5EF4-FFF2-40B4-BE49-F238E27FC236}">
                <a16:creationId xmlns:a16="http://schemas.microsoft.com/office/drawing/2014/main" id="{60EA23EB-701D-4118-9E48-8A316EA784C7}"/>
              </a:ext>
            </a:extLst>
          </p:cNvPr>
          <p:cNvSpPr/>
          <p:nvPr/>
        </p:nvSpPr>
        <p:spPr>
          <a:xfrm>
            <a:off x="1344521" y="3153177"/>
            <a:ext cx="1714500" cy="219456"/>
          </a:xfrm>
          <a:prstGeom prst="rect">
            <a:avLst/>
          </a:prstGeom>
          <a:noFill/>
          <a:ln/>
        </p:spPr>
        <p:txBody>
          <a:bodyPr wrap="square" lIns="0" tIns="0" rIns="0" bIns="0" rtlCol="0" anchor="ctr"/>
          <a:lstStyle/>
          <a:p>
            <a:r>
              <a:rPr lang="en-US" sz="788" dirty="0">
                <a:solidFill>
                  <a:srgbClr val="5A6A7C"/>
                </a:solidFill>
                <a:latin typeface="Calibri" pitchFamily="34" charset="0"/>
                <a:ea typeface="Calibri" pitchFamily="34" charset="-122"/>
                <a:cs typeface="Calibri" pitchFamily="34" charset="-120"/>
              </a:rPr>
              <a:t>Chief Product Officer</a:t>
            </a:r>
            <a:endParaRPr lang="en-US" sz="788" dirty="0"/>
          </a:p>
        </p:txBody>
      </p:sp>
      <p:sp>
        <p:nvSpPr>
          <p:cNvPr id="161" name="Shape 22">
            <a:extLst>
              <a:ext uri="{FF2B5EF4-FFF2-40B4-BE49-F238E27FC236}">
                <a16:creationId xmlns:a16="http://schemas.microsoft.com/office/drawing/2014/main" id="{F88115AA-F6BC-407F-AE4C-14DB0CC412FC}"/>
              </a:ext>
            </a:extLst>
          </p:cNvPr>
          <p:cNvSpPr/>
          <p:nvPr/>
        </p:nvSpPr>
        <p:spPr>
          <a:xfrm>
            <a:off x="521561" y="3413781"/>
            <a:ext cx="2606040" cy="288036"/>
          </a:xfrm>
          <a:prstGeom prst="rect">
            <a:avLst/>
          </a:prstGeom>
          <a:solidFill>
            <a:srgbClr val="FFF4EC"/>
          </a:solidFill>
          <a:ln/>
        </p:spPr>
      </p:sp>
      <p:sp>
        <p:nvSpPr>
          <p:cNvPr id="162" name="Text 23">
            <a:extLst>
              <a:ext uri="{FF2B5EF4-FFF2-40B4-BE49-F238E27FC236}">
                <a16:creationId xmlns:a16="http://schemas.microsoft.com/office/drawing/2014/main" id="{F9803183-32AE-4AFC-BC9E-F03DAAB92898}"/>
              </a:ext>
            </a:extLst>
          </p:cNvPr>
          <p:cNvSpPr/>
          <p:nvPr/>
        </p:nvSpPr>
        <p:spPr>
          <a:xfrm>
            <a:off x="576425" y="3441213"/>
            <a:ext cx="342900" cy="219456"/>
          </a:xfrm>
          <a:prstGeom prst="rect">
            <a:avLst/>
          </a:prstGeom>
          <a:noFill/>
          <a:ln/>
        </p:spPr>
        <p:txBody>
          <a:bodyPr wrap="square" lIns="0" tIns="0" rIns="0" bIns="0" rtlCol="0" anchor="ctr"/>
          <a:lstStyle/>
          <a:p>
            <a:r>
              <a:rPr lang="en-US" sz="825" b="1" dirty="0">
                <a:solidFill>
                  <a:srgbClr val="E8743C"/>
                </a:solidFill>
                <a:latin typeface="Calibri" pitchFamily="34" charset="0"/>
                <a:ea typeface="Calibri" pitchFamily="34" charset="-122"/>
                <a:cs typeface="Calibri" pitchFamily="34" charset="-120"/>
              </a:rPr>
              <a:t>#4</a:t>
            </a:r>
            <a:endParaRPr lang="en-US" sz="825" dirty="0"/>
          </a:p>
        </p:txBody>
      </p:sp>
      <p:sp>
        <p:nvSpPr>
          <p:cNvPr id="163" name="Text 24">
            <a:extLst>
              <a:ext uri="{FF2B5EF4-FFF2-40B4-BE49-F238E27FC236}">
                <a16:creationId xmlns:a16="http://schemas.microsoft.com/office/drawing/2014/main" id="{888284D5-2D90-429F-892B-47F37081492F}"/>
              </a:ext>
            </a:extLst>
          </p:cNvPr>
          <p:cNvSpPr/>
          <p:nvPr/>
        </p:nvSpPr>
        <p:spPr>
          <a:xfrm>
            <a:off x="898751" y="3441213"/>
            <a:ext cx="411480" cy="219456"/>
          </a:xfrm>
          <a:prstGeom prst="rect">
            <a:avLst/>
          </a:prstGeom>
          <a:noFill/>
          <a:ln/>
        </p:spPr>
        <p:txBody>
          <a:bodyPr wrap="square" lIns="0" tIns="0" rIns="0" bIns="0" rtlCol="0" anchor="ctr"/>
          <a:lstStyle/>
          <a:p>
            <a:r>
              <a:rPr lang="en-US" sz="788" b="1" dirty="0">
                <a:solidFill>
                  <a:srgbClr val="1A2A40"/>
                </a:solidFill>
                <a:latin typeface="Consolas" pitchFamily="34" charset="0"/>
                <a:ea typeface="Consolas" pitchFamily="34" charset="-122"/>
                <a:cs typeface="Consolas" pitchFamily="34" charset="-120"/>
              </a:rPr>
              <a:t>0.311</a:t>
            </a:r>
            <a:endParaRPr lang="en-US" sz="788" dirty="0"/>
          </a:p>
        </p:txBody>
      </p:sp>
      <p:sp>
        <p:nvSpPr>
          <p:cNvPr id="164" name="Text 25">
            <a:extLst>
              <a:ext uri="{FF2B5EF4-FFF2-40B4-BE49-F238E27FC236}">
                <a16:creationId xmlns:a16="http://schemas.microsoft.com/office/drawing/2014/main" id="{9941EFDF-0F4C-4065-AC0D-95AD72FB3369}"/>
              </a:ext>
            </a:extLst>
          </p:cNvPr>
          <p:cNvSpPr/>
          <p:nvPr/>
        </p:nvSpPr>
        <p:spPr>
          <a:xfrm>
            <a:off x="1344521" y="3441213"/>
            <a:ext cx="1714500" cy="219456"/>
          </a:xfrm>
          <a:prstGeom prst="rect">
            <a:avLst/>
          </a:prstGeom>
          <a:noFill/>
          <a:ln/>
        </p:spPr>
        <p:txBody>
          <a:bodyPr wrap="square" lIns="0" tIns="0" rIns="0" bIns="0" rtlCol="0" anchor="ctr"/>
          <a:lstStyle/>
          <a:p>
            <a:r>
              <a:rPr lang="en-US" sz="788" b="1" dirty="0">
                <a:solidFill>
                  <a:srgbClr val="1A2A40"/>
                </a:solidFill>
                <a:latin typeface="Calibri" pitchFamily="34" charset="0"/>
                <a:ea typeface="Calibri" pitchFamily="34" charset="-122"/>
                <a:cs typeface="Calibri" pitchFamily="34" charset="-120"/>
              </a:rPr>
              <a:t>CEO-Dokument  ←  Ziel</a:t>
            </a:r>
            <a:endParaRPr lang="en-US" sz="788" dirty="0"/>
          </a:p>
        </p:txBody>
      </p:sp>
      <p:sp>
        <p:nvSpPr>
          <p:cNvPr id="165" name="Shape 26">
            <a:extLst>
              <a:ext uri="{FF2B5EF4-FFF2-40B4-BE49-F238E27FC236}">
                <a16:creationId xmlns:a16="http://schemas.microsoft.com/office/drawing/2014/main" id="{1AEC6D50-FDC0-48FC-9BE7-3054C3725D87}"/>
              </a:ext>
            </a:extLst>
          </p:cNvPr>
          <p:cNvSpPr/>
          <p:nvPr/>
        </p:nvSpPr>
        <p:spPr>
          <a:xfrm>
            <a:off x="3299051" y="1959885"/>
            <a:ext cx="2743200" cy="2263140"/>
          </a:xfrm>
          <a:prstGeom prst="rect">
            <a:avLst/>
          </a:prstGeom>
          <a:solidFill>
            <a:srgbClr val="FFFFFF"/>
          </a:solidFill>
          <a:ln w="9525">
            <a:solidFill>
              <a:srgbClr val="D9DEE5"/>
            </a:solidFill>
            <a:prstDash val="solid"/>
          </a:ln>
        </p:spPr>
      </p:sp>
      <p:sp>
        <p:nvSpPr>
          <p:cNvPr id="166" name="Shape 27">
            <a:extLst>
              <a:ext uri="{FF2B5EF4-FFF2-40B4-BE49-F238E27FC236}">
                <a16:creationId xmlns:a16="http://schemas.microsoft.com/office/drawing/2014/main" id="{D6183827-3568-4E72-AAA8-8C9BBF25D03D}"/>
              </a:ext>
            </a:extLst>
          </p:cNvPr>
          <p:cNvSpPr/>
          <p:nvPr/>
        </p:nvSpPr>
        <p:spPr>
          <a:xfrm>
            <a:off x="3299051" y="1959885"/>
            <a:ext cx="2743200" cy="41148"/>
          </a:xfrm>
          <a:prstGeom prst="rect">
            <a:avLst/>
          </a:prstGeom>
          <a:solidFill>
            <a:srgbClr val="C24A3A"/>
          </a:solidFill>
          <a:ln/>
        </p:spPr>
      </p:sp>
      <p:sp>
        <p:nvSpPr>
          <p:cNvPr id="167" name="Text 28">
            <a:extLst>
              <a:ext uri="{FF2B5EF4-FFF2-40B4-BE49-F238E27FC236}">
                <a16:creationId xmlns:a16="http://schemas.microsoft.com/office/drawing/2014/main" id="{269FE014-7EAD-4C59-B413-AFF3C6745FB3}"/>
              </a:ext>
            </a:extLst>
          </p:cNvPr>
          <p:cNvSpPr/>
          <p:nvPr/>
        </p:nvSpPr>
        <p:spPr>
          <a:xfrm>
            <a:off x="3422495" y="2062755"/>
            <a:ext cx="2496312" cy="205740"/>
          </a:xfrm>
          <a:prstGeom prst="rect">
            <a:avLst/>
          </a:prstGeom>
          <a:noFill/>
          <a:ln/>
        </p:spPr>
        <p:txBody>
          <a:bodyPr wrap="square" lIns="0" tIns="0" rIns="0" bIns="0" rtlCol="0" anchor="ctr"/>
          <a:lstStyle/>
          <a:p>
            <a:r>
              <a:rPr lang="en-US" sz="825" b="1" dirty="0">
                <a:solidFill>
                  <a:srgbClr val="1A2A40"/>
                </a:solidFill>
                <a:latin typeface="Calibri" pitchFamily="34" charset="0"/>
                <a:ea typeface="Calibri" pitchFamily="34" charset="-122"/>
                <a:cs typeface="Calibri" pitchFamily="34" charset="-120"/>
              </a:rPr>
              <a:t>openai · text-embedding-3-small</a:t>
            </a:r>
            <a:endParaRPr lang="en-US" sz="825" dirty="0"/>
          </a:p>
        </p:txBody>
      </p:sp>
      <p:sp>
        <p:nvSpPr>
          <p:cNvPr id="168" name="Text 29">
            <a:extLst>
              <a:ext uri="{FF2B5EF4-FFF2-40B4-BE49-F238E27FC236}">
                <a16:creationId xmlns:a16="http://schemas.microsoft.com/office/drawing/2014/main" id="{59E55135-CF3B-44FE-ABA1-2E3CF587BD07}"/>
              </a:ext>
            </a:extLst>
          </p:cNvPr>
          <p:cNvSpPr/>
          <p:nvPr/>
        </p:nvSpPr>
        <p:spPr>
          <a:xfrm>
            <a:off x="3422495" y="2275353"/>
            <a:ext cx="1028700" cy="171450"/>
          </a:xfrm>
          <a:prstGeom prst="rect">
            <a:avLst/>
          </a:prstGeom>
          <a:noFill/>
          <a:ln/>
        </p:spPr>
        <p:txBody>
          <a:bodyPr wrap="square" lIns="0" tIns="0" rIns="0" bIns="0" rtlCol="0" anchor="ctr"/>
          <a:lstStyle/>
          <a:p>
            <a:r>
              <a:rPr lang="en-US" sz="713" b="1" kern="0" spc="150" dirty="0">
                <a:solidFill>
                  <a:srgbClr val="C24A3A"/>
                </a:solidFill>
                <a:latin typeface="Calibri" pitchFamily="34" charset="0"/>
                <a:ea typeface="Calibri" pitchFamily="34" charset="-122"/>
                <a:cs typeface="Calibri" pitchFamily="34" charset="-120"/>
              </a:rPr>
              <a:t>FAILURE</a:t>
            </a:r>
            <a:endParaRPr lang="en-US" sz="713" dirty="0"/>
          </a:p>
        </p:txBody>
      </p:sp>
      <p:sp>
        <p:nvSpPr>
          <p:cNvPr id="169" name="Text 30">
            <a:extLst>
              <a:ext uri="{FF2B5EF4-FFF2-40B4-BE49-F238E27FC236}">
                <a16:creationId xmlns:a16="http://schemas.microsoft.com/office/drawing/2014/main" id="{CFC966C8-AFB8-4AF2-AE21-C2AC72725F3A}"/>
              </a:ext>
            </a:extLst>
          </p:cNvPr>
          <p:cNvSpPr/>
          <p:nvPr/>
        </p:nvSpPr>
        <p:spPr>
          <a:xfrm>
            <a:off x="4396331" y="2275353"/>
            <a:ext cx="1522476" cy="171450"/>
          </a:xfrm>
          <a:prstGeom prst="rect">
            <a:avLst/>
          </a:prstGeom>
          <a:noFill/>
          <a:ln/>
        </p:spPr>
        <p:txBody>
          <a:bodyPr wrap="square" lIns="0" tIns="0" rIns="0" bIns="0" rtlCol="0" anchor="ctr"/>
          <a:lstStyle/>
          <a:p>
            <a:pPr algn="r"/>
            <a:r>
              <a:rPr lang="en-US" sz="713" dirty="0">
                <a:solidFill>
                  <a:srgbClr val="5A6A7C"/>
                </a:solidFill>
                <a:latin typeface="Calibri" pitchFamily="34" charset="0"/>
                <a:ea typeface="Calibri" pitchFamily="34" charset="-122"/>
                <a:cs typeface="Calibri" pitchFamily="34" charset="-120"/>
              </a:rPr>
              <a:t>Wanted-Rank: 8 / 8</a:t>
            </a:r>
            <a:endParaRPr lang="en-US" sz="713" dirty="0"/>
          </a:p>
        </p:txBody>
      </p:sp>
      <p:sp>
        <p:nvSpPr>
          <p:cNvPr id="170" name="Shape 31">
            <a:extLst>
              <a:ext uri="{FF2B5EF4-FFF2-40B4-BE49-F238E27FC236}">
                <a16:creationId xmlns:a16="http://schemas.microsoft.com/office/drawing/2014/main" id="{73817E3F-5145-432D-B4D4-824131FB78CE}"/>
              </a:ext>
            </a:extLst>
          </p:cNvPr>
          <p:cNvSpPr/>
          <p:nvPr/>
        </p:nvSpPr>
        <p:spPr>
          <a:xfrm>
            <a:off x="3422495" y="2494809"/>
            <a:ext cx="2496312" cy="0"/>
          </a:xfrm>
          <a:prstGeom prst="line">
            <a:avLst/>
          </a:prstGeom>
          <a:noFill/>
          <a:ln w="9525">
            <a:solidFill>
              <a:srgbClr val="EDF0F4"/>
            </a:solidFill>
            <a:prstDash val="solid"/>
          </a:ln>
        </p:spPr>
      </p:sp>
      <p:sp>
        <p:nvSpPr>
          <p:cNvPr id="171" name="Text 32">
            <a:extLst>
              <a:ext uri="{FF2B5EF4-FFF2-40B4-BE49-F238E27FC236}">
                <a16:creationId xmlns:a16="http://schemas.microsoft.com/office/drawing/2014/main" id="{20B1A7BC-F193-451C-942B-1A82FDBAB666}"/>
              </a:ext>
            </a:extLst>
          </p:cNvPr>
          <p:cNvSpPr/>
          <p:nvPr/>
        </p:nvSpPr>
        <p:spPr>
          <a:xfrm>
            <a:off x="3422495" y="2577105"/>
            <a:ext cx="342900" cy="219456"/>
          </a:xfrm>
          <a:prstGeom prst="rect">
            <a:avLst/>
          </a:prstGeom>
          <a:noFill/>
          <a:ln/>
        </p:spPr>
        <p:txBody>
          <a:bodyPr wrap="square" lIns="0" tIns="0" rIns="0" bIns="0" rtlCol="0" anchor="ctr"/>
          <a:lstStyle/>
          <a:p>
            <a:r>
              <a:rPr lang="en-US" sz="825" dirty="0">
                <a:solidFill>
                  <a:srgbClr val="5A6A7C"/>
                </a:solidFill>
                <a:latin typeface="Calibri" pitchFamily="34" charset="0"/>
                <a:ea typeface="Calibri" pitchFamily="34" charset="-122"/>
                <a:cs typeface="Calibri" pitchFamily="34" charset="-120"/>
              </a:rPr>
              <a:t>#1</a:t>
            </a:r>
            <a:endParaRPr lang="en-US" sz="825" dirty="0"/>
          </a:p>
        </p:txBody>
      </p:sp>
      <p:sp>
        <p:nvSpPr>
          <p:cNvPr id="172" name="Text 33">
            <a:extLst>
              <a:ext uri="{FF2B5EF4-FFF2-40B4-BE49-F238E27FC236}">
                <a16:creationId xmlns:a16="http://schemas.microsoft.com/office/drawing/2014/main" id="{B793DC91-B556-405A-BD70-78CD8D7A67EA}"/>
              </a:ext>
            </a:extLst>
          </p:cNvPr>
          <p:cNvSpPr/>
          <p:nvPr/>
        </p:nvSpPr>
        <p:spPr>
          <a:xfrm>
            <a:off x="3744821" y="2577105"/>
            <a:ext cx="411480" cy="219456"/>
          </a:xfrm>
          <a:prstGeom prst="rect">
            <a:avLst/>
          </a:prstGeom>
          <a:noFill/>
          <a:ln/>
        </p:spPr>
        <p:txBody>
          <a:bodyPr wrap="square" lIns="0" tIns="0" rIns="0" bIns="0" rtlCol="0" anchor="ctr"/>
          <a:lstStyle/>
          <a:p>
            <a:r>
              <a:rPr lang="en-US" sz="788" dirty="0">
                <a:solidFill>
                  <a:srgbClr val="5A6A7C"/>
                </a:solidFill>
                <a:latin typeface="Consolas" pitchFamily="34" charset="0"/>
                <a:ea typeface="Consolas" pitchFamily="34" charset="-122"/>
                <a:cs typeface="Consolas" pitchFamily="34" charset="-120"/>
              </a:rPr>
              <a:t>0.385</a:t>
            </a:r>
            <a:endParaRPr lang="en-US" sz="788" dirty="0"/>
          </a:p>
        </p:txBody>
      </p:sp>
      <p:sp>
        <p:nvSpPr>
          <p:cNvPr id="173" name="Text 34">
            <a:extLst>
              <a:ext uri="{FF2B5EF4-FFF2-40B4-BE49-F238E27FC236}">
                <a16:creationId xmlns:a16="http://schemas.microsoft.com/office/drawing/2014/main" id="{505FCB8A-E72C-46E4-818C-C1B5D427D26D}"/>
              </a:ext>
            </a:extLst>
          </p:cNvPr>
          <p:cNvSpPr/>
          <p:nvPr/>
        </p:nvSpPr>
        <p:spPr>
          <a:xfrm>
            <a:off x="4190591" y="2577105"/>
            <a:ext cx="1714500" cy="219456"/>
          </a:xfrm>
          <a:prstGeom prst="rect">
            <a:avLst/>
          </a:prstGeom>
          <a:noFill/>
          <a:ln/>
        </p:spPr>
        <p:txBody>
          <a:bodyPr wrap="square" lIns="0" tIns="0" rIns="0" bIns="0" rtlCol="0" anchor="ctr"/>
          <a:lstStyle/>
          <a:p>
            <a:r>
              <a:rPr lang="en-US" sz="788" dirty="0">
                <a:solidFill>
                  <a:srgbClr val="5A6A7C"/>
                </a:solidFill>
                <a:latin typeface="Calibri" pitchFamily="34" charset="0"/>
                <a:ea typeface="Calibri" pitchFamily="34" charset="-122"/>
                <a:cs typeface="Calibri" pitchFamily="34" charset="-120"/>
              </a:rPr>
              <a:t>Operations-Chunk</a:t>
            </a:r>
            <a:endParaRPr lang="en-US" sz="788" dirty="0"/>
          </a:p>
        </p:txBody>
      </p:sp>
      <p:sp>
        <p:nvSpPr>
          <p:cNvPr id="174" name="Text 35">
            <a:extLst>
              <a:ext uri="{FF2B5EF4-FFF2-40B4-BE49-F238E27FC236}">
                <a16:creationId xmlns:a16="http://schemas.microsoft.com/office/drawing/2014/main" id="{276665F6-4080-4807-92D7-6CA092F155D4}"/>
              </a:ext>
            </a:extLst>
          </p:cNvPr>
          <p:cNvSpPr/>
          <p:nvPr/>
        </p:nvSpPr>
        <p:spPr>
          <a:xfrm>
            <a:off x="3422495" y="2865141"/>
            <a:ext cx="342900" cy="219456"/>
          </a:xfrm>
          <a:prstGeom prst="rect">
            <a:avLst/>
          </a:prstGeom>
          <a:noFill/>
          <a:ln/>
        </p:spPr>
        <p:txBody>
          <a:bodyPr wrap="square" lIns="0" tIns="0" rIns="0" bIns="0" rtlCol="0" anchor="ctr"/>
          <a:lstStyle/>
          <a:p>
            <a:r>
              <a:rPr lang="en-US" sz="825" dirty="0">
                <a:solidFill>
                  <a:srgbClr val="5A6A7C"/>
                </a:solidFill>
                <a:latin typeface="Calibri" pitchFamily="34" charset="0"/>
                <a:ea typeface="Calibri" pitchFamily="34" charset="-122"/>
                <a:cs typeface="Calibri" pitchFamily="34" charset="-120"/>
              </a:rPr>
              <a:t>#2</a:t>
            </a:r>
            <a:endParaRPr lang="en-US" sz="825" dirty="0"/>
          </a:p>
        </p:txBody>
      </p:sp>
      <p:sp>
        <p:nvSpPr>
          <p:cNvPr id="175" name="Text 36">
            <a:extLst>
              <a:ext uri="{FF2B5EF4-FFF2-40B4-BE49-F238E27FC236}">
                <a16:creationId xmlns:a16="http://schemas.microsoft.com/office/drawing/2014/main" id="{7208E301-95FD-4AE5-9855-DC65B6F81CF5}"/>
              </a:ext>
            </a:extLst>
          </p:cNvPr>
          <p:cNvSpPr/>
          <p:nvPr/>
        </p:nvSpPr>
        <p:spPr>
          <a:xfrm>
            <a:off x="3744821" y="2865141"/>
            <a:ext cx="411480" cy="219456"/>
          </a:xfrm>
          <a:prstGeom prst="rect">
            <a:avLst/>
          </a:prstGeom>
          <a:noFill/>
          <a:ln/>
        </p:spPr>
        <p:txBody>
          <a:bodyPr wrap="square" lIns="0" tIns="0" rIns="0" bIns="0" rtlCol="0" anchor="ctr"/>
          <a:lstStyle/>
          <a:p>
            <a:r>
              <a:rPr lang="en-US" sz="788" dirty="0">
                <a:solidFill>
                  <a:srgbClr val="5A6A7C"/>
                </a:solidFill>
                <a:latin typeface="Consolas" pitchFamily="34" charset="0"/>
                <a:ea typeface="Consolas" pitchFamily="34" charset="-122"/>
                <a:cs typeface="Consolas" pitchFamily="34" charset="-120"/>
              </a:rPr>
              <a:t>0.329</a:t>
            </a:r>
            <a:endParaRPr lang="en-US" sz="788" dirty="0"/>
          </a:p>
        </p:txBody>
      </p:sp>
      <p:sp>
        <p:nvSpPr>
          <p:cNvPr id="176" name="Text 37">
            <a:extLst>
              <a:ext uri="{FF2B5EF4-FFF2-40B4-BE49-F238E27FC236}">
                <a16:creationId xmlns:a16="http://schemas.microsoft.com/office/drawing/2014/main" id="{47C92A78-F829-449E-B7D7-3F028F5BF686}"/>
              </a:ext>
            </a:extLst>
          </p:cNvPr>
          <p:cNvSpPr/>
          <p:nvPr/>
        </p:nvSpPr>
        <p:spPr>
          <a:xfrm>
            <a:off x="4190591" y="2865141"/>
            <a:ext cx="1714500" cy="219456"/>
          </a:xfrm>
          <a:prstGeom prst="rect">
            <a:avLst/>
          </a:prstGeom>
          <a:noFill/>
          <a:ln/>
        </p:spPr>
        <p:txBody>
          <a:bodyPr wrap="square" lIns="0" tIns="0" rIns="0" bIns="0" rtlCol="0" anchor="ctr"/>
          <a:lstStyle/>
          <a:p>
            <a:r>
              <a:rPr lang="en-US" sz="788" dirty="0">
                <a:solidFill>
                  <a:srgbClr val="5A6A7C"/>
                </a:solidFill>
                <a:latin typeface="Calibri" pitchFamily="34" charset="0"/>
                <a:ea typeface="Calibri" pitchFamily="34" charset="-122"/>
                <a:cs typeface="Calibri" pitchFamily="34" charset="-120"/>
              </a:rPr>
              <a:t>Chief Product Officer</a:t>
            </a:r>
            <a:endParaRPr lang="en-US" sz="788" dirty="0"/>
          </a:p>
        </p:txBody>
      </p:sp>
      <p:sp>
        <p:nvSpPr>
          <p:cNvPr id="177" name="Text 38">
            <a:extLst>
              <a:ext uri="{FF2B5EF4-FFF2-40B4-BE49-F238E27FC236}">
                <a16:creationId xmlns:a16="http://schemas.microsoft.com/office/drawing/2014/main" id="{92470B1C-E1E2-4DF3-B86D-865FD7B81820}"/>
              </a:ext>
            </a:extLst>
          </p:cNvPr>
          <p:cNvSpPr/>
          <p:nvPr/>
        </p:nvSpPr>
        <p:spPr>
          <a:xfrm>
            <a:off x="3422495" y="3153177"/>
            <a:ext cx="342900" cy="219456"/>
          </a:xfrm>
          <a:prstGeom prst="rect">
            <a:avLst/>
          </a:prstGeom>
          <a:noFill/>
          <a:ln/>
        </p:spPr>
        <p:txBody>
          <a:bodyPr wrap="square" lIns="0" tIns="0" rIns="0" bIns="0" rtlCol="0" anchor="ctr"/>
          <a:lstStyle/>
          <a:p>
            <a:r>
              <a:rPr lang="en-US" sz="825" dirty="0">
                <a:solidFill>
                  <a:srgbClr val="5A6A7C"/>
                </a:solidFill>
                <a:latin typeface="Calibri" pitchFamily="34" charset="0"/>
                <a:ea typeface="Calibri" pitchFamily="34" charset="-122"/>
                <a:cs typeface="Calibri" pitchFamily="34" charset="-120"/>
              </a:rPr>
              <a:t>#3</a:t>
            </a:r>
            <a:endParaRPr lang="en-US" sz="825" dirty="0"/>
          </a:p>
        </p:txBody>
      </p:sp>
      <p:sp>
        <p:nvSpPr>
          <p:cNvPr id="178" name="Text 39">
            <a:extLst>
              <a:ext uri="{FF2B5EF4-FFF2-40B4-BE49-F238E27FC236}">
                <a16:creationId xmlns:a16="http://schemas.microsoft.com/office/drawing/2014/main" id="{80616A48-5256-403D-9EFE-7137FA8052B2}"/>
              </a:ext>
            </a:extLst>
          </p:cNvPr>
          <p:cNvSpPr/>
          <p:nvPr/>
        </p:nvSpPr>
        <p:spPr>
          <a:xfrm>
            <a:off x="3744821" y="3153177"/>
            <a:ext cx="411480" cy="219456"/>
          </a:xfrm>
          <a:prstGeom prst="rect">
            <a:avLst/>
          </a:prstGeom>
          <a:noFill/>
          <a:ln/>
        </p:spPr>
        <p:txBody>
          <a:bodyPr wrap="square" lIns="0" tIns="0" rIns="0" bIns="0" rtlCol="0" anchor="ctr"/>
          <a:lstStyle/>
          <a:p>
            <a:r>
              <a:rPr lang="en-US" sz="788" dirty="0">
                <a:solidFill>
                  <a:srgbClr val="5A6A7C"/>
                </a:solidFill>
                <a:latin typeface="Consolas" pitchFamily="34" charset="0"/>
                <a:ea typeface="Consolas" pitchFamily="34" charset="-122"/>
                <a:cs typeface="Consolas" pitchFamily="34" charset="-120"/>
              </a:rPr>
              <a:t>0.306</a:t>
            </a:r>
            <a:endParaRPr lang="en-US" sz="788" dirty="0"/>
          </a:p>
        </p:txBody>
      </p:sp>
      <p:sp>
        <p:nvSpPr>
          <p:cNvPr id="179" name="Text 40">
            <a:extLst>
              <a:ext uri="{FF2B5EF4-FFF2-40B4-BE49-F238E27FC236}">
                <a16:creationId xmlns:a16="http://schemas.microsoft.com/office/drawing/2014/main" id="{EC5DB982-99D4-44D5-8F06-AE8DF56DDC53}"/>
              </a:ext>
            </a:extLst>
          </p:cNvPr>
          <p:cNvSpPr/>
          <p:nvPr/>
        </p:nvSpPr>
        <p:spPr>
          <a:xfrm>
            <a:off x="4190591" y="3153177"/>
            <a:ext cx="1714500" cy="219456"/>
          </a:xfrm>
          <a:prstGeom prst="rect">
            <a:avLst/>
          </a:prstGeom>
          <a:noFill/>
          <a:ln/>
        </p:spPr>
        <p:txBody>
          <a:bodyPr wrap="square" lIns="0" tIns="0" rIns="0" bIns="0" rtlCol="0" anchor="ctr"/>
          <a:lstStyle/>
          <a:p>
            <a:r>
              <a:rPr lang="en-US" sz="788" dirty="0">
                <a:solidFill>
                  <a:srgbClr val="5A6A7C"/>
                </a:solidFill>
                <a:latin typeface="Calibri" pitchFamily="34" charset="0"/>
                <a:ea typeface="Calibri" pitchFamily="34" charset="-122"/>
                <a:cs typeface="Calibri" pitchFamily="34" charset="-120"/>
              </a:rPr>
              <a:t>Finance-Chunk</a:t>
            </a:r>
            <a:endParaRPr lang="en-US" sz="788" dirty="0"/>
          </a:p>
        </p:txBody>
      </p:sp>
      <p:sp>
        <p:nvSpPr>
          <p:cNvPr id="180" name="Text 41">
            <a:extLst>
              <a:ext uri="{FF2B5EF4-FFF2-40B4-BE49-F238E27FC236}">
                <a16:creationId xmlns:a16="http://schemas.microsoft.com/office/drawing/2014/main" id="{758F12F4-A10F-428D-A3BD-9D46009C3817}"/>
              </a:ext>
            </a:extLst>
          </p:cNvPr>
          <p:cNvSpPr/>
          <p:nvPr/>
        </p:nvSpPr>
        <p:spPr>
          <a:xfrm>
            <a:off x="3422495" y="3406923"/>
            <a:ext cx="2496312" cy="137160"/>
          </a:xfrm>
          <a:prstGeom prst="rect">
            <a:avLst/>
          </a:prstGeom>
          <a:noFill/>
          <a:ln/>
        </p:spPr>
        <p:txBody>
          <a:bodyPr wrap="square" lIns="0" tIns="0" rIns="0" bIns="0" rtlCol="0" anchor="ctr"/>
          <a:lstStyle/>
          <a:p>
            <a:pPr algn="ctr"/>
            <a:r>
              <a:rPr lang="en-US" sz="825" dirty="0">
                <a:solidFill>
                  <a:srgbClr val="8A95A3"/>
                </a:solidFill>
                <a:latin typeface="Calibri" pitchFamily="34" charset="0"/>
                <a:ea typeface="Calibri" pitchFamily="34" charset="-122"/>
                <a:cs typeface="Calibri" pitchFamily="34" charset="-120"/>
              </a:rPr>
              <a:t>· · ·</a:t>
            </a:r>
            <a:endParaRPr lang="en-US" sz="825" dirty="0"/>
          </a:p>
        </p:txBody>
      </p:sp>
      <p:sp>
        <p:nvSpPr>
          <p:cNvPr id="181" name="Shape 42">
            <a:extLst>
              <a:ext uri="{FF2B5EF4-FFF2-40B4-BE49-F238E27FC236}">
                <a16:creationId xmlns:a16="http://schemas.microsoft.com/office/drawing/2014/main" id="{ED2055E5-4F31-4E73-9AA4-12ACEADD019D}"/>
              </a:ext>
            </a:extLst>
          </p:cNvPr>
          <p:cNvSpPr/>
          <p:nvPr/>
        </p:nvSpPr>
        <p:spPr>
          <a:xfrm>
            <a:off x="3367631" y="3564657"/>
            <a:ext cx="2606040" cy="288036"/>
          </a:xfrm>
          <a:prstGeom prst="rect">
            <a:avLst/>
          </a:prstGeom>
          <a:solidFill>
            <a:srgbClr val="FFF4EC"/>
          </a:solidFill>
          <a:ln/>
        </p:spPr>
      </p:sp>
      <p:sp>
        <p:nvSpPr>
          <p:cNvPr id="182" name="Text 43">
            <a:extLst>
              <a:ext uri="{FF2B5EF4-FFF2-40B4-BE49-F238E27FC236}">
                <a16:creationId xmlns:a16="http://schemas.microsoft.com/office/drawing/2014/main" id="{872F812E-E4EB-45BB-B6FD-A54A0D2DE404}"/>
              </a:ext>
            </a:extLst>
          </p:cNvPr>
          <p:cNvSpPr/>
          <p:nvPr/>
        </p:nvSpPr>
        <p:spPr>
          <a:xfrm>
            <a:off x="3422495" y="3592089"/>
            <a:ext cx="342900" cy="219456"/>
          </a:xfrm>
          <a:prstGeom prst="rect">
            <a:avLst/>
          </a:prstGeom>
          <a:noFill/>
          <a:ln/>
        </p:spPr>
        <p:txBody>
          <a:bodyPr wrap="square" lIns="0" tIns="0" rIns="0" bIns="0" rtlCol="0" anchor="ctr"/>
          <a:lstStyle/>
          <a:p>
            <a:r>
              <a:rPr lang="en-US" sz="825" b="1" dirty="0">
                <a:solidFill>
                  <a:srgbClr val="E8743C"/>
                </a:solidFill>
                <a:latin typeface="Calibri" pitchFamily="34" charset="0"/>
                <a:ea typeface="Calibri" pitchFamily="34" charset="-122"/>
                <a:cs typeface="Calibri" pitchFamily="34" charset="-120"/>
              </a:rPr>
              <a:t>#8</a:t>
            </a:r>
            <a:endParaRPr lang="en-US" sz="825" dirty="0"/>
          </a:p>
        </p:txBody>
      </p:sp>
      <p:sp>
        <p:nvSpPr>
          <p:cNvPr id="183" name="Text 44">
            <a:extLst>
              <a:ext uri="{FF2B5EF4-FFF2-40B4-BE49-F238E27FC236}">
                <a16:creationId xmlns:a16="http://schemas.microsoft.com/office/drawing/2014/main" id="{C7970400-4879-4FB0-917A-E76D9E553567}"/>
              </a:ext>
            </a:extLst>
          </p:cNvPr>
          <p:cNvSpPr/>
          <p:nvPr/>
        </p:nvSpPr>
        <p:spPr>
          <a:xfrm>
            <a:off x="3744821" y="3592089"/>
            <a:ext cx="411480" cy="219456"/>
          </a:xfrm>
          <a:prstGeom prst="rect">
            <a:avLst/>
          </a:prstGeom>
          <a:noFill/>
          <a:ln/>
        </p:spPr>
        <p:txBody>
          <a:bodyPr wrap="square" lIns="0" tIns="0" rIns="0" bIns="0" rtlCol="0" anchor="ctr"/>
          <a:lstStyle/>
          <a:p>
            <a:r>
              <a:rPr lang="en-US" sz="788" b="1" dirty="0">
                <a:solidFill>
                  <a:srgbClr val="1A2A40"/>
                </a:solidFill>
                <a:latin typeface="Consolas" pitchFamily="34" charset="0"/>
                <a:ea typeface="Consolas" pitchFamily="34" charset="-122"/>
                <a:cs typeface="Consolas" pitchFamily="34" charset="-120"/>
              </a:rPr>
              <a:t>0.284</a:t>
            </a:r>
            <a:endParaRPr lang="en-US" sz="788" dirty="0"/>
          </a:p>
        </p:txBody>
      </p:sp>
      <p:sp>
        <p:nvSpPr>
          <p:cNvPr id="184" name="Text 45">
            <a:extLst>
              <a:ext uri="{FF2B5EF4-FFF2-40B4-BE49-F238E27FC236}">
                <a16:creationId xmlns:a16="http://schemas.microsoft.com/office/drawing/2014/main" id="{96A7EEF7-9A62-4EB5-BF16-0690B3539346}"/>
              </a:ext>
            </a:extLst>
          </p:cNvPr>
          <p:cNvSpPr/>
          <p:nvPr/>
        </p:nvSpPr>
        <p:spPr>
          <a:xfrm>
            <a:off x="4190591" y="3592089"/>
            <a:ext cx="1714500" cy="219456"/>
          </a:xfrm>
          <a:prstGeom prst="rect">
            <a:avLst/>
          </a:prstGeom>
          <a:noFill/>
          <a:ln/>
        </p:spPr>
        <p:txBody>
          <a:bodyPr wrap="square" lIns="0" tIns="0" rIns="0" bIns="0" rtlCol="0" anchor="ctr"/>
          <a:lstStyle/>
          <a:p>
            <a:r>
              <a:rPr lang="en-US" sz="788" b="1" dirty="0">
                <a:solidFill>
                  <a:srgbClr val="1A2A40"/>
                </a:solidFill>
                <a:latin typeface="Calibri" pitchFamily="34" charset="0"/>
                <a:ea typeface="Calibri" pitchFamily="34" charset="-122"/>
                <a:cs typeface="Calibri" pitchFamily="34" charset="-120"/>
              </a:rPr>
              <a:t>CEO-Dokument  ←  Ziel</a:t>
            </a:r>
            <a:endParaRPr lang="en-US" sz="788" dirty="0"/>
          </a:p>
        </p:txBody>
      </p:sp>
      <p:sp>
        <p:nvSpPr>
          <p:cNvPr id="185" name="Shape 46">
            <a:extLst>
              <a:ext uri="{FF2B5EF4-FFF2-40B4-BE49-F238E27FC236}">
                <a16:creationId xmlns:a16="http://schemas.microsoft.com/office/drawing/2014/main" id="{94ECB6EA-69A4-47E0-B667-EB51AEF82349}"/>
              </a:ext>
            </a:extLst>
          </p:cNvPr>
          <p:cNvSpPr/>
          <p:nvPr/>
        </p:nvSpPr>
        <p:spPr>
          <a:xfrm>
            <a:off x="6145121" y="1959885"/>
            <a:ext cx="2743200" cy="2263140"/>
          </a:xfrm>
          <a:prstGeom prst="rect">
            <a:avLst/>
          </a:prstGeom>
          <a:solidFill>
            <a:srgbClr val="FFFFFF"/>
          </a:solidFill>
          <a:ln w="9525">
            <a:solidFill>
              <a:srgbClr val="D9DEE5"/>
            </a:solidFill>
            <a:prstDash val="solid"/>
          </a:ln>
        </p:spPr>
      </p:sp>
      <p:sp>
        <p:nvSpPr>
          <p:cNvPr id="186" name="Shape 47">
            <a:extLst>
              <a:ext uri="{FF2B5EF4-FFF2-40B4-BE49-F238E27FC236}">
                <a16:creationId xmlns:a16="http://schemas.microsoft.com/office/drawing/2014/main" id="{410435BD-AAC3-4377-BCF6-0571C3B24FDE}"/>
              </a:ext>
            </a:extLst>
          </p:cNvPr>
          <p:cNvSpPr/>
          <p:nvPr/>
        </p:nvSpPr>
        <p:spPr>
          <a:xfrm>
            <a:off x="6145121" y="1959885"/>
            <a:ext cx="2743200" cy="41148"/>
          </a:xfrm>
          <a:prstGeom prst="rect">
            <a:avLst/>
          </a:prstGeom>
          <a:solidFill>
            <a:srgbClr val="2D8659"/>
          </a:solidFill>
          <a:ln/>
        </p:spPr>
      </p:sp>
      <p:sp>
        <p:nvSpPr>
          <p:cNvPr id="187" name="Text 48">
            <a:extLst>
              <a:ext uri="{FF2B5EF4-FFF2-40B4-BE49-F238E27FC236}">
                <a16:creationId xmlns:a16="http://schemas.microsoft.com/office/drawing/2014/main" id="{197BD3A0-0885-4648-A6BB-169B0BA45F41}"/>
              </a:ext>
            </a:extLst>
          </p:cNvPr>
          <p:cNvSpPr/>
          <p:nvPr/>
        </p:nvSpPr>
        <p:spPr>
          <a:xfrm>
            <a:off x="6268565" y="2062755"/>
            <a:ext cx="2496312" cy="205740"/>
          </a:xfrm>
          <a:prstGeom prst="rect">
            <a:avLst/>
          </a:prstGeom>
          <a:noFill/>
          <a:ln/>
        </p:spPr>
        <p:txBody>
          <a:bodyPr wrap="square" lIns="0" tIns="0" rIns="0" bIns="0" rtlCol="0" anchor="ctr"/>
          <a:lstStyle/>
          <a:p>
            <a:r>
              <a:rPr lang="en-US" sz="825" b="1" dirty="0">
                <a:solidFill>
                  <a:srgbClr val="1A2A40"/>
                </a:solidFill>
                <a:latin typeface="Calibri" pitchFamily="34" charset="0"/>
                <a:ea typeface="Calibri" pitchFamily="34" charset="-122"/>
                <a:cs typeface="Calibri" pitchFamily="34" charset="-120"/>
              </a:rPr>
              <a:t>google · gemini-embedding-001</a:t>
            </a:r>
            <a:endParaRPr lang="en-US" sz="825" dirty="0"/>
          </a:p>
        </p:txBody>
      </p:sp>
      <p:sp>
        <p:nvSpPr>
          <p:cNvPr id="188" name="Text 49">
            <a:extLst>
              <a:ext uri="{FF2B5EF4-FFF2-40B4-BE49-F238E27FC236}">
                <a16:creationId xmlns:a16="http://schemas.microsoft.com/office/drawing/2014/main" id="{CE6DCBC9-14E7-41DB-A470-0AF67FB7573A}"/>
              </a:ext>
            </a:extLst>
          </p:cNvPr>
          <p:cNvSpPr/>
          <p:nvPr/>
        </p:nvSpPr>
        <p:spPr>
          <a:xfrm>
            <a:off x="6268565" y="2275353"/>
            <a:ext cx="1028700" cy="171450"/>
          </a:xfrm>
          <a:prstGeom prst="rect">
            <a:avLst/>
          </a:prstGeom>
          <a:noFill/>
          <a:ln/>
        </p:spPr>
        <p:txBody>
          <a:bodyPr wrap="square" lIns="0" tIns="0" rIns="0" bIns="0" rtlCol="0" anchor="ctr"/>
          <a:lstStyle/>
          <a:p>
            <a:r>
              <a:rPr lang="en-US" sz="713" b="1" kern="0" spc="150" dirty="0">
                <a:solidFill>
                  <a:srgbClr val="2D8659"/>
                </a:solidFill>
                <a:latin typeface="Calibri" pitchFamily="34" charset="0"/>
                <a:ea typeface="Calibri" pitchFamily="34" charset="-122"/>
                <a:cs typeface="Calibri" pitchFamily="34" charset="-120"/>
              </a:rPr>
              <a:t>PASS</a:t>
            </a:r>
            <a:endParaRPr lang="en-US" sz="713" dirty="0"/>
          </a:p>
        </p:txBody>
      </p:sp>
      <p:sp>
        <p:nvSpPr>
          <p:cNvPr id="189" name="Text 50">
            <a:extLst>
              <a:ext uri="{FF2B5EF4-FFF2-40B4-BE49-F238E27FC236}">
                <a16:creationId xmlns:a16="http://schemas.microsoft.com/office/drawing/2014/main" id="{442137FF-AEEE-4BFF-B1C7-00747AB4E141}"/>
              </a:ext>
            </a:extLst>
          </p:cNvPr>
          <p:cNvSpPr/>
          <p:nvPr/>
        </p:nvSpPr>
        <p:spPr>
          <a:xfrm>
            <a:off x="7242401" y="2275353"/>
            <a:ext cx="1522476" cy="171450"/>
          </a:xfrm>
          <a:prstGeom prst="rect">
            <a:avLst/>
          </a:prstGeom>
          <a:noFill/>
          <a:ln/>
        </p:spPr>
        <p:txBody>
          <a:bodyPr wrap="square" lIns="0" tIns="0" rIns="0" bIns="0" rtlCol="0" anchor="ctr"/>
          <a:lstStyle/>
          <a:p>
            <a:pPr algn="r"/>
            <a:r>
              <a:rPr lang="en-US" sz="713" dirty="0">
                <a:solidFill>
                  <a:srgbClr val="5A6A7C"/>
                </a:solidFill>
                <a:latin typeface="Calibri" pitchFamily="34" charset="0"/>
                <a:ea typeface="Calibri" pitchFamily="34" charset="-122"/>
                <a:cs typeface="Calibri" pitchFamily="34" charset="-120"/>
              </a:rPr>
              <a:t>Wanted-Rank: 1 / 8</a:t>
            </a:r>
            <a:endParaRPr lang="en-US" sz="713" dirty="0"/>
          </a:p>
        </p:txBody>
      </p:sp>
      <p:sp>
        <p:nvSpPr>
          <p:cNvPr id="190" name="Shape 51">
            <a:extLst>
              <a:ext uri="{FF2B5EF4-FFF2-40B4-BE49-F238E27FC236}">
                <a16:creationId xmlns:a16="http://schemas.microsoft.com/office/drawing/2014/main" id="{6A072AFC-0276-43AE-848D-58A31340CA2D}"/>
              </a:ext>
            </a:extLst>
          </p:cNvPr>
          <p:cNvSpPr/>
          <p:nvPr/>
        </p:nvSpPr>
        <p:spPr>
          <a:xfrm>
            <a:off x="6268565" y="2494809"/>
            <a:ext cx="2496312" cy="0"/>
          </a:xfrm>
          <a:prstGeom prst="line">
            <a:avLst/>
          </a:prstGeom>
          <a:noFill/>
          <a:ln w="9525">
            <a:solidFill>
              <a:srgbClr val="EDF0F4"/>
            </a:solidFill>
            <a:prstDash val="solid"/>
          </a:ln>
        </p:spPr>
      </p:sp>
      <p:sp>
        <p:nvSpPr>
          <p:cNvPr id="191" name="Shape 52">
            <a:extLst>
              <a:ext uri="{FF2B5EF4-FFF2-40B4-BE49-F238E27FC236}">
                <a16:creationId xmlns:a16="http://schemas.microsoft.com/office/drawing/2014/main" id="{C32C830F-E6CD-40DA-AC27-AC2340D6F981}"/>
              </a:ext>
            </a:extLst>
          </p:cNvPr>
          <p:cNvSpPr/>
          <p:nvPr/>
        </p:nvSpPr>
        <p:spPr>
          <a:xfrm>
            <a:off x="6213701" y="2549673"/>
            <a:ext cx="2606040" cy="288036"/>
          </a:xfrm>
          <a:prstGeom prst="rect">
            <a:avLst/>
          </a:prstGeom>
          <a:solidFill>
            <a:srgbClr val="FFF4EC"/>
          </a:solidFill>
          <a:ln/>
        </p:spPr>
      </p:sp>
      <p:sp>
        <p:nvSpPr>
          <p:cNvPr id="192" name="Text 53">
            <a:extLst>
              <a:ext uri="{FF2B5EF4-FFF2-40B4-BE49-F238E27FC236}">
                <a16:creationId xmlns:a16="http://schemas.microsoft.com/office/drawing/2014/main" id="{6D8B6916-2F58-42F8-AA23-F31DC089238D}"/>
              </a:ext>
            </a:extLst>
          </p:cNvPr>
          <p:cNvSpPr/>
          <p:nvPr/>
        </p:nvSpPr>
        <p:spPr>
          <a:xfrm>
            <a:off x="6268565" y="2577105"/>
            <a:ext cx="342900" cy="219456"/>
          </a:xfrm>
          <a:prstGeom prst="rect">
            <a:avLst/>
          </a:prstGeom>
          <a:noFill/>
          <a:ln/>
        </p:spPr>
        <p:txBody>
          <a:bodyPr wrap="square" lIns="0" tIns="0" rIns="0" bIns="0" rtlCol="0" anchor="ctr"/>
          <a:lstStyle/>
          <a:p>
            <a:r>
              <a:rPr lang="en-US" sz="825" b="1" dirty="0">
                <a:solidFill>
                  <a:srgbClr val="E8743C"/>
                </a:solidFill>
                <a:latin typeface="Calibri" pitchFamily="34" charset="0"/>
                <a:ea typeface="Calibri" pitchFamily="34" charset="-122"/>
                <a:cs typeface="Calibri" pitchFamily="34" charset="-120"/>
              </a:rPr>
              <a:t>#1</a:t>
            </a:r>
            <a:endParaRPr lang="en-US" sz="825" dirty="0"/>
          </a:p>
        </p:txBody>
      </p:sp>
      <p:sp>
        <p:nvSpPr>
          <p:cNvPr id="193" name="Text 54">
            <a:extLst>
              <a:ext uri="{FF2B5EF4-FFF2-40B4-BE49-F238E27FC236}">
                <a16:creationId xmlns:a16="http://schemas.microsoft.com/office/drawing/2014/main" id="{B521B556-B297-4D2B-863D-6588A355E71E}"/>
              </a:ext>
            </a:extLst>
          </p:cNvPr>
          <p:cNvSpPr/>
          <p:nvPr/>
        </p:nvSpPr>
        <p:spPr>
          <a:xfrm>
            <a:off x="6590891" y="2577105"/>
            <a:ext cx="411480" cy="219456"/>
          </a:xfrm>
          <a:prstGeom prst="rect">
            <a:avLst/>
          </a:prstGeom>
          <a:noFill/>
          <a:ln/>
        </p:spPr>
        <p:txBody>
          <a:bodyPr wrap="square" lIns="0" tIns="0" rIns="0" bIns="0" rtlCol="0" anchor="ctr"/>
          <a:lstStyle/>
          <a:p>
            <a:r>
              <a:rPr lang="en-US" sz="788" b="1" dirty="0">
                <a:solidFill>
                  <a:srgbClr val="1A2A40"/>
                </a:solidFill>
                <a:latin typeface="Consolas" pitchFamily="34" charset="0"/>
                <a:ea typeface="Consolas" pitchFamily="34" charset="-122"/>
                <a:cs typeface="Consolas" pitchFamily="34" charset="-120"/>
              </a:rPr>
              <a:t>0.652</a:t>
            </a:r>
            <a:endParaRPr lang="en-US" sz="788" dirty="0"/>
          </a:p>
        </p:txBody>
      </p:sp>
      <p:sp>
        <p:nvSpPr>
          <p:cNvPr id="194" name="Text 55">
            <a:extLst>
              <a:ext uri="{FF2B5EF4-FFF2-40B4-BE49-F238E27FC236}">
                <a16:creationId xmlns:a16="http://schemas.microsoft.com/office/drawing/2014/main" id="{440BEF0C-5471-45FC-AED3-5292535E1E82}"/>
              </a:ext>
            </a:extLst>
          </p:cNvPr>
          <p:cNvSpPr/>
          <p:nvPr/>
        </p:nvSpPr>
        <p:spPr>
          <a:xfrm>
            <a:off x="7036661" y="2577105"/>
            <a:ext cx="1714500" cy="219456"/>
          </a:xfrm>
          <a:prstGeom prst="rect">
            <a:avLst/>
          </a:prstGeom>
          <a:noFill/>
          <a:ln/>
        </p:spPr>
        <p:txBody>
          <a:bodyPr wrap="square" lIns="0" tIns="0" rIns="0" bIns="0" rtlCol="0" anchor="ctr"/>
          <a:lstStyle/>
          <a:p>
            <a:r>
              <a:rPr lang="en-US" sz="788" b="1" dirty="0">
                <a:solidFill>
                  <a:srgbClr val="1A2A40"/>
                </a:solidFill>
                <a:latin typeface="Calibri" pitchFamily="34" charset="0"/>
                <a:ea typeface="Calibri" pitchFamily="34" charset="-122"/>
                <a:cs typeface="Calibri" pitchFamily="34" charset="-120"/>
              </a:rPr>
              <a:t>CEO-Dokument  ←  Ziel</a:t>
            </a:r>
            <a:endParaRPr lang="en-US" sz="788" dirty="0"/>
          </a:p>
        </p:txBody>
      </p:sp>
      <p:sp>
        <p:nvSpPr>
          <p:cNvPr id="195" name="Text 56">
            <a:extLst>
              <a:ext uri="{FF2B5EF4-FFF2-40B4-BE49-F238E27FC236}">
                <a16:creationId xmlns:a16="http://schemas.microsoft.com/office/drawing/2014/main" id="{108D1196-AE17-4592-93DA-FE752CE30546}"/>
              </a:ext>
            </a:extLst>
          </p:cNvPr>
          <p:cNvSpPr/>
          <p:nvPr/>
        </p:nvSpPr>
        <p:spPr>
          <a:xfrm>
            <a:off x="6268565" y="2865141"/>
            <a:ext cx="342900" cy="219456"/>
          </a:xfrm>
          <a:prstGeom prst="rect">
            <a:avLst/>
          </a:prstGeom>
          <a:noFill/>
          <a:ln/>
        </p:spPr>
        <p:txBody>
          <a:bodyPr wrap="square" lIns="0" tIns="0" rIns="0" bIns="0" rtlCol="0" anchor="ctr"/>
          <a:lstStyle/>
          <a:p>
            <a:r>
              <a:rPr lang="en-US" sz="825" dirty="0">
                <a:solidFill>
                  <a:srgbClr val="5A6A7C"/>
                </a:solidFill>
                <a:latin typeface="Calibri" pitchFamily="34" charset="0"/>
                <a:ea typeface="Calibri" pitchFamily="34" charset="-122"/>
                <a:cs typeface="Calibri" pitchFamily="34" charset="-120"/>
              </a:rPr>
              <a:t>#2</a:t>
            </a:r>
            <a:endParaRPr lang="en-US" sz="825" dirty="0"/>
          </a:p>
        </p:txBody>
      </p:sp>
      <p:sp>
        <p:nvSpPr>
          <p:cNvPr id="196" name="Text 57">
            <a:extLst>
              <a:ext uri="{FF2B5EF4-FFF2-40B4-BE49-F238E27FC236}">
                <a16:creationId xmlns:a16="http://schemas.microsoft.com/office/drawing/2014/main" id="{0A20B4E5-3428-410B-82E9-FC14B0C9A54D}"/>
              </a:ext>
            </a:extLst>
          </p:cNvPr>
          <p:cNvSpPr/>
          <p:nvPr/>
        </p:nvSpPr>
        <p:spPr>
          <a:xfrm>
            <a:off x="6590891" y="2865141"/>
            <a:ext cx="411480" cy="219456"/>
          </a:xfrm>
          <a:prstGeom prst="rect">
            <a:avLst/>
          </a:prstGeom>
          <a:noFill/>
          <a:ln/>
        </p:spPr>
        <p:txBody>
          <a:bodyPr wrap="square" lIns="0" tIns="0" rIns="0" bIns="0" rtlCol="0" anchor="ctr"/>
          <a:lstStyle/>
          <a:p>
            <a:r>
              <a:rPr lang="en-US" sz="788" dirty="0">
                <a:solidFill>
                  <a:srgbClr val="5A6A7C"/>
                </a:solidFill>
                <a:latin typeface="Consolas" pitchFamily="34" charset="0"/>
                <a:ea typeface="Consolas" pitchFamily="34" charset="-122"/>
                <a:cs typeface="Consolas" pitchFamily="34" charset="-120"/>
              </a:rPr>
              <a:t>0.642</a:t>
            </a:r>
            <a:endParaRPr lang="en-US" sz="788" dirty="0"/>
          </a:p>
        </p:txBody>
      </p:sp>
      <p:sp>
        <p:nvSpPr>
          <p:cNvPr id="197" name="Text 58">
            <a:extLst>
              <a:ext uri="{FF2B5EF4-FFF2-40B4-BE49-F238E27FC236}">
                <a16:creationId xmlns:a16="http://schemas.microsoft.com/office/drawing/2014/main" id="{C300933D-54FC-43DF-806F-15488A7639F5}"/>
              </a:ext>
            </a:extLst>
          </p:cNvPr>
          <p:cNvSpPr/>
          <p:nvPr/>
        </p:nvSpPr>
        <p:spPr>
          <a:xfrm>
            <a:off x="7036661" y="2865141"/>
            <a:ext cx="1714500" cy="219456"/>
          </a:xfrm>
          <a:prstGeom prst="rect">
            <a:avLst/>
          </a:prstGeom>
          <a:noFill/>
          <a:ln/>
        </p:spPr>
        <p:txBody>
          <a:bodyPr wrap="square" lIns="0" tIns="0" rIns="0" bIns="0" rtlCol="0" anchor="ctr"/>
          <a:lstStyle/>
          <a:p>
            <a:r>
              <a:rPr lang="en-US" sz="788" dirty="0">
                <a:solidFill>
                  <a:srgbClr val="5A6A7C"/>
                </a:solidFill>
                <a:latin typeface="Calibri" pitchFamily="34" charset="0"/>
                <a:ea typeface="Calibri" pitchFamily="34" charset="-122"/>
                <a:cs typeface="Calibri" pitchFamily="34" charset="-120"/>
              </a:rPr>
              <a:t>Operations-Chunk</a:t>
            </a:r>
            <a:endParaRPr lang="en-US" sz="788" dirty="0"/>
          </a:p>
        </p:txBody>
      </p:sp>
      <p:sp>
        <p:nvSpPr>
          <p:cNvPr id="198" name="Text 59">
            <a:extLst>
              <a:ext uri="{FF2B5EF4-FFF2-40B4-BE49-F238E27FC236}">
                <a16:creationId xmlns:a16="http://schemas.microsoft.com/office/drawing/2014/main" id="{E67056F6-429F-46A3-8723-7FAE74901BD4}"/>
              </a:ext>
            </a:extLst>
          </p:cNvPr>
          <p:cNvSpPr/>
          <p:nvPr/>
        </p:nvSpPr>
        <p:spPr>
          <a:xfrm>
            <a:off x="6268565" y="3153177"/>
            <a:ext cx="342900" cy="219456"/>
          </a:xfrm>
          <a:prstGeom prst="rect">
            <a:avLst/>
          </a:prstGeom>
          <a:noFill/>
          <a:ln/>
        </p:spPr>
        <p:txBody>
          <a:bodyPr wrap="square" lIns="0" tIns="0" rIns="0" bIns="0" rtlCol="0" anchor="ctr"/>
          <a:lstStyle/>
          <a:p>
            <a:r>
              <a:rPr lang="en-US" sz="825" dirty="0">
                <a:solidFill>
                  <a:srgbClr val="5A6A7C"/>
                </a:solidFill>
                <a:latin typeface="Calibri" pitchFamily="34" charset="0"/>
                <a:ea typeface="Calibri" pitchFamily="34" charset="-122"/>
                <a:cs typeface="Calibri" pitchFamily="34" charset="-120"/>
              </a:rPr>
              <a:t>#3</a:t>
            </a:r>
            <a:endParaRPr lang="en-US" sz="825" dirty="0"/>
          </a:p>
        </p:txBody>
      </p:sp>
      <p:sp>
        <p:nvSpPr>
          <p:cNvPr id="199" name="Text 60">
            <a:extLst>
              <a:ext uri="{FF2B5EF4-FFF2-40B4-BE49-F238E27FC236}">
                <a16:creationId xmlns:a16="http://schemas.microsoft.com/office/drawing/2014/main" id="{89572D2C-AAA0-4307-908C-BB7898BD3D61}"/>
              </a:ext>
            </a:extLst>
          </p:cNvPr>
          <p:cNvSpPr/>
          <p:nvPr/>
        </p:nvSpPr>
        <p:spPr>
          <a:xfrm>
            <a:off x="6590891" y="3153177"/>
            <a:ext cx="411480" cy="219456"/>
          </a:xfrm>
          <a:prstGeom prst="rect">
            <a:avLst/>
          </a:prstGeom>
          <a:noFill/>
          <a:ln/>
        </p:spPr>
        <p:txBody>
          <a:bodyPr wrap="square" lIns="0" tIns="0" rIns="0" bIns="0" rtlCol="0" anchor="ctr"/>
          <a:lstStyle/>
          <a:p>
            <a:r>
              <a:rPr lang="en-US" sz="788" dirty="0">
                <a:solidFill>
                  <a:srgbClr val="5A6A7C"/>
                </a:solidFill>
                <a:latin typeface="Consolas" pitchFamily="34" charset="0"/>
                <a:ea typeface="Consolas" pitchFamily="34" charset="-122"/>
                <a:cs typeface="Consolas" pitchFamily="34" charset="-120"/>
              </a:rPr>
              <a:t>0.633</a:t>
            </a:r>
            <a:endParaRPr lang="en-US" sz="788" dirty="0"/>
          </a:p>
        </p:txBody>
      </p:sp>
      <p:sp>
        <p:nvSpPr>
          <p:cNvPr id="200" name="Text 61">
            <a:extLst>
              <a:ext uri="{FF2B5EF4-FFF2-40B4-BE49-F238E27FC236}">
                <a16:creationId xmlns:a16="http://schemas.microsoft.com/office/drawing/2014/main" id="{56BBC093-5EF8-445F-9A2E-96D40D0A8C9A}"/>
              </a:ext>
            </a:extLst>
          </p:cNvPr>
          <p:cNvSpPr/>
          <p:nvPr/>
        </p:nvSpPr>
        <p:spPr>
          <a:xfrm>
            <a:off x="7036661" y="3153177"/>
            <a:ext cx="1714500" cy="219456"/>
          </a:xfrm>
          <a:prstGeom prst="rect">
            <a:avLst/>
          </a:prstGeom>
          <a:noFill/>
          <a:ln/>
        </p:spPr>
        <p:txBody>
          <a:bodyPr wrap="square" lIns="0" tIns="0" rIns="0" bIns="0" rtlCol="0" anchor="ctr"/>
          <a:lstStyle/>
          <a:p>
            <a:r>
              <a:rPr lang="en-US" sz="788" dirty="0">
                <a:solidFill>
                  <a:srgbClr val="5A6A7C"/>
                </a:solidFill>
                <a:latin typeface="Calibri" pitchFamily="34" charset="0"/>
                <a:ea typeface="Calibri" pitchFamily="34" charset="-122"/>
                <a:cs typeface="Calibri" pitchFamily="34" charset="-120"/>
              </a:rPr>
              <a:t>Gründer-Chunk</a:t>
            </a:r>
            <a:endParaRPr lang="en-US" sz="788" dirty="0"/>
          </a:p>
        </p:txBody>
      </p:sp>
      <p:sp>
        <p:nvSpPr>
          <p:cNvPr id="201" name="Text 62">
            <a:extLst>
              <a:ext uri="{FF2B5EF4-FFF2-40B4-BE49-F238E27FC236}">
                <a16:creationId xmlns:a16="http://schemas.microsoft.com/office/drawing/2014/main" id="{3A6446BA-E910-49D0-8BE7-DFA829981529}"/>
              </a:ext>
            </a:extLst>
          </p:cNvPr>
          <p:cNvSpPr/>
          <p:nvPr/>
        </p:nvSpPr>
        <p:spPr>
          <a:xfrm>
            <a:off x="6268565" y="3441213"/>
            <a:ext cx="342900" cy="219456"/>
          </a:xfrm>
          <a:prstGeom prst="rect">
            <a:avLst/>
          </a:prstGeom>
          <a:noFill/>
          <a:ln/>
        </p:spPr>
        <p:txBody>
          <a:bodyPr wrap="square" lIns="0" tIns="0" rIns="0" bIns="0" rtlCol="0" anchor="ctr"/>
          <a:lstStyle/>
          <a:p>
            <a:r>
              <a:rPr lang="en-US" sz="825" dirty="0">
                <a:solidFill>
                  <a:srgbClr val="5A6A7C"/>
                </a:solidFill>
                <a:latin typeface="Calibri" pitchFamily="34" charset="0"/>
                <a:ea typeface="Calibri" pitchFamily="34" charset="-122"/>
                <a:cs typeface="Calibri" pitchFamily="34" charset="-120"/>
              </a:rPr>
              <a:t>#4</a:t>
            </a:r>
            <a:endParaRPr lang="en-US" sz="825" dirty="0"/>
          </a:p>
        </p:txBody>
      </p:sp>
      <p:sp>
        <p:nvSpPr>
          <p:cNvPr id="202" name="Text 63">
            <a:extLst>
              <a:ext uri="{FF2B5EF4-FFF2-40B4-BE49-F238E27FC236}">
                <a16:creationId xmlns:a16="http://schemas.microsoft.com/office/drawing/2014/main" id="{179861B7-56AA-4F67-970D-A144C0F37852}"/>
              </a:ext>
            </a:extLst>
          </p:cNvPr>
          <p:cNvSpPr/>
          <p:nvPr/>
        </p:nvSpPr>
        <p:spPr>
          <a:xfrm>
            <a:off x="6590891" y="3441213"/>
            <a:ext cx="411480" cy="219456"/>
          </a:xfrm>
          <a:prstGeom prst="rect">
            <a:avLst/>
          </a:prstGeom>
          <a:noFill/>
          <a:ln/>
        </p:spPr>
        <p:txBody>
          <a:bodyPr wrap="square" lIns="0" tIns="0" rIns="0" bIns="0" rtlCol="0" anchor="ctr"/>
          <a:lstStyle/>
          <a:p>
            <a:r>
              <a:rPr lang="en-US" sz="788" dirty="0">
                <a:solidFill>
                  <a:srgbClr val="5A6A7C"/>
                </a:solidFill>
                <a:latin typeface="Consolas" pitchFamily="34" charset="0"/>
                <a:ea typeface="Consolas" pitchFamily="34" charset="-122"/>
                <a:cs typeface="Consolas" pitchFamily="34" charset="-120"/>
              </a:rPr>
              <a:t>0.623</a:t>
            </a:r>
            <a:endParaRPr lang="en-US" sz="788" dirty="0"/>
          </a:p>
        </p:txBody>
      </p:sp>
      <p:sp>
        <p:nvSpPr>
          <p:cNvPr id="203" name="Text 64">
            <a:extLst>
              <a:ext uri="{FF2B5EF4-FFF2-40B4-BE49-F238E27FC236}">
                <a16:creationId xmlns:a16="http://schemas.microsoft.com/office/drawing/2014/main" id="{910FF769-B824-4F0F-A6DA-2C33DC20BD5E}"/>
              </a:ext>
            </a:extLst>
          </p:cNvPr>
          <p:cNvSpPr/>
          <p:nvPr/>
        </p:nvSpPr>
        <p:spPr>
          <a:xfrm>
            <a:off x="7036661" y="3441213"/>
            <a:ext cx="1714500" cy="219456"/>
          </a:xfrm>
          <a:prstGeom prst="rect">
            <a:avLst/>
          </a:prstGeom>
          <a:noFill/>
          <a:ln/>
        </p:spPr>
        <p:txBody>
          <a:bodyPr wrap="square" lIns="0" tIns="0" rIns="0" bIns="0" rtlCol="0" anchor="ctr"/>
          <a:lstStyle/>
          <a:p>
            <a:r>
              <a:rPr lang="en-US" sz="788" dirty="0">
                <a:solidFill>
                  <a:srgbClr val="5A6A7C"/>
                </a:solidFill>
                <a:latin typeface="Calibri" pitchFamily="34" charset="0"/>
                <a:ea typeface="Calibri" pitchFamily="34" charset="-122"/>
                <a:cs typeface="Calibri" pitchFamily="34" charset="-120"/>
              </a:rPr>
              <a:t>Chief Revenue Officer</a:t>
            </a:r>
            <a:endParaRPr lang="en-US" sz="788" dirty="0"/>
          </a:p>
        </p:txBody>
      </p:sp>
      <p:sp>
        <p:nvSpPr>
          <p:cNvPr id="204" name="Shape 65">
            <a:extLst>
              <a:ext uri="{FF2B5EF4-FFF2-40B4-BE49-F238E27FC236}">
                <a16:creationId xmlns:a16="http://schemas.microsoft.com/office/drawing/2014/main" id="{0FDDD5DD-BA23-49A4-BD12-1FC61558CED5}"/>
              </a:ext>
            </a:extLst>
          </p:cNvPr>
          <p:cNvSpPr/>
          <p:nvPr/>
        </p:nvSpPr>
        <p:spPr>
          <a:xfrm>
            <a:off x="452981" y="4325895"/>
            <a:ext cx="8435340" cy="377190"/>
          </a:xfrm>
          <a:prstGeom prst="rect">
            <a:avLst/>
          </a:prstGeom>
          <a:solidFill>
            <a:srgbClr val="F7F9FB"/>
          </a:solidFill>
          <a:ln/>
        </p:spPr>
      </p:sp>
      <p:sp>
        <p:nvSpPr>
          <p:cNvPr id="205" name="Shape 66">
            <a:extLst>
              <a:ext uri="{FF2B5EF4-FFF2-40B4-BE49-F238E27FC236}">
                <a16:creationId xmlns:a16="http://schemas.microsoft.com/office/drawing/2014/main" id="{19714A7D-DBBF-4D16-9B77-81B7842487F0}"/>
              </a:ext>
            </a:extLst>
          </p:cNvPr>
          <p:cNvSpPr/>
          <p:nvPr/>
        </p:nvSpPr>
        <p:spPr>
          <a:xfrm>
            <a:off x="452981" y="4325895"/>
            <a:ext cx="54864" cy="377190"/>
          </a:xfrm>
          <a:prstGeom prst="rect">
            <a:avLst/>
          </a:prstGeom>
          <a:solidFill>
            <a:srgbClr val="E8743C"/>
          </a:solidFill>
          <a:ln/>
        </p:spPr>
      </p:sp>
      <p:sp>
        <p:nvSpPr>
          <p:cNvPr id="206" name="Text 67">
            <a:extLst>
              <a:ext uri="{FF2B5EF4-FFF2-40B4-BE49-F238E27FC236}">
                <a16:creationId xmlns:a16="http://schemas.microsoft.com/office/drawing/2014/main" id="{0A05DE96-C0E2-4F3A-9D48-C7DB0E0A935E}"/>
              </a:ext>
            </a:extLst>
          </p:cNvPr>
          <p:cNvSpPr/>
          <p:nvPr/>
        </p:nvSpPr>
        <p:spPr>
          <a:xfrm>
            <a:off x="624431" y="4380759"/>
            <a:ext cx="8229600" cy="288036"/>
          </a:xfrm>
          <a:prstGeom prst="rect">
            <a:avLst/>
          </a:prstGeom>
          <a:noFill/>
          <a:ln/>
        </p:spPr>
        <p:txBody>
          <a:bodyPr wrap="square" lIns="0" tIns="0" rIns="0" bIns="0" rtlCol="0" anchor="ctr"/>
          <a:lstStyle/>
          <a:p>
            <a:r>
              <a:rPr lang="en-US" sz="788" b="1" dirty="0">
                <a:solidFill>
                  <a:srgbClr val="1A2A40"/>
                </a:solidFill>
                <a:latin typeface="Calibri" pitchFamily="34" charset="0"/>
                <a:ea typeface="Calibri" pitchFamily="34" charset="-122"/>
                <a:cs typeface="Calibri" pitchFamily="34" charset="-120"/>
              </a:rPr>
              <a:t>Befund:  </a:t>
            </a:r>
            <a:r>
              <a:rPr lang="en-US" sz="788" dirty="0">
                <a:solidFill>
                  <a:srgbClr val="1A2A40"/>
                </a:solidFill>
                <a:latin typeface="Calibri" pitchFamily="34" charset="0"/>
                <a:ea typeface="Calibri" pitchFamily="34" charset="-122"/>
                <a:cs typeface="Calibri" pitchFamily="34" charset="-120"/>
              </a:rPr>
              <a:t>Failure ist </a:t>
            </a:r>
            <a:r>
              <a:rPr lang="en-US" sz="788" dirty="0" err="1">
                <a:solidFill>
                  <a:srgbClr val="1A2A40"/>
                </a:solidFill>
                <a:latin typeface="Calibri" pitchFamily="34" charset="0"/>
                <a:ea typeface="Calibri" pitchFamily="34" charset="-122"/>
                <a:cs typeface="Calibri" pitchFamily="34" charset="-120"/>
              </a:rPr>
              <a:t>modellabhängig</a:t>
            </a:r>
            <a:r>
              <a:rPr lang="en-US" sz="788" dirty="0">
                <a:solidFill>
                  <a:srgbClr val="1A2A40"/>
                </a:solidFill>
                <a:latin typeface="Calibri" pitchFamily="34" charset="0"/>
                <a:ea typeface="Calibri" pitchFamily="34" charset="-122"/>
                <a:cs typeface="Calibri" pitchFamily="34" charset="-120"/>
              </a:rPr>
              <a:t> - bei 2 von 3 getesteten Modellen reproduzierbar. Gemini schneidet besser ab, weil es Query und Dokument asymmetrisch enkodiert (RETRIEVAL_QUERY vs. RETRIEVAL_DOCUMENT). Das Risiko genügt, um in der Architektur durch Hybridsuche adressiert zu werden.</a:t>
            </a:r>
            <a:endParaRPr lang="en-US" sz="788" dirty="0"/>
          </a:p>
        </p:txBody>
      </p:sp>
    </p:spTree>
    <p:extLst>
      <p:ext uri="{BB962C8B-B14F-4D97-AF65-F5344CB8AC3E}">
        <p14:creationId xmlns:p14="http://schemas.microsoft.com/office/powerpoint/2010/main" val="34695089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Datumsplatzhalter 75">
            <a:extLst>
              <a:ext uri="{FF2B5EF4-FFF2-40B4-BE49-F238E27FC236}">
                <a16:creationId xmlns:a16="http://schemas.microsoft.com/office/drawing/2014/main" id="{FB534BCA-17DB-4EBE-9103-31EF5969BBD5}"/>
              </a:ext>
            </a:extLst>
          </p:cNvPr>
          <p:cNvSpPr>
            <a:spLocks noGrp="1"/>
          </p:cNvSpPr>
          <p:nvPr>
            <p:ph type="dt" sz="half" idx="10"/>
          </p:nvPr>
        </p:nvSpPr>
        <p:spPr>
          <a:xfrm>
            <a:off x="347840" y="4807006"/>
            <a:ext cx="2338210" cy="273844"/>
          </a:xfrm>
        </p:spPr>
        <p:txBody>
          <a:bodyPr/>
          <a:lstStyle/>
          <a:p>
            <a:fld id="{0D05602C-25EE-48A8-8786-3C51BA41DB9E}" type="datetime1">
              <a:rPr lang="de-DE"/>
              <a:t>04.05.2026</a:t>
            </a:fld>
            <a:endParaRPr lang="de-DE" dirty="0"/>
          </a:p>
        </p:txBody>
      </p:sp>
      <p:sp>
        <p:nvSpPr>
          <p:cNvPr id="77" name="Fußzeilenplatzhalter 76">
            <a:extLst>
              <a:ext uri="{FF2B5EF4-FFF2-40B4-BE49-F238E27FC236}">
                <a16:creationId xmlns:a16="http://schemas.microsoft.com/office/drawing/2014/main" id="{10A96F6C-9081-4668-9382-F92081EE73D0}"/>
              </a:ext>
            </a:extLst>
          </p:cNvPr>
          <p:cNvSpPr>
            <a:spLocks noGrp="1"/>
          </p:cNvSpPr>
          <p:nvPr>
            <p:ph type="ftr" sz="quarter" idx="11"/>
          </p:nvPr>
        </p:nvSpPr>
        <p:spPr>
          <a:xfrm>
            <a:off x="2686050" y="4807006"/>
            <a:ext cx="3812404" cy="273844"/>
          </a:xfrm>
        </p:spPr>
        <p:txBody>
          <a:bodyPr/>
          <a:lstStyle/>
          <a:p>
            <a:r>
              <a:rPr lang="de-DE" dirty="0"/>
              <a:t>Vektordatenbanken </a:t>
            </a:r>
            <a:r>
              <a:rPr lang="en-US" dirty="0"/>
              <a:t>· </a:t>
            </a:r>
            <a:r>
              <a:rPr lang="en-US" dirty="0" err="1"/>
              <a:t>Studienprojekt</a:t>
            </a:r>
            <a:r>
              <a:rPr lang="en-US" dirty="0"/>
              <a:t> Reverse Chatbots</a:t>
            </a:r>
            <a:endParaRPr lang="de-DE" dirty="0"/>
          </a:p>
        </p:txBody>
      </p:sp>
      <p:sp>
        <p:nvSpPr>
          <p:cNvPr id="78" name="Foliennummernplatzhalter 77">
            <a:extLst>
              <a:ext uri="{FF2B5EF4-FFF2-40B4-BE49-F238E27FC236}">
                <a16:creationId xmlns:a16="http://schemas.microsoft.com/office/drawing/2014/main" id="{2B507CAF-8A2B-4670-8A8F-519A0AECCF4A}"/>
              </a:ext>
            </a:extLst>
          </p:cNvPr>
          <p:cNvSpPr>
            <a:spLocks noGrp="1"/>
          </p:cNvSpPr>
          <p:nvPr>
            <p:ph type="sldNum" sz="quarter" idx="12"/>
          </p:nvPr>
        </p:nvSpPr>
        <p:spPr>
          <a:xfrm>
            <a:off x="6457950" y="4807006"/>
            <a:ext cx="2338210" cy="273844"/>
          </a:xfrm>
        </p:spPr>
        <p:txBody>
          <a:bodyPr/>
          <a:lstStyle/>
          <a:p>
            <a:fld id="{0E836345-B243-4000-8050-9A1A9D10D9C9}" type="slidenum">
              <a:rPr lang="de-DE" smtClean="0"/>
              <a:t>13</a:t>
            </a:fld>
            <a:r>
              <a:rPr lang="de-DE" dirty="0"/>
              <a:t> / 12</a:t>
            </a:r>
          </a:p>
        </p:txBody>
      </p:sp>
      <p:sp>
        <p:nvSpPr>
          <p:cNvPr id="12" name="Titel 1">
            <a:extLst>
              <a:ext uri="{FF2B5EF4-FFF2-40B4-BE49-F238E27FC236}">
                <a16:creationId xmlns:a16="http://schemas.microsoft.com/office/drawing/2014/main" id="{81E954D4-F65D-4D0A-86F3-BBAEF3CF2E4C}"/>
              </a:ext>
            </a:extLst>
          </p:cNvPr>
          <p:cNvSpPr txBox="1">
            <a:spLocks/>
          </p:cNvSpPr>
          <p:nvPr/>
        </p:nvSpPr>
        <p:spPr>
          <a:xfrm>
            <a:off x="326356" y="382496"/>
            <a:ext cx="6549399" cy="359255"/>
          </a:xfrm>
          <a:prstGeom prst="rect">
            <a:avLst/>
          </a:prstGeom>
        </p:spPr>
        <p:txBody>
          <a:bodyPr vert="horz" lIns="91440" tIns="45720" rIns="91440" bIns="45720" rtlCol="0" anchor="ctr">
            <a:normAutofit fontScale="67500" lnSpcReduction="20000"/>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3200" b="1" dirty="0" err="1">
                <a:solidFill>
                  <a:srgbClr val="0F172A"/>
                </a:solidFill>
                <a:latin typeface="Cambria" pitchFamily="34" charset="0"/>
                <a:ea typeface="Cambria" pitchFamily="34" charset="-122"/>
              </a:rPr>
              <a:t>Anhang</a:t>
            </a:r>
            <a:r>
              <a:rPr lang="en-US" sz="3200" b="1" dirty="0">
                <a:solidFill>
                  <a:srgbClr val="0F172A"/>
                </a:solidFill>
                <a:latin typeface="Cambria" pitchFamily="34" charset="0"/>
                <a:ea typeface="Cambria" pitchFamily="34" charset="-122"/>
              </a:rPr>
              <a:t> </a:t>
            </a:r>
            <a:endParaRPr lang="en-US" sz="3200" dirty="0"/>
          </a:p>
        </p:txBody>
      </p:sp>
      <p:sp>
        <p:nvSpPr>
          <p:cNvPr id="13" name="Rechteck 12">
            <a:extLst>
              <a:ext uri="{FF2B5EF4-FFF2-40B4-BE49-F238E27FC236}">
                <a16:creationId xmlns:a16="http://schemas.microsoft.com/office/drawing/2014/main" id="{90551C61-1825-4DC6-8EAC-38A3DBDCC535}"/>
              </a:ext>
            </a:extLst>
          </p:cNvPr>
          <p:cNvSpPr/>
          <p:nvPr/>
        </p:nvSpPr>
        <p:spPr>
          <a:xfrm>
            <a:off x="452981" y="1083791"/>
            <a:ext cx="383507" cy="52083"/>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013"/>
          </a:p>
        </p:txBody>
      </p:sp>
      <p:sp>
        <p:nvSpPr>
          <p:cNvPr id="14" name="Titel 1">
            <a:extLst>
              <a:ext uri="{FF2B5EF4-FFF2-40B4-BE49-F238E27FC236}">
                <a16:creationId xmlns:a16="http://schemas.microsoft.com/office/drawing/2014/main" id="{EF21B44B-BFD0-4210-B8E5-DCDC48DDD8EF}"/>
              </a:ext>
            </a:extLst>
          </p:cNvPr>
          <p:cNvSpPr txBox="1">
            <a:spLocks/>
          </p:cNvSpPr>
          <p:nvPr/>
        </p:nvSpPr>
        <p:spPr>
          <a:xfrm>
            <a:off x="345780" y="688385"/>
            <a:ext cx="6959145" cy="359255"/>
          </a:xfrm>
          <a:prstGeom prst="rect">
            <a:avLst/>
          </a:prstGeom>
        </p:spPr>
        <p:txBody>
          <a:bodyPr vert="horz" lIns="68580" tIns="34290" rIns="68580" bIns="3429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sz="1500" dirty="0">
                <a:solidFill>
                  <a:srgbClr val="0F172A"/>
                </a:solidFill>
                <a:latin typeface="Calibri Light" panose="020F0302020204030204" pitchFamily="34" charset="0"/>
                <a:ea typeface="Calibri Light" panose="020F0302020204030204" pitchFamily="34" charset="0"/>
                <a:cs typeface="Calibri Light" panose="020F0302020204030204" pitchFamily="34" charset="0"/>
              </a:rPr>
              <a:t>Vergleich Vektordatenbanken – engere Auswahl auf Basis des Open-Source-Kriteriums</a:t>
            </a:r>
          </a:p>
        </p:txBody>
      </p:sp>
      <p:graphicFrame>
        <p:nvGraphicFramePr>
          <p:cNvPr id="8" name="Table 0">
            <a:extLst>
              <a:ext uri="{FF2B5EF4-FFF2-40B4-BE49-F238E27FC236}">
                <a16:creationId xmlns:a16="http://schemas.microsoft.com/office/drawing/2014/main" id="{006CBF11-96E4-467C-8C07-267A3620BDDA}"/>
              </a:ext>
            </a:extLst>
          </p:cNvPr>
          <p:cNvGraphicFramePr>
            <a:graphicFrameLocks noGrp="1"/>
          </p:cNvGraphicFramePr>
          <p:nvPr>
            <p:extLst>
              <p:ext uri="{D42A27DB-BD31-4B8C-83A1-F6EECF244321}">
                <p14:modId xmlns:p14="http://schemas.microsoft.com/office/powerpoint/2010/main" val="3064990225"/>
              </p:ext>
            </p:extLst>
          </p:nvPr>
        </p:nvGraphicFramePr>
        <p:xfrm>
          <a:off x="452981" y="1313913"/>
          <a:ext cx="8435340" cy="2194560"/>
        </p:xfrm>
        <a:graphic>
          <a:graphicData uri="http://schemas.openxmlformats.org/drawingml/2006/table">
            <a:tbl>
              <a:tblPr/>
              <a:tblGrid>
                <a:gridCol w="2057400">
                  <a:extLst>
                    <a:ext uri="{9D8B030D-6E8A-4147-A177-3AD203B41FA5}">
                      <a16:colId xmlns:a16="http://schemas.microsoft.com/office/drawing/2014/main" val="20000"/>
                    </a:ext>
                  </a:extLst>
                </a:gridCol>
                <a:gridCol w="2125980">
                  <a:extLst>
                    <a:ext uri="{9D8B030D-6E8A-4147-A177-3AD203B41FA5}">
                      <a16:colId xmlns:a16="http://schemas.microsoft.com/office/drawing/2014/main" val="20001"/>
                    </a:ext>
                  </a:extLst>
                </a:gridCol>
                <a:gridCol w="2125980">
                  <a:extLst>
                    <a:ext uri="{9D8B030D-6E8A-4147-A177-3AD203B41FA5}">
                      <a16:colId xmlns:a16="http://schemas.microsoft.com/office/drawing/2014/main" val="20002"/>
                    </a:ext>
                  </a:extLst>
                </a:gridCol>
                <a:gridCol w="2125980">
                  <a:extLst>
                    <a:ext uri="{9D8B030D-6E8A-4147-A177-3AD203B41FA5}">
                      <a16:colId xmlns:a16="http://schemas.microsoft.com/office/drawing/2014/main" val="20003"/>
                    </a:ext>
                  </a:extLst>
                </a:gridCol>
              </a:tblGrid>
              <a:tr h="274320">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Kriterium</a:t>
                      </a:r>
                      <a:endParaRPr lang="en-US" sz="900" dirty="0">
                        <a:latin typeface="Calibri" charset="0"/>
                        <a:ea typeface="Calibri" charset="0"/>
                        <a:cs typeface="Calibri" charset="0"/>
                      </a:endParaRPr>
                    </a:p>
                  </a:txBody>
                  <a:tcPr marL="68580" marR="68580" marT="34290" marB="3429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A2A40"/>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Qdrant</a:t>
                      </a:r>
                      <a:endParaRPr lang="en-US" sz="900" dirty="0">
                        <a:latin typeface="Calibri" charset="0"/>
                        <a:ea typeface="Calibri" charset="0"/>
                        <a:cs typeface="Calibri" charset="0"/>
                      </a:endParaRPr>
                    </a:p>
                  </a:txBody>
                  <a:tcPr marL="68580" marR="68580" marT="34290" marB="3429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E8743C"/>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ChromaDB</a:t>
                      </a:r>
                      <a:endParaRPr lang="en-US" sz="900" dirty="0">
                        <a:latin typeface="Calibri" charset="0"/>
                        <a:ea typeface="Calibri" charset="0"/>
                        <a:cs typeface="Calibri" charset="0"/>
                      </a:endParaRPr>
                    </a:p>
                  </a:txBody>
                  <a:tcPr marL="68580" marR="68580" marT="34290" marB="3429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A2A40"/>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pg_vector</a:t>
                      </a:r>
                      <a:endParaRPr lang="en-US" sz="900" dirty="0">
                        <a:latin typeface="Calibri" charset="0"/>
                        <a:ea typeface="Calibri" charset="0"/>
                        <a:cs typeface="Calibri" charset="0"/>
                      </a:endParaRPr>
                    </a:p>
                  </a:txBody>
                  <a:tcPr marL="68580" marR="68580" marT="34290" marB="3429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A2A40"/>
                    </a:solidFill>
                  </a:tcPr>
                </a:tc>
                <a:extLst>
                  <a:ext uri="{0D108BD9-81ED-4DB2-BD59-A6C34878D82A}">
                    <a16:rowId xmlns:a16="http://schemas.microsoft.com/office/drawing/2014/main" val="10000"/>
                  </a:ext>
                </a:extLst>
              </a:tr>
              <a:tr h="274320">
                <a:tc>
                  <a:txBody>
                    <a:bodyPr/>
                    <a:lstStyle/>
                    <a:p>
                      <a:pPr marL="0" indent="0" algn="l">
                        <a:buNone/>
                      </a:pPr>
                      <a:r>
                        <a:rPr lang="en-US" sz="800" dirty="0">
                          <a:solidFill>
                            <a:srgbClr val="1A2A40"/>
                          </a:solidFill>
                          <a:latin typeface="Calibri" pitchFamily="34" charset="0"/>
                          <a:ea typeface="Calibri" pitchFamily="34" charset="-122"/>
                          <a:cs typeface="Calibri" pitchFamily="34" charset="-120"/>
                        </a:rPr>
                        <a:t>Architektur</a:t>
                      </a:r>
                      <a:endParaRPr lang="en-US" sz="800" dirty="0">
                        <a:latin typeface="Calibri" charset="0"/>
                        <a:ea typeface="Calibri" charset="0"/>
                        <a:cs typeface="Calibri" charset="0"/>
                      </a:endParaRPr>
                    </a:p>
                  </a:txBody>
                  <a:tcPr marL="38100" marR="38100" marT="38100" marB="381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A2A40"/>
                          </a:solidFill>
                          <a:latin typeface="Calibri" pitchFamily="34" charset="0"/>
                          <a:ea typeface="Calibri" pitchFamily="34" charset="-122"/>
                          <a:cs typeface="Calibri" pitchFamily="34" charset="-120"/>
                        </a:rPr>
                        <a:t>Native Vektordatenbank</a:t>
                      </a:r>
                      <a:endParaRPr lang="en-US" sz="800" dirty="0">
                        <a:latin typeface="Calibri" charset="0"/>
                        <a:ea typeface="Calibri" charset="0"/>
                        <a:cs typeface="Calibri" charset="0"/>
                      </a:endParaRPr>
                    </a:p>
                  </a:txBody>
                  <a:tcPr marL="38100" marR="38100" marT="38100" marB="381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4EC"/>
                    </a:solidFill>
                  </a:tcPr>
                </a:tc>
                <a:tc>
                  <a:txBody>
                    <a:bodyPr/>
                    <a:lstStyle/>
                    <a:p>
                      <a:pPr marL="0" indent="0" algn="ctr">
                        <a:buNone/>
                      </a:pPr>
                      <a:r>
                        <a:rPr lang="en-US" sz="800" dirty="0">
                          <a:solidFill>
                            <a:srgbClr val="1A2A40"/>
                          </a:solidFill>
                          <a:latin typeface="Calibri" pitchFamily="34" charset="0"/>
                          <a:ea typeface="Calibri" pitchFamily="34" charset="-122"/>
                          <a:cs typeface="Calibri" pitchFamily="34" charset="-120"/>
                        </a:rPr>
                        <a:t>Native Vektordatenbank</a:t>
                      </a:r>
                      <a:endParaRPr lang="en-US" sz="800" dirty="0">
                        <a:latin typeface="Calibri" charset="0"/>
                        <a:ea typeface="Calibri" charset="0"/>
                        <a:cs typeface="Calibri" charset="0"/>
                      </a:endParaRPr>
                    </a:p>
                  </a:txBody>
                  <a:tcPr marL="38100" marR="38100" marT="38100" marB="381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A2A40"/>
                          </a:solidFill>
                          <a:latin typeface="Calibri" pitchFamily="34" charset="0"/>
                          <a:ea typeface="Calibri" pitchFamily="34" charset="-122"/>
                          <a:cs typeface="Calibri" pitchFamily="34" charset="-120"/>
                        </a:rPr>
                        <a:t>Postgres-Erweiterung</a:t>
                      </a:r>
                      <a:endParaRPr lang="en-US" sz="800" dirty="0">
                        <a:latin typeface="Calibri" charset="0"/>
                        <a:ea typeface="Calibri" charset="0"/>
                        <a:cs typeface="Calibri" charset="0"/>
                      </a:endParaRPr>
                    </a:p>
                  </a:txBody>
                  <a:tcPr marL="38100" marR="38100" marT="38100" marB="381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4320">
                <a:tc>
                  <a:txBody>
                    <a:bodyPr/>
                    <a:lstStyle/>
                    <a:p>
                      <a:pPr marL="0" indent="0" algn="l">
                        <a:buNone/>
                      </a:pPr>
                      <a:r>
                        <a:rPr lang="en-US" sz="800" dirty="0">
                          <a:solidFill>
                            <a:srgbClr val="1A2A40"/>
                          </a:solidFill>
                          <a:latin typeface="Calibri" pitchFamily="34" charset="0"/>
                          <a:ea typeface="Calibri" pitchFamily="34" charset="-122"/>
                          <a:cs typeface="Calibri" pitchFamily="34" charset="-120"/>
                        </a:rPr>
                        <a:t>Lizenz</a:t>
                      </a:r>
                      <a:endParaRPr lang="en-US" sz="800" dirty="0">
                        <a:latin typeface="Calibri" charset="0"/>
                        <a:ea typeface="Calibri" charset="0"/>
                        <a:cs typeface="Calibri" charset="0"/>
                      </a:endParaRPr>
                    </a:p>
                  </a:txBody>
                  <a:tcPr marL="38100" marR="38100" marT="38100" marB="381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A2A40"/>
                          </a:solidFill>
                          <a:latin typeface="Calibri" pitchFamily="34" charset="0"/>
                          <a:ea typeface="Calibri" pitchFamily="34" charset="-122"/>
                          <a:cs typeface="Calibri" pitchFamily="34" charset="-120"/>
                        </a:rPr>
                        <a:t>Apache 2.0</a:t>
                      </a:r>
                      <a:endParaRPr lang="en-US" sz="800" dirty="0">
                        <a:latin typeface="Calibri" charset="0"/>
                        <a:ea typeface="Calibri" charset="0"/>
                        <a:cs typeface="Calibri" charset="0"/>
                      </a:endParaRPr>
                    </a:p>
                  </a:txBody>
                  <a:tcPr marL="38100" marR="38100" marT="38100" marB="381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4EC"/>
                    </a:solidFill>
                  </a:tcPr>
                </a:tc>
                <a:tc>
                  <a:txBody>
                    <a:bodyPr/>
                    <a:lstStyle/>
                    <a:p>
                      <a:pPr marL="0" indent="0" algn="ctr">
                        <a:buNone/>
                      </a:pPr>
                      <a:r>
                        <a:rPr lang="en-US" sz="800" dirty="0">
                          <a:solidFill>
                            <a:srgbClr val="1A2A40"/>
                          </a:solidFill>
                          <a:latin typeface="Calibri" pitchFamily="34" charset="0"/>
                          <a:ea typeface="Calibri" pitchFamily="34" charset="-122"/>
                          <a:cs typeface="Calibri" pitchFamily="34" charset="-120"/>
                        </a:rPr>
                        <a:t>Apache 2.0</a:t>
                      </a:r>
                      <a:endParaRPr lang="en-US" sz="800" dirty="0">
                        <a:latin typeface="Calibri" charset="0"/>
                        <a:ea typeface="Calibri" charset="0"/>
                        <a:cs typeface="Calibri" charset="0"/>
                      </a:endParaRPr>
                    </a:p>
                  </a:txBody>
                  <a:tcPr marL="38100" marR="38100" marT="38100" marB="381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A2A40"/>
                          </a:solidFill>
                          <a:latin typeface="Calibri" pitchFamily="34" charset="0"/>
                          <a:ea typeface="Calibri" pitchFamily="34" charset="-122"/>
                          <a:cs typeface="Calibri" pitchFamily="34" charset="-120"/>
                        </a:rPr>
                        <a:t>PostgreSQL Lic.</a:t>
                      </a:r>
                      <a:endParaRPr lang="en-US" sz="800" dirty="0">
                        <a:latin typeface="Calibri" charset="0"/>
                        <a:ea typeface="Calibri" charset="0"/>
                        <a:cs typeface="Calibri" charset="0"/>
                      </a:endParaRPr>
                    </a:p>
                  </a:txBody>
                  <a:tcPr marL="38100" marR="38100" marT="38100" marB="381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lgn="l">
                        <a:buNone/>
                      </a:pPr>
                      <a:r>
                        <a:rPr lang="en-US" sz="800" dirty="0">
                          <a:solidFill>
                            <a:srgbClr val="1A2A40"/>
                          </a:solidFill>
                          <a:latin typeface="Calibri" pitchFamily="34" charset="0"/>
                          <a:ea typeface="Calibri" pitchFamily="34" charset="-122"/>
                          <a:cs typeface="Calibri" pitchFamily="34" charset="-120"/>
                        </a:rPr>
                        <a:t>Implementiert in</a:t>
                      </a:r>
                      <a:endParaRPr lang="en-US" sz="800" dirty="0">
                        <a:latin typeface="Calibri" charset="0"/>
                        <a:ea typeface="Calibri" charset="0"/>
                        <a:cs typeface="Calibri" charset="0"/>
                      </a:endParaRPr>
                    </a:p>
                  </a:txBody>
                  <a:tcPr marL="38100" marR="38100" marT="38100" marB="381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A2A40"/>
                          </a:solidFill>
                          <a:latin typeface="Calibri" pitchFamily="34" charset="0"/>
                          <a:ea typeface="Calibri" pitchFamily="34" charset="-122"/>
                          <a:cs typeface="Calibri" pitchFamily="34" charset="-120"/>
                        </a:rPr>
                        <a:t>Rust</a:t>
                      </a:r>
                      <a:endParaRPr lang="en-US" sz="800" dirty="0">
                        <a:latin typeface="Calibri" charset="0"/>
                        <a:ea typeface="Calibri" charset="0"/>
                        <a:cs typeface="Calibri" charset="0"/>
                      </a:endParaRPr>
                    </a:p>
                  </a:txBody>
                  <a:tcPr marL="38100" marR="38100" marT="38100" marB="381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4EC"/>
                    </a:solidFill>
                  </a:tcPr>
                </a:tc>
                <a:tc>
                  <a:txBody>
                    <a:bodyPr/>
                    <a:lstStyle/>
                    <a:p>
                      <a:pPr marL="0" indent="0" algn="ctr">
                        <a:buNone/>
                      </a:pPr>
                      <a:r>
                        <a:rPr lang="en-US" sz="800" dirty="0">
                          <a:solidFill>
                            <a:srgbClr val="1A2A40"/>
                          </a:solidFill>
                          <a:latin typeface="Calibri" pitchFamily="34" charset="0"/>
                          <a:ea typeface="Calibri" pitchFamily="34" charset="-122"/>
                          <a:cs typeface="Calibri" pitchFamily="34" charset="-120"/>
                        </a:rPr>
                        <a:t>Python / Rust</a:t>
                      </a:r>
                      <a:endParaRPr lang="en-US" sz="800" dirty="0">
                        <a:latin typeface="Calibri" charset="0"/>
                        <a:ea typeface="Calibri" charset="0"/>
                        <a:cs typeface="Calibri" charset="0"/>
                      </a:endParaRPr>
                    </a:p>
                  </a:txBody>
                  <a:tcPr marL="38100" marR="38100" marT="38100" marB="381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A2A40"/>
                          </a:solidFill>
                          <a:latin typeface="Calibri" pitchFamily="34" charset="0"/>
                          <a:ea typeface="Calibri" pitchFamily="34" charset="-122"/>
                          <a:cs typeface="Calibri" pitchFamily="34" charset="-120"/>
                        </a:rPr>
                        <a:t>C</a:t>
                      </a:r>
                      <a:endParaRPr lang="en-US" sz="800" dirty="0">
                        <a:latin typeface="Calibri" charset="0"/>
                        <a:ea typeface="Calibri" charset="0"/>
                        <a:cs typeface="Calibri" charset="0"/>
                      </a:endParaRPr>
                    </a:p>
                  </a:txBody>
                  <a:tcPr marL="38100" marR="38100" marT="38100" marB="381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74320">
                <a:tc>
                  <a:txBody>
                    <a:bodyPr/>
                    <a:lstStyle/>
                    <a:p>
                      <a:pPr marL="0" indent="0" algn="l">
                        <a:buNone/>
                      </a:pPr>
                      <a:r>
                        <a:rPr lang="en-US" sz="800" dirty="0">
                          <a:solidFill>
                            <a:srgbClr val="1A2A40"/>
                          </a:solidFill>
                          <a:latin typeface="Calibri" pitchFamily="34" charset="0"/>
                          <a:ea typeface="Calibri" pitchFamily="34" charset="-122"/>
                          <a:cs typeface="Calibri" pitchFamily="34" charset="-120"/>
                        </a:rPr>
                        <a:t>Hybridsuche (BM25)</a:t>
                      </a:r>
                      <a:endParaRPr lang="en-US" sz="800" dirty="0">
                        <a:latin typeface="Calibri" charset="0"/>
                        <a:ea typeface="Calibri" charset="0"/>
                        <a:cs typeface="Calibri" charset="0"/>
                      </a:endParaRPr>
                    </a:p>
                  </a:txBody>
                  <a:tcPr marL="38100" marR="38100" marT="38100" marB="381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marL="0" indent="0" algn="ctr">
                        <a:buNone/>
                      </a:pPr>
                      <a:r>
                        <a:rPr lang="en-US" sz="800" b="1" dirty="0" err="1">
                          <a:solidFill>
                            <a:srgbClr val="2D8659"/>
                          </a:solidFill>
                          <a:latin typeface="Calibri" pitchFamily="34" charset="0"/>
                          <a:ea typeface="Calibri" pitchFamily="34" charset="-122"/>
                          <a:cs typeface="Calibri" pitchFamily="34" charset="-120"/>
                        </a:rPr>
                        <a:t>Nativ</a:t>
                      </a:r>
                      <a:r>
                        <a:rPr lang="en-US" sz="800" b="1" dirty="0">
                          <a:solidFill>
                            <a:srgbClr val="2D8659"/>
                          </a:solidFill>
                          <a:latin typeface="Calibri" pitchFamily="34" charset="0"/>
                          <a:ea typeface="Calibri" pitchFamily="34" charset="-122"/>
                          <a:cs typeface="Calibri" pitchFamily="34" charset="-120"/>
                        </a:rPr>
                        <a:t> </a:t>
                      </a:r>
                      <a:r>
                        <a:rPr lang="en-US" sz="800" b="1" dirty="0" err="1">
                          <a:solidFill>
                            <a:srgbClr val="2D8659"/>
                          </a:solidFill>
                          <a:latin typeface="Calibri" pitchFamily="34" charset="0"/>
                          <a:ea typeface="Calibri" pitchFamily="34" charset="-122"/>
                          <a:cs typeface="Calibri" pitchFamily="34" charset="-120"/>
                        </a:rPr>
                        <a:t>unterstützt</a:t>
                      </a:r>
                      <a:r>
                        <a:rPr lang="en-US" sz="800" b="1" dirty="0">
                          <a:solidFill>
                            <a:srgbClr val="2D8659"/>
                          </a:solidFill>
                          <a:latin typeface="Calibri" pitchFamily="34" charset="0"/>
                          <a:ea typeface="Calibri" pitchFamily="34" charset="-122"/>
                          <a:cs typeface="Calibri" pitchFamily="34" charset="-120"/>
                        </a:rPr>
                        <a:t> [Q10]</a:t>
                      </a:r>
                      <a:endParaRPr lang="en-US" sz="800" dirty="0">
                        <a:latin typeface="Calibri" charset="0"/>
                        <a:ea typeface="Calibri" charset="0"/>
                        <a:cs typeface="Calibri" charset="0"/>
                      </a:endParaRPr>
                    </a:p>
                  </a:txBody>
                  <a:tcPr marL="38100" marR="38100" marT="38100" marB="381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4EC"/>
                    </a:solidFill>
                  </a:tcPr>
                </a:tc>
                <a:tc>
                  <a:txBody>
                    <a:bodyPr/>
                    <a:lstStyle/>
                    <a:p>
                      <a:pPr marL="0" indent="0" algn="ctr">
                        <a:buNone/>
                      </a:pPr>
                      <a:r>
                        <a:rPr lang="en-US" sz="800" b="1" kern="1200" dirty="0" err="1">
                          <a:solidFill>
                            <a:srgbClr val="2D8659"/>
                          </a:solidFill>
                          <a:latin typeface="Calibri" pitchFamily="34" charset="0"/>
                          <a:ea typeface="Calibri" pitchFamily="34" charset="-122"/>
                          <a:cs typeface="Calibri" pitchFamily="34" charset="-120"/>
                        </a:rPr>
                        <a:t>Neuerdings</a:t>
                      </a:r>
                      <a:r>
                        <a:rPr lang="en-US" sz="800" b="1" kern="1200" dirty="0">
                          <a:solidFill>
                            <a:srgbClr val="2D8659"/>
                          </a:solidFill>
                          <a:latin typeface="Calibri" pitchFamily="34" charset="0"/>
                          <a:ea typeface="Calibri" pitchFamily="34" charset="-122"/>
                          <a:cs typeface="Calibri" pitchFamily="34" charset="-120"/>
                        </a:rPr>
                        <a:t> </a:t>
                      </a:r>
                      <a:r>
                        <a:rPr lang="en-US" sz="800" b="1" kern="1200" dirty="0" err="1">
                          <a:solidFill>
                            <a:srgbClr val="2D8659"/>
                          </a:solidFill>
                          <a:latin typeface="Calibri" pitchFamily="34" charset="0"/>
                          <a:ea typeface="Calibri" pitchFamily="34" charset="-122"/>
                          <a:cs typeface="Calibri" pitchFamily="34" charset="-120"/>
                        </a:rPr>
                        <a:t>nativ</a:t>
                      </a:r>
                      <a:r>
                        <a:rPr lang="en-US" sz="800" b="1" kern="1200" dirty="0">
                          <a:solidFill>
                            <a:srgbClr val="2D8659"/>
                          </a:solidFill>
                          <a:latin typeface="Calibri" pitchFamily="34" charset="0"/>
                          <a:ea typeface="Calibri" pitchFamily="34" charset="-122"/>
                          <a:cs typeface="Calibri" pitchFamily="34" charset="-120"/>
                        </a:rPr>
                        <a:t> </a:t>
                      </a:r>
                      <a:r>
                        <a:rPr lang="en-US" sz="800" b="1" kern="1200" dirty="0" err="1">
                          <a:solidFill>
                            <a:srgbClr val="2D8659"/>
                          </a:solidFill>
                          <a:latin typeface="Calibri" pitchFamily="34" charset="0"/>
                          <a:ea typeface="Calibri" pitchFamily="34" charset="-122"/>
                          <a:cs typeface="Calibri" pitchFamily="34" charset="-120"/>
                        </a:rPr>
                        <a:t>unterstützt</a:t>
                      </a:r>
                      <a:r>
                        <a:rPr lang="en-US" sz="800" b="1" kern="1200" dirty="0">
                          <a:solidFill>
                            <a:srgbClr val="2D8659"/>
                          </a:solidFill>
                          <a:latin typeface="Calibri" pitchFamily="34" charset="0"/>
                          <a:ea typeface="Calibri" pitchFamily="34" charset="-122"/>
                          <a:cs typeface="Calibri" pitchFamily="34" charset="-120"/>
                        </a:rPr>
                        <a:t> [Q11]</a:t>
                      </a:r>
                    </a:p>
                  </a:txBody>
                  <a:tcPr marL="38100" marR="38100" marT="38100" marB="381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5A6A7C"/>
                          </a:solidFill>
                          <a:latin typeface="Calibri" pitchFamily="34" charset="0"/>
                          <a:ea typeface="Calibri" pitchFamily="34" charset="-122"/>
                          <a:cs typeface="Calibri" pitchFamily="34" charset="-120"/>
                        </a:rPr>
                        <a:t>Über Plugin (VectorChord-BM25) [Q12]</a:t>
                      </a:r>
                      <a:endParaRPr lang="en-US" sz="800" dirty="0">
                        <a:latin typeface="Calibri" charset="0"/>
                        <a:ea typeface="Calibri" charset="0"/>
                        <a:cs typeface="Calibri" charset="0"/>
                      </a:endParaRPr>
                    </a:p>
                  </a:txBody>
                  <a:tcPr marL="38100" marR="38100" marT="38100" marB="381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74320">
                <a:tc>
                  <a:txBody>
                    <a:bodyPr/>
                    <a:lstStyle/>
                    <a:p>
                      <a:pPr marL="0" indent="0" algn="l">
                        <a:buNone/>
                      </a:pPr>
                      <a:r>
                        <a:rPr lang="en-US" sz="800" dirty="0">
                          <a:solidFill>
                            <a:srgbClr val="1A2A40"/>
                          </a:solidFill>
                          <a:latin typeface="Calibri" pitchFamily="34" charset="0"/>
                          <a:ea typeface="Calibri" pitchFamily="34" charset="-122"/>
                          <a:cs typeface="Calibri" pitchFamily="34" charset="-120"/>
                        </a:rPr>
                        <a:t>Filterung über Metadaten</a:t>
                      </a:r>
                      <a:endParaRPr lang="en-US" sz="800" dirty="0">
                        <a:latin typeface="Calibri" charset="0"/>
                        <a:ea typeface="Calibri" charset="0"/>
                        <a:cs typeface="Calibri" charset="0"/>
                      </a:endParaRPr>
                    </a:p>
                  </a:txBody>
                  <a:tcPr marL="38100" marR="38100" marT="38100" marB="381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A2A40"/>
                          </a:solidFill>
                          <a:latin typeface="Calibri" pitchFamily="34" charset="0"/>
                          <a:ea typeface="Calibri" pitchFamily="34" charset="-122"/>
                          <a:cs typeface="Calibri" pitchFamily="34" charset="-120"/>
                        </a:rPr>
                        <a:t>Ja</a:t>
                      </a:r>
                      <a:endParaRPr lang="en-US" sz="800" dirty="0">
                        <a:latin typeface="Calibri" charset="0"/>
                        <a:ea typeface="Calibri" charset="0"/>
                        <a:cs typeface="Calibri" charset="0"/>
                      </a:endParaRPr>
                    </a:p>
                  </a:txBody>
                  <a:tcPr marL="38100" marR="38100" marT="38100" marB="381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4EC"/>
                    </a:solidFill>
                  </a:tcPr>
                </a:tc>
                <a:tc>
                  <a:txBody>
                    <a:bodyPr/>
                    <a:lstStyle/>
                    <a:p>
                      <a:pPr marL="0" indent="0" algn="ctr">
                        <a:buNone/>
                      </a:pPr>
                      <a:r>
                        <a:rPr lang="en-US" sz="800" dirty="0">
                          <a:solidFill>
                            <a:srgbClr val="1A2A40"/>
                          </a:solidFill>
                          <a:latin typeface="Calibri" pitchFamily="34" charset="0"/>
                          <a:ea typeface="Calibri" pitchFamily="34" charset="-122"/>
                          <a:cs typeface="Calibri" pitchFamily="34" charset="-120"/>
                        </a:rPr>
                        <a:t>Ja</a:t>
                      </a:r>
                      <a:endParaRPr lang="en-US" sz="800" dirty="0">
                        <a:latin typeface="Calibri" charset="0"/>
                        <a:ea typeface="Calibri" charset="0"/>
                        <a:cs typeface="Calibri" charset="0"/>
                      </a:endParaRPr>
                    </a:p>
                  </a:txBody>
                  <a:tcPr marL="38100" marR="38100" marT="38100" marB="381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A2A40"/>
                          </a:solidFill>
                          <a:latin typeface="Calibri" pitchFamily="34" charset="0"/>
                          <a:ea typeface="Calibri" pitchFamily="34" charset="-122"/>
                          <a:cs typeface="Calibri" pitchFamily="34" charset="-120"/>
                        </a:rPr>
                        <a:t>Ja (über SQL)</a:t>
                      </a:r>
                      <a:endParaRPr lang="en-US" sz="800" dirty="0">
                        <a:latin typeface="Calibri" charset="0"/>
                        <a:ea typeface="Calibri" charset="0"/>
                        <a:cs typeface="Calibri" charset="0"/>
                      </a:endParaRPr>
                    </a:p>
                  </a:txBody>
                  <a:tcPr marL="38100" marR="38100" marT="38100" marB="381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74320">
                <a:tc>
                  <a:txBody>
                    <a:bodyPr/>
                    <a:lstStyle/>
                    <a:p>
                      <a:pPr marL="0" indent="0" algn="l">
                        <a:buNone/>
                      </a:pPr>
                      <a:r>
                        <a:rPr lang="en-US" sz="800" dirty="0">
                          <a:solidFill>
                            <a:srgbClr val="1A2A40"/>
                          </a:solidFill>
                          <a:latin typeface="Calibri" pitchFamily="34" charset="0"/>
                          <a:ea typeface="Calibri" pitchFamily="34" charset="-122"/>
                          <a:cs typeface="Calibri" pitchFamily="34" charset="-120"/>
                        </a:rPr>
                        <a:t>Self-Hosting</a:t>
                      </a:r>
                      <a:endParaRPr lang="en-US" sz="800" dirty="0">
                        <a:latin typeface="Calibri" charset="0"/>
                        <a:ea typeface="Calibri" charset="0"/>
                        <a:cs typeface="Calibri" charset="0"/>
                      </a:endParaRPr>
                    </a:p>
                  </a:txBody>
                  <a:tcPr marL="38100" marR="38100" marT="38100" marB="381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A2A40"/>
                          </a:solidFill>
                          <a:latin typeface="Calibri" pitchFamily="34" charset="0"/>
                          <a:ea typeface="Calibri" pitchFamily="34" charset="-122"/>
                          <a:cs typeface="Calibri" pitchFamily="34" charset="-120"/>
                        </a:rPr>
                        <a:t>Ja</a:t>
                      </a:r>
                      <a:endParaRPr lang="en-US" sz="800" dirty="0">
                        <a:latin typeface="Calibri" charset="0"/>
                        <a:ea typeface="Calibri" charset="0"/>
                        <a:cs typeface="Calibri" charset="0"/>
                      </a:endParaRPr>
                    </a:p>
                  </a:txBody>
                  <a:tcPr marL="38100" marR="38100" marT="38100" marB="381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4EC"/>
                    </a:solidFill>
                  </a:tcPr>
                </a:tc>
                <a:tc>
                  <a:txBody>
                    <a:bodyPr/>
                    <a:lstStyle/>
                    <a:p>
                      <a:pPr marL="0" indent="0" algn="ctr">
                        <a:buNone/>
                      </a:pPr>
                      <a:r>
                        <a:rPr lang="en-US" sz="800" dirty="0">
                          <a:solidFill>
                            <a:srgbClr val="1A2A40"/>
                          </a:solidFill>
                          <a:latin typeface="Calibri" pitchFamily="34" charset="0"/>
                          <a:ea typeface="Calibri" pitchFamily="34" charset="-122"/>
                          <a:cs typeface="Calibri" pitchFamily="34" charset="-120"/>
                        </a:rPr>
                        <a:t>Ja</a:t>
                      </a:r>
                      <a:endParaRPr lang="en-US" sz="800" dirty="0">
                        <a:latin typeface="Calibri" charset="0"/>
                        <a:ea typeface="Calibri" charset="0"/>
                        <a:cs typeface="Calibri" charset="0"/>
                      </a:endParaRPr>
                    </a:p>
                  </a:txBody>
                  <a:tcPr marL="38100" marR="38100" marT="38100" marB="381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A2A40"/>
                          </a:solidFill>
                          <a:latin typeface="Calibri" pitchFamily="34" charset="0"/>
                          <a:ea typeface="Calibri" pitchFamily="34" charset="-122"/>
                          <a:cs typeface="Calibri" pitchFamily="34" charset="-120"/>
                        </a:rPr>
                        <a:t>Ja</a:t>
                      </a:r>
                      <a:endParaRPr lang="en-US" sz="800" dirty="0">
                        <a:latin typeface="Calibri" charset="0"/>
                        <a:ea typeface="Calibri" charset="0"/>
                        <a:cs typeface="Calibri" charset="0"/>
                      </a:endParaRPr>
                    </a:p>
                  </a:txBody>
                  <a:tcPr marL="38100" marR="38100" marT="38100" marB="381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74320">
                <a:tc>
                  <a:txBody>
                    <a:bodyPr/>
                    <a:lstStyle/>
                    <a:p>
                      <a:pPr marL="0" indent="0" algn="l">
                        <a:buNone/>
                      </a:pPr>
                      <a:r>
                        <a:rPr lang="en-US" sz="800" dirty="0">
                          <a:solidFill>
                            <a:srgbClr val="1A2A40"/>
                          </a:solidFill>
                          <a:latin typeface="Calibri" pitchFamily="34" charset="0"/>
                          <a:ea typeface="Calibri" pitchFamily="34" charset="-122"/>
                          <a:cs typeface="Calibri" pitchFamily="34" charset="-120"/>
                        </a:rPr>
                        <a:t>Reife / Verbreitung</a:t>
                      </a:r>
                      <a:endParaRPr lang="en-US" sz="800" dirty="0">
                        <a:latin typeface="Calibri" charset="0"/>
                        <a:ea typeface="Calibri" charset="0"/>
                        <a:cs typeface="Calibri" charset="0"/>
                      </a:endParaRPr>
                    </a:p>
                  </a:txBody>
                  <a:tcPr marL="38100" marR="38100" marT="38100" marB="381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A2A40"/>
                          </a:solidFill>
                          <a:latin typeface="Calibri" pitchFamily="34" charset="0"/>
                          <a:ea typeface="Calibri" pitchFamily="34" charset="-122"/>
                          <a:cs typeface="Calibri" pitchFamily="34" charset="-120"/>
                        </a:rPr>
                        <a:t>Etabliert</a:t>
                      </a:r>
                      <a:endParaRPr lang="en-US" sz="800" dirty="0">
                        <a:latin typeface="Calibri" charset="0"/>
                        <a:ea typeface="Calibri" charset="0"/>
                        <a:cs typeface="Calibri" charset="0"/>
                      </a:endParaRPr>
                    </a:p>
                  </a:txBody>
                  <a:tcPr marL="38100" marR="38100" marT="38100" marB="381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4EC"/>
                    </a:solidFill>
                  </a:tcPr>
                </a:tc>
                <a:tc>
                  <a:txBody>
                    <a:bodyPr/>
                    <a:lstStyle/>
                    <a:p>
                      <a:pPr marL="0" indent="0" algn="ctr">
                        <a:buNone/>
                      </a:pPr>
                      <a:r>
                        <a:rPr lang="en-US" sz="800" dirty="0">
                          <a:solidFill>
                            <a:srgbClr val="1A2A40"/>
                          </a:solidFill>
                          <a:latin typeface="Calibri" pitchFamily="34" charset="0"/>
                          <a:ea typeface="Calibri" pitchFamily="34" charset="-122"/>
                          <a:cs typeface="Calibri" pitchFamily="34" charset="-120"/>
                        </a:rPr>
                        <a:t>Etabliert</a:t>
                      </a:r>
                      <a:endParaRPr lang="en-US" sz="800" dirty="0">
                        <a:latin typeface="Calibri" charset="0"/>
                        <a:ea typeface="Calibri" charset="0"/>
                        <a:cs typeface="Calibri" charset="0"/>
                      </a:endParaRPr>
                    </a:p>
                  </a:txBody>
                  <a:tcPr marL="38100" marR="38100" marT="38100" marB="381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A2A40"/>
                          </a:solidFill>
                          <a:latin typeface="Calibri" pitchFamily="34" charset="0"/>
                          <a:ea typeface="Calibri" pitchFamily="34" charset="-122"/>
                          <a:cs typeface="Calibri" pitchFamily="34" charset="-120"/>
                        </a:rPr>
                        <a:t>Semi-</a:t>
                      </a:r>
                      <a:r>
                        <a:rPr lang="en-US" sz="800" dirty="0" err="1">
                          <a:solidFill>
                            <a:srgbClr val="1A2A40"/>
                          </a:solidFill>
                          <a:latin typeface="Calibri" pitchFamily="34" charset="0"/>
                          <a:ea typeface="Calibri" pitchFamily="34" charset="-122"/>
                          <a:cs typeface="Calibri" pitchFamily="34" charset="-120"/>
                        </a:rPr>
                        <a:t>Etabliert</a:t>
                      </a:r>
                      <a:r>
                        <a:rPr lang="en-US" sz="800" dirty="0">
                          <a:solidFill>
                            <a:srgbClr val="1A2A40"/>
                          </a:solidFill>
                          <a:latin typeface="Calibri" pitchFamily="34" charset="0"/>
                          <a:ea typeface="Calibri" pitchFamily="34" charset="-122"/>
                          <a:cs typeface="Calibri" pitchFamily="34" charset="-120"/>
                        </a:rPr>
                        <a:t> – </a:t>
                      </a:r>
                      <a:r>
                        <a:rPr lang="en-US" sz="800" dirty="0" err="1">
                          <a:solidFill>
                            <a:srgbClr val="1A2A40"/>
                          </a:solidFill>
                          <a:latin typeface="Calibri" pitchFamily="34" charset="0"/>
                          <a:ea typeface="Calibri" pitchFamily="34" charset="-122"/>
                          <a:cs typeface="Calibri" pitchFamily="34" charset="-120"/>
                        </a:rPr>
                        <a:t>VectorChord</a:t>
                      </a:r>
                      <a:r>
                        <a:rPr lang="en-US" sz="800" dirty="0">
                          <a:solidFill>
                            <a:srgbClr val="1A2A40"/>
                          </a:solidFill>
                          <a:latin typeface="Calibri" pitchFamily="34" charset="0"/>
                          <a:ea typeface="Calibri" pitchFamily="34" charset="-122"/>
                          <a:cs typeface="Calibri" pitchFamily="34" charset="-120"/>
                        </a:rPr>
                        <a:t> </a:t>
                      </a:r>
                      <a:r>
                        <a:rPr lang="en-US" sz="800" dirty="0" err="1">
                          <a:solidFill>
                            <a:srgbClr val="1A2A40"/>
                          </a:solidFill>
                          <a:latin typeface="Calibri" pitchFamily="34" charset="0"/>
                          <a:ea typeface="Calibri" pitchFamily="34" charset="-122"/>
                          <a:cs typeface="Calibri" pitchFamily="34" charset="-120"/>
                        </a:rPr>
                        <a:t>ist</a:t>
                      </a:r>
                      <a:r>
                        <a:rPr lang="en-US" sz="800" dirty="0">
                          <a:solidFill>
                            <a:srgbClr val="1A2A40"/>
                          </a:solidFill>
                          <a:latin typeface="Calibri" pitchFamily="34" charset="0"/>
                          <a:ea typeface="Calibri" pitchFamily="34" charset="-122"/>
                          <a:cs typeface="Calibri" pitchFamily="34" charset="-120"/>
                        </a:rPr>
                        <a:t> </a:t>
                      </a:r>
                      <a:r>
                        <a:rPr lang="en-US" sz="800" dirty="0" err="1">
                          <a:solidFill>
                            <a:srgbClr val="1A2A40"/>
                          </a:solidFill>
                          <a:latin typeface="Calibri" pitchFamily="34" charset="0"/>
                          <a:ea typeface="Calibri" pitchFamily="34" charset="-122"/>
                          <a:cs typeface="Calibri" pitchFamily="34" charset="-120"/>
                        </a:rPr>
                        <a:t>noch</a:t>
                      </a:r>
                      <a:r>
                        <a:rPr lang="en-US" sz="800" dirty="0">
                          <a:solidFill>
                            <a:srgbClr val="1A2A40"/>
                          </a:solidFill>
                          <a:latin typeface="Calibri" pitchFamily="34" charset="0"/>
                          <a:ea typeface="Calibri" pitchFamily="34" charset="-122"/>
                          <a:cs typeface="Calibri" pitchFamily="34" charset="-120"/>
                        </a:rPr>
                        <a:t> </a:t>
                      </a:r>
                      <a:r>
                        <a:rPr lang="en-US" sz="800" dirty="0" err="1">
                          <a:solidFill>
                            <a:srgbClr val="1A2A40"/>
                          </a:solidFill>
                          <a:latin typeface="Calibri" pitchFamily="34" charset="0"/>
                          <a:ea typeface="Calibri" pitchFamily="34" charset="-122"/>
                          <a:cs typeface="Calibri" pitchFamily="34" charset="-120"/>
                        </a:rPr>
                        <a:t>neuartig</a:t>
                      </a:r>
                      <a:endParaRPr lang="en-US" sz="800" dirty="0">
                        <a:latin typeface="Calibri" charset="0"/>
                        <a:ea typeface="Calibri" charset="0"/>
                        <a:cs typeface="Calibri" charset="0"/>
                      </a:endParaRPr>
                    </a:p>
                  </a:txBody>
                  <a:tcPr marL="38100" marR="38100" marT="38100" marB="381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9" name="Shape 4">
            <a:extLst>
              <a:ext uri="{FF2B5EF4-FFF2-40B4-BE49-F238E27FC236}">
                <a16:creationId xmlns:a16="http://schemas.microsoft.com/office/drawing/2014/main" id="{D6F011DC-491D-4067-9198-D97207B7F9FC}"/>
              </a:ext>
            </a:extLst>
          </p:cNvPr>
          <p:cNvSpPr/>
          <p:nvPr/>
        </p:nvSpPr>
        <p:spPr>
          <a:xfrm>
            <a:off x="452981" y="3862980"/>
            <a:ext cx="8435340" cy="822960"/>
          </a:xfrm>
          <a:prstGeom prst="rect">
            <a:avLst/>
          </a:prstGeom>
          <a:solidFill>
            <a:srgbClr val="F7F9FB"/>
          </a:solidFill>
          <a:ln/>
        </p:spPr>
      </p:sp>
      <p:sp>
        <p:nvSpPr>
          <p:cNvPr id="10" name="Shape 5">
            <a:extLst>
              <a:ext uri="{FF2B5EF4-FFF2-40B4-BE49-F238E27FC236}">
                <a16:creationId xmlns:a16="http://schemas.microsoft.com/office/drawing/2014/main" id="{5CA2E984-D329-4AAD-8A79-17978438A42F}"/>
              </a:ext>
            </a:extLst>
          </p:cNvPr>
          <p:cNvSpPr/>
          <p:nvPr/>
        </p:nvSpPr>
        <p:spPr>
          <a:xfrm>
            <a:off x="452981" y="3862980"/>
            <a:ext cx="54864" cy="822960"/>
          </a:xfrm>
          <a:prstGeom prst="rect">
            <a:avLst/>
          </a:prstGeom>
          <a:solidFill>
            <a:srgbClr val="E8743C"/>
          </a:solidFill>
          <a:ln/>
        </p:spPr>
      </p:sp>
      <p:sp>
        <p:nvSpPr>
          <p:cNvPr id="11" name="Text 6">
            <a:extLst>
              <a:ext uri="{FF2B5EF4-FFF2-40B4-BE49-F238E27FC236}">
                <a16:creationId xmlns:a16="http://schemas.microsoft.com/office/drawing/2014/main" id="{77B594FF-025F-47F7-8A84-3719F9E1B728}"/>
              </a:ext>
            </a:extLst>
          </p:cNvPr>
          <p:cNvSpPr/>
          <p:nvPr/>
        </p:nvSpPr>
        <p:spPr>
          <a:xfrm>
            <a:off x="624431" y="3931560"/>
            <a:ext cx="8092440" cy="219456"/>
          </a:xfrm>
          <a:prstGeom prst="rect">
            <a:avLst/>
          </a:prstGeom>
          <a:noFill/>
          <a:ln/>
        </p:spPr>
        <p:txBody>
          <a:bodyPr wrap="square" lIns="0" tIns="0" rIns="0" bIns="0" rtlCol="0" anchor="ctr"/>
          <a:lstStyle/>
          <a:p>
            <a:r>
              <a:rPr lang="en-US" sz="975" b="1" dirty="0">
                <a:solidFill>
                  <a:srgbClr val="1A2A40"/>
                </a:solidFill>
                <a:latin typeface="Calibri" pitchFamily="34" charset="0"/>
                <a:ea typeface="Calibri" pitchFamily="34" charset="-122"/>
                <a:cs typeface="Calibri" pitchFamily="34" charset="-120"/>
              </a:rPr>
              <a:t>Fazit</a:t>
            </a:r>
            <a:endParaRPr lang="en-US" sz="975" dirty="0"/>
          </a:p>
        </p:txBody>
      </p:sp>
      <p:sp>
        <p:nvSpPr>
          <p:cNvPr id="15" name="Text 7">
            <a:extLst>
              <a:ext uri="{FF2B5EF4-FFF2-40B4-BE49-F238E27FC236}">
                <a16:creationId xmlns:a16="http://schemas.microsoft.com/office/drawing/2014/main" id="{3631C745-5439-49E6-95C1-213A8CB790CA}"/>
              </a:ext>
            </a:extLst>
          </p:cNvPr>
          <p:cNvSpPr/>
          <p:nvPr/>
        </p:nvSpPr>
        <p:spPr>
          <a:xfrm>
            <a:off x="624431" y="4129175"/>
            <a:ext cx="8092440" cy="480060"/>
          </a:xfrm>
          <a:prstGeom prst="rect">
            <a:avLst/>
          </a:prstGeom>
          <a:noFill/>
          <a:ln/>
        </p:spPr>
        <p:txBody>
          <a:bodyPr wrap="square" lIns="0" tIns="0" rIns="0" bIns="0" rtlCol="0" anchor="ctr"/>
          <a:lstStyle/>
          <a:p>
            <a:r>
              <a:rPr lang="en-US" sz="863" b="1" dirty="0" err="1">
                <a:solidFill>
                  <a:srgbClr val="E8743C"/>
                </a:solidFill>
                <a:latin typeface="Calibri" pitchFamily="34" charset="0"/>
                <a:ea typeface="Calibri" pitchFamily="34" charset="-122"/>
                <a:cs typeface="Calibri" pitchFamily="34" charset="-120"/>
              </a:rPr>
              <a:t>Qdrant</a:t>
            </a:r>
            <a:r>
              <a:rPr lang="en-US" sz="863" dirty="0">
                <a:solidFill>
                  <a:srgbClr val="1A2A40"/>
                </a:solidFill>
                <a:latin typeface="Calibri" pitchFamily="34" charset="0"/>
                <a:ea typeface="Calibri" pitchFamily="34" charset="-122"/>
                <a:cs typeface="Calibri" pitchFamily="34" charset="-120"/>
              </a:rPr>
              <a:t> </a:t>
            </a:r>
            <a:r>
              <a:rPr lang="en-US" sz="863" dirty="0" err="1">
                <a:solidFill>
                  <a:srgbClr val="1A2A40"/>
                </a:solidFill>
                <a:latin typeface="Calibri" pitchFamily="34" charset="0"/>
                <a:ea typeface="Calibri" pitchFamily="34" charset="-122"/>
                <a:cs typeface="Calibri" pitchFamily="34" charset="-120"/>
              </a:rPr>
              <a:t>unterstützt</a:t>
            </a:r>
            <a:r>
              <a:rPr lang="en-US" sz="863" dirty="0">
                <a:solidFill>
                  <a:srgbClr val="1A2A40"/>
                </a:solidFill>
                <a:latin typeface="Calibri" pitchFamily="34" charset="0"/>
                <a:ea typeface="Calibri" pitchFamily="34" charset="-122"/>
                <a:cs typeface="Calibri" pitchFamily="34" charset="-120"/>
              </a:rPr>
              <a:t> </a:t>
            </a:r>
            <a:r>
              <a:rPr lang="en-US" sz="863" dirty="0" err="1">
                <a:solidFill>
                  <a:srgbClr val="1A2A40"/>
                </a:solidFill>
                <a:latin typeface="Calibri" pitchFamily="34" charset="0"/>
                <a:ea typeface="Calibri" pitchFamily="34" charset="-122"/>
                <a:cs typeface="Calibri" pitchFamily="34" charset="-120"/>
              </a:rPr>
              <a:t>Hybridsuche</a:t>
            </a:r>
            <a:r>
              <a:rPr lang="en-US" sz="863" dirty="0">
                <a:solidFill>
                  <a:srgbClr val="1A2A40"/>
                </a:solidFill>
                <a:latin typeface="Calibri" pitchFamily="34" charset="0"/>
                <a:ea typeface="Calibri" pitchFamily="34" charset="-122"/>
                <a:cs typeface="Calibri" pitchFamily="34" charset="-120"/>
              </a:rPr>
              <a:t> aus Vektor- und BM25-Komponente nativ und </a:t>
            </a:r>
            <a:r>
              <a:rPr lang="en-US" sz="863" dirty="0" err="1">
                <a:solidFill>
                  <a:srgbClr val="1A2A40"/>
                </a:solidFill>
                <a:latin typeface="Calibri" pitchFamily="34" charset="0"/>
                <a:ea typeface="Calibri" pitchFamily="34" charset="-122"/>
                <a:cs typeface="Calibri" pitchFamily="34" charset="-120"/>
              </a:rPr>
              <a:t>produktionsreif</a:t>
            </a:r>
            <a:r>
              <a:rPr lang="en-US" sz="863" dirty="0">
                <a:solidFill>
                  <a:srgbClr val="1A2A40"/>
                </a:solidFill>
                <a:latin typeface="Calibri" pitchFamily="34" charset="0"/>
                <a:ea typeface="Calibri" pitchFamily="34" charset="-122"/>
                <a:cs typeface="Calibri" pitchFamily="34" charset="-120"/>
              </a:rPr>
              <a:t>. ChromaDB </a:t>
            </a:r>
            <a:r>
              <a:rPr lang="en-US" sz="863" dirty="0" err="1">
                <a:solidFill>
                  <a:srgbClr val="1A2A40"/>
                </a:solidFill>
                <a:latin typeface="Calibri" pitchFamily="34" charset="0"/>
                <a:ea typeface="Calibri" pitchFamily="34" charset="-122"/>
                <a:cs typeface="Calibri" pitchFamily="34" charset="-120"/>
              </a:rPr>
              <a:t>bietet</a:t>
            </a:r>
            <a:r>
              <a:rPr lang="en-US" sz="863" dirty="0">
                <a:solidFill>
                  <a:srgbClr val="1A2A40"/>
                </a:solidFill>
                <a:latin typeface="Calibri" pitchFamily="34" charset="0"/>
                <a:ea typeface="Calibri" pitchFamily="34" charset="-122"/>
                <a:cs typeface="Calibri" pitchFamily="34" charset="-120"/>
              </a:rPr>
              <a:t> </a:t>
            </a:r>
            <a:r>
              <a:rPr lang="en-US" sz="863" dirty="0" err="1">
                <a:solidFill>
                  <a:srgbClr val="1A2A40"/>
                </a:solidFill>
                <a:latin typeface="Calibri" pitchFamily="34" charset="0"/>
                <a:ea typeface="Calibri" pitchFamily="34" charset="-122"/>
                <a:cs typeface="Calibri" pitchFamily="34" charset="-120"/>
              </a:rPr>
              <a:t>seit</a:t>
            </a:r>
            <a:r>
              <a:rPr lang="en-US" sz="863" dirty="0">
                <a:solidFill>
                  <a:srgbClr val="1A2A40"/>
                </a:solidFill>
                <a:latin typeface="Calibri" pitchFamily="34" charset="0"/>
                <a:ea typeface="Calibri" pitchFamily="34" charset="-122"/>
                <a:cs typeface="Calibri" pitchFamily="34" charset="-120"/>
              </a:rPr>
              <a:t> </a:t>
            </a:r>
            <a:r>
              <a:rPr lang="en-US" sz="863" dirty="0" err="1">
                <a:solidFill>
                  <a:srgbClr val="1A2A40"/>
                </a:solidFill>
                <a:latin typeface="Calibri" pitchFamily="34" charset="0"/>
                <a:ea typeface="Calibri" pitchFamily="34" charset="-122"/>
                <a:cs typeface="Calibri" pitchFamily="34" charset="-120"/>
              </a:rPr>
              <a:t>neuestem</a:t>
            </a:r>
            <a:r>
              <a:rPr lang="en-US" sz="863" dirty="0">
                <a:solidFill>
                  <a:srgbClr val="1A2A40"/>
                </a:solidFill>
                <a:latin typeface="Calibri" pitchFamily="34" charset="0"/>
                <a:ea typeface="Calibri" pitchFamily="34" charset="-122"/>
                <a:cs typeface="Calibri" pitchFamily="34" charset="-120"/>
              </a:rPr>
              <a:t> </a:t>
            </a:r>
            <a:r>
              <a:rPr lang="en-US" sz="863" dirty="0" err="1">
                <a:solidFill>
                  <a:srgbClr val="1A2A40"/>
                </a:solidFill>
                <a:latin typeface="Calibri" pitchFamily="34" charset="0"/>
                <a:ea typeface="Calibri" pitchFamily="34" charset="-122"/>
                <a:cs typeface="Calibri" pitchFamily="34" charset="-120"/>
              </a:rPr>
              <a:t>ebenfalls</a:t>
            </a:r>
            <a:r>
              <a:rPr lang="en-US" sz="863" dirty="0">
                <a:solidFill>
                  <a:srgbClr val="1A2A40"/>
                </a:solidFill>
                <a:latin typeface="Calibri" pitchFamily="34" charset="0"/>
                <a:ea typeface="Calibri" pitchFamily="34" charset="-122"/>
                <a:cs typeface="Calibri" pitchFamily="34" charset="-120"/>
              </a:rPr>
              <a:t> native </a:t>
            </a:r>
            <a:r>
              <a:rPr lang="en-US" sz="863" dirty="0" err="1">
                <a:solidFill>
                  <a:srgbClr val="1A2A40"/>
                </a:solidFill>
                <a:latin typeface="Calibri" pitchFamily="34" charset="0"/>
                <a:ea typeface="Calibri" pitchFamily="34" charset="-122"/>
                <a:cs typeface="Calibri" pitchFamily="34" charset="-120"/>
              </a:rPr>
              <a:t>Hybridsuche</a:t>
            </a:r>
            <a:r>
              <a:rPr lang="en-US" sz="863" dirty="0">
                <a:solidFill>
                  <a:srgbClr val="1A2A40"/>
                </a:solidFill>
                <a:latin typeface="Calibri" pitchFamily="34" charset="0"/>
                <a:ea typeface="Calibri" pitchFamily="34" charset="-122"/>
                <a:cs typeface="Calibri" pitchFamily="34" charset="-120"/>
              </a:rPr>
              <a:t>, </a:t>
            </a:r>
            <a:r>
              <a:rPr lang="en-US" sz="863" dirty="0" err="1">
                <a:solidFill>
                  <a:srgbClr val="1A2A40"/>
                </a:solidFill>
                <a:latin typeface="Calibri" pitchFamily="34" charset="0"/>
                <a:ea typeface="Calibri" pitchFamily="34" charset="-122"/>
                <a:cs typeface="Calibri" pitchFamily="34" charset="-120"/>
              </a:rPr>
              <a:t>ist</a:t>
            </a:r>
            <a:r>
              <a:rPr lang="en-US" sz="863" dirty="0">
                <a:solidFill>
                  <a:srgbClr val="1A2A40"/>
                </a:solidFill>
                <a:latin typeface="Calibri" pitchFamily="34" charset="0"/>
                <a:ea typeface="Calibri" pitchFamily="34" charset="-122"/>
                <a:cs typeface="Calibri" pitchFamily="34" charset="-120"/>
              </a:rPr>
              <a:t> </a:t>
            </a:r>
            <a:r>
              <a:rPr lang="en-US" sz="863" dirty="0" err="1">
                <a:solidFill>
                  <a:srgbClr val="1A2A40"/>
                </a:solidFill>
                <a:latin typeface="Calibri" pitchFamily="34" charset="0"/>
                <a:ea typeface="Calibri" pitchFamily="34" charset="-122"/>
                <a:cs typeface="Calibri" pitchFamily="34" charset="-120"/>
              </a:rPr>
              <a:t>allerdings</a:t>
            </a:r>
            <a:r>
              <a:rPr lang="en-US" sz="863" dirty="0">
                <a:solidFill>
                  <a:srgbClr val="1A2A40"/>
                </a:solidFill>
                <a:latin typeface="Calibri" pitchFamily="34" charset="0"/>
                <a:ea typeface="Calibri" pitchFamily="34" charset="-122"/>
                <a:cs typeface="Calibri" pitchFamily="34" charset="-120"/>
              </a:rPr>
              <a:t> </a:t>
            </a:r>
            <a:r>
              <a:rPr lang="en-US" sz="863" dirty="0" err="1">
                <a:solidFill>
                  <a:srgbClr val="1A2A40"/>
                </a:solidFill>
                <a:latin typeface="Calibri" pitchFamily="34" charset="0"/>
                <a:ea typeface="Calibri" pitchFamily="34" charset="-122"/>
                <a:cs typeface="Calibri" pitchFamily="34" charset="-120"/>
              </a:rPr>
              <a:t>nicht</a:t>
            </a:r>
            <a:r>
              <a:rPr lang="en-US" sz="863" dirty="0">
                <a:solidFill>
                  <a:srgbClr val="1A2A40"/>
                </a:solidFill>
                <a:latin typeface="Calibri" pitchFamily="34" charset="0"/>
                <a:ea typeface="Calibri" pitchFamily="34" charset="-122"/>
                <a:cs typeface="Calibri" pitchFamily="34" charset="-120"/>
              </a:rPr>
              <a:t> so performant </a:t>
            </a:r>
            <a:r>
              <a:rPr lang="en-US" sz="863" dirty="0" err="1">
                <a:solidFill>
                  <a:srgbClr val="1A2A40"/>
                </a:solidFill>
                <a:latin typeface="Calibri" pitchFamily="34" charset="0"/>
                <a:ea typeface="Calibri" pitchFamily="34" charset="-122"/>
                <a:cs typeface="Calibri" pitchFamily="34" charset="-120"/>
              </a:rPr>
              <a:t>wie</a:t>
            </a:r>
            <a:r>
              <a:rPr lang="en-US" sz="863" dirty="0">
                <a:solidFill>
                  <a:srgbClr val="1A2A40"/>
                </a:solidFill>
                <a:latin typeface="Calibri" pitchFamily="34" charset="0"/>
                <a:ea typeface="Calibri" pitchFamily="34" charset="-122"/>
                <a:cs typeface="Calibri" pitchFamily="34" charset="-120"/>
              </a:rPr>
              <a:t> </a:t>
            </a:r>
            <a:r>
              <a:rPr lang="en-US" sz="863" dirty="0" err="1">
                <a:solidFill>
                  <a:srgbClr val="1A2A40"/>
                </a:solidFill>
                <a:latin typeface="Calibri" pitchFamily="34" charset="0"/>
                <a:ea typeface="Calibri" pitchFamily="34" charset="-122"/>
                <a:cs typeface="Calibri" pitchFamily="34" charset="-120"/>
              </a:rPr>
              <a:t>Qdrant</a:t>
            </a:r>
            <a:r>
              <a:rPr lang="en-US" sz="863" dirty="0">
                <a:solidFill>
                  <a:srgbClr val="1A2A40"/>
                </a:solidFill>
                <a:latin typeface="Calibri" pitchFamily="34" charset="0"/>
                <a:ea typeface="Calibri" pitchFamily="34" charset="-122"/>
                <a:cs typeface="Calibri" pitchFamily="34" charset="-120"/>
              </a:rPr>
              <a:t>; pg_vector setzt auf neuartige Plugins wie VectorChord-BM25, deren Reifegrad für unseren Anwendungsfall noch unklar </a:t>
            </a:r>
            <a:r>
              <a:rPr lang="en-US" sz="863" dirty="0" err="1">
                <a:solidFill>
                  <a:srgbClr val="1A2A40"/>
                </a:solidFill>
                <a:latin typeface="Calibri" pitchFamily="34" charset="0"/>
                <a:ea typeface="Calibri" pitchFamily="34" charset="-122"/>
                <a:cs typeface="Calibri" pitchFamily="34" charset="-120"/>
              </a:rPr>
              <a:t>ist</a:t>
            </a:r>
            <a:r>
              <a:rPr lang="en-US" sz="863" dirty="0">
                <a:solidFill>
                  <a:srgbClr val="1A2A40"/>
                </a:solidFill>
                <a:latin typeface="Calibri" pitchFamily="34" charset="0"/>
                <a:ea typeface="Calibri" pitchFamily="34" charset="-122"/>
                <a:cs typeface="Calibri" pitchFamily="34" charset="-120"/>
              </a:rPr>
              <a:t>.</a:t>
            </a:r>
          </a:p>
          <a:p>
            <a:r>
              <a:rPr lang="en-US" sz="863" dirty="0">
                <a:solidFill>
                  <a:srgbClr val="1A2A40"/>
                </a:solidFill>
                <a:latin typeface="Calibri" pitchFamily="34" charset="0"/>
                <a:ea typeface="Calibri" pitchFamily="34" charset="-122"/>
                <a:cs typeface="Calibri" pitchFamily="34" charset="-120"/>
              </a:rPr>
              <a:t>-&gt; Alle </a:t>
            </a:r>
            <a:r>
              <a:rPr lang="en-US" sz="863" dirty="0" err="1">
                <a:solidFill>
                  <a:srgbClr val="1A2A40"/>
                </a:solidFill>
                <a:latin typeface="Calibri" pitchFamily="34" charset="0"/>
                <a:ea typeface="Calibri" pitchFamily="34" charset="-122"/>
                <a:cs typeface="Calibri" pitchFamily="34" charset="-120"/>
              </a:rPr>
              <a:t>Optionen</a:t>
            </a:r>
            <a:r>
              <a:rPr lang="en-US" sz="863" dirty="0">
                <a:solidFill>
                  <a:srgbClr val="1A2A40"/>
                </a:solidFill>
                <a:latin typeface="Calibri" pitchFamily="34" charset="0"/>
                <a:ea typeface="Calibri" pitchFamily="34" charset="-122"/>
                <a:cs typeface="Calibri" pitchFamily="34" charset="-120"/>
              </a:rPr>
              <a:t> </a:t>
            </a:r>
            <a:r>
              <a:rPr lang="en-US" sz="863" dirty="0" err="1">
                <a:solidFill>
                  <a:srgbClr val="1A2A40"/>
                </a:solidFill>
                <a:latin typeface="Calibri" pitchFamily="34" charset="0"/>
                <a:ea typeface="Calibri" pitchFamily="34" charset="-122"/>
                <a:cs typeface="Calibri" pitchFamily="34" charset="-120"/>
              </a:rPr>
              <a:t>könnten</a:t>
            </a:r>
            <a:r>
              <a:rPr lang="en-US" sz="863" dirty="0">
                <a:solidFill>
                  <a:srgbClr val="1A2A40"/>
                </a:solidFill>
                <a:latin typeface="Calibri" pitchFamily="34" charset="0"/>
                <a:ea typeface="Calibri" pitchFamily="34" charset="-122"/>
                <a:cs typeface="Calibri" pitchFamily="34" charset="-120"/>
              </a:rPr>
              <a:t> </a:t>
            </a:r>
            <a:r>
              <a:rPr lang="en-US" sz="863" dirty="0" err="1">
                <a:solidFill>
                  <a:srgbClr val="1A2A40"/>
                </a:solidFill>
                <a:latin typeface="Calibri" pitchFamily="34" charset="0"/>
                <a:ea typeface="Calibri" pitchFamily="34" charset="-122"/>
                <a:cs typeface="Calibri" pitchFamily="34" charset="-120"/>
              </a:rPr>
              <a:t>eine</a:t>
            </a:r>
            <a:r>
              <a:rPr lang="en-US" sz="863" dirty="0">
                <a:solidFill>
                  <a:srgbClr val="1A2A40"/>
                </a:solidFill>
                <a:latin typeface="Calibri" pitchFamily="34" charset="0"/>
                <a:ea typeface="Calibri" pitchFamily="34" charset="-122"/>
                <a:cs typeface="Calibri" pitchFamily="34" charset="-120"/>
              </a:rPr>
              <a:t> </a:t>
            </a:r>
            <a:r>
              <a:rPr lang="en-US" sz="863" dirty="0" err="1">
                <a:solidFill>
                  <a:srgbClr val="1A2A40"/>
                </a:solidFill>
                <a:latin typeface="Calibri" pitchFamily="34" charset="0"/>
                <a:ea typeface="Calibri" pitchFamily="34" charset="-122"/>
                <a:cs typeface="Calibri" pitchFamily="34" charset="-120"/>
              </a:rPr>
              <a:t>valide</a:t>
            </a:r>
            <a:r>
              <a:rPr lang="en-US" sz="863" dirty="0">
                <a:solidFill>
                  <a:srgbClr val="1A2A40"/>
                </a:solidFill>
                <a:latin typeface="Calibri" pitchFamily="34" charset="0"/>
                <a:ea typeface="Calibri" pitchFamily="34" charset="-122"/>
                <a:cs typeface="Calibri" pitchFamily="34" charset="-120"/>
              </a:rPr>
              <a:t> Option </a:t>
            </a:r>
            <a:r>
              <a:rPr lang="en-US" sz="863" dirty="0" err="1">
                <a:solidFill>
                  <a:srgbClr val="1A2A40"/>
                </a:solidFill>
                <a:latin typeface="Calibri" pitchFamily="34" charset="0"/>
                <a:ea typeface="Calibri" pitchFamily="34" charset="-122"/>
                <a:cs typeface="Calibri" pitchFamily="34" charset="-120"/>
              </a:rPr>
              <a:t>für</a:t>
            </a:r>
            <a:r>
              <a:rPr lang="en-US" sz="863" dirty="0">
                <a:solidFill>
                  <a:srgbClr val="1A2A40"/>
                </a:solidFill>
                <a:latin typeface="Calibri" pitchFamily="34" charset="0"/>
                <a:ea typeface="Calibri" pitchFamily="34" charset="-122"/>
                <a:cs typeface="Calibri" pitchFamily="34" charset="-120"/>
              </a:rPr>
              <a:t> </a:t>
            </a:r>
            <a:r>
              <a:rPr lang="en-US" sz="863" dirty="0" err="1">
                <a:solidFill>
                  <a:srgbClr val="1A2A40"/>
                </a:solidFill>
                <a:latin typeface="Calibri" pitchFamily="34" charset="0"/>
                <a:ea typeface="Calibri" pitchFamily="34" charset="-122"/>
                <a:cs typeface="Calibri" pitchFamily="34" charset="-120"/>
              </a:rPr>
              <a:t>unser</a:t>
            </a:r>
            <a:r>
              <a:rPr lang="en-US" sz="863" dirty="0">
                <a:solidFill>
                  <a:srgbClr val="1A2A40"/>
                </a:solidFill>
                <a:latin typeface="Calibri" pitchFamily="34" charset="0"/>
                <a:ea typeface="Calibri" pitchFamily="34" charset="-122"/>
                <a:cs typeface="Calibri" pitchFamily="34" charset="-120"/>
              </a:rPr>
              <a:t> </a:t>
            </a:r>
            <a:r>
              <a:rPr lang="en-US" sz="863" dirty="0" err="1">
                <a:solidFill>
                  <a:srgbClr val="1A2A40"/>
                </a:solidFill>
                <a:latin typeface="Calibri" pitchFamily="34" charset="0"/>
                <a:ea typeface="Calibri" pitchFamily="34" charset="-122"/>
                <a:cs typeface="Calibri" pitchFamily="34" charset="-120"/>
              </a:rPr>
              <a:t>Projekt</a:t>
            </a:r>
            <a:r>
              <a:rPr lang="en-US" sz="863" dirty="0">
                <a:solidFill>
                  <a:srgbClr val="1A2A40"/>
                </a:solidFill>
                <a:latin typeface="Calibri" pitchFamily="34" charset="0"/>
                <a:ea typeface="Calibri" pitchFamily="34" charset="-122"/>
                <a:cs typeface="Calibri" pitchFamily="34" charset="-120"/>
              </a:rPr>
              <a:t> </a:t>
            </a:r>
            <a:r>
              <a:rPr lang="en-US" sz="863" dirty="0" err="1">
                <a:solidFill>
                  <a:srgbClr val="1A2A40"/>
                </a:solidFill>
                <a:latin typeface="Calibri" pitchFamily="34" charset="0"/>
                <a:ea typeface="Calibri" pitchFamily="34" charset="-122"/>
                <a:cs typeface="Calibri" pitchFamily="34" charset="-120"/>
              </a:rPr>
              <a:t>darstellen</a:t>
            </a:r>
            <a:r>
              <a:rPr lang="en-US" sz="863" dirty="0">
                <a:solidFill>
                  <a:srgbClr val="1A2A40"/>
                </a:solidFill>
                <a:latin typeface="Calibri" pitchFamily="34" charset="0"/>
                <a:ea typeface="Calibri" pitchFamily="34" charset="-122"/>
                <a:cs typeface="Calibri" pitchFamily="34" charset="-120"/>
              </a:rPr>
              <a:t>.</a:t>
            </a:r>
            <a:endParaRPr lang="en-US" sz="863" dirty="0"/>
          </a:p>
        </p:txBody>
      </p:sp>
    </p:spTree>
    <p:extLst>
      <p:ext uri="{BB962C8B-B14F-4D97-AF65-F5344CB8AC3E}">
        <p14:creationId xmlns:p14="http://schemas.microsoft.com/office/powerpoint/2010/main" val="11077753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Datumsplatzhalter 75">
            <a:extLst>
              <a:ext uri="{FF2B5EF4-FFF2-40B4-BE49-F238E27FC236}">
                <a16:creationId xmlns:a16="http://schemas.microsoft.com/office/drawing/2014/main" id="{FB534BCA-17DB-4EBE-9103-31EF5969BBD5}"/>
              </a:ext>
            </a:extLst>
          </p:cNvPr>
          <p:cNvSpPr>
            <a:spLocks noGrp="1"/>
          </p:cNvSpPr>
          <p:nvPr>
            <p:ph type="dt" sz="half" idx="10"/>
          </p:nvPr>
        </p:nvSpPr>
        <p:spPr>
          <a:xfrm>
            <a:off x="347840" y="4807006"/>
            <a:ext cx="2338210" cy="273844"/>
          </a:xfrm>
        </p:spPr>
        <p:txBody>
          <a:bodyPr/>
          <a:lstStyle/>
          <a:p>
            <a:fld id="{0D05602C-25EE-48A8-8786-3C51BA41DB9E}" type="datetime1">
              <a:rPr lang="de-DE"/>
              <a:t>04.05.2026</a:t>
            </a:fld>
            <a:endParaRPr lang="de-DE" dirty="0"/>
          </a:p>
        </p:txBody>
      </p:sp>
      <p:sp>
        <p:nvSpPr>
          <p:cNvPr id="77" name="Fußzeilenplatzhalter 76">
            <a:extLst>
              <a:ext uri="{FF2B5EF4-FFF2-40B4-BE49-F238E27FC236}">
                <a16:creationId xmlns:a16="http://schemas.microsoft.com/office/drawing/2014/main" id="{10A96F6C-9081-4668-9382-F92081EE73D0}"/>
              </a:ext>
            </a:extLst>
          </p:cNvPr>
          <p:cNvSpPr>
            <a:spLocks noGrp="1"/>
          </p:cNvSpPr>
          <p:nvPr>
            <p:ph type="ftr" sz="quarter" idx="11"/>
          </p:nvPr>
        </p:nvSpPr>
        <p:spPr>
          <a:xfrm>
            <a:off x="2686050" y="4807006"/>
            <a:ext cx="3812404" cy="273844"/>
          </a:xfrm>
        </p:spPr>
        <p:txBody>
          <a:bodyPr/>
          <a:lstStyle/>
          <a:p>
            <a:r>
              <a:rPr lang="de-DE" dirty="0"/>
              <a:t>Vektordatenbanken </a:t>
            </a:r>
            <a:r>
              <a:rPr lang="en-US" dirty="0"/>
              <a:t>· </a:t>
            </a:r>
            <a:r>
              <a:rPr lang="en-US" dirty="0" err="1"/>
              <a:t>Studienprojekt</a:t>
            </a:r>
            <a:r>
              <a:rPr lang="en-US" dirty="0"/>
              <a:t> Reverse Chatbots</a:t>
            </a:r>
            <a:endParaRPr lang="de-DE" dirty="0"/>
          </a:p>
        </p:txBody>
      </p:sp>
      <p:sp>
        <p:nvSpPr>
          <p:cNvPr id="78" name="Foliennummernplatzhalter 77">
            <a:extLst>
              <a:ext uri="{FF2B5EF4-FFF2-40B4-BE49-F238E27FC236}">
                <a16:creationId xmlns:a16="http://schemas.microsoft.com/office/drawing/2014/main" id="{2B507CAF-8A2B-4670-8A8F-519A0AECCF4A}"/>
              </a:ext>
            </a:extLst>
          </p:cNvPr>
          <p:cNvSpPr>
            <a:spLocks noGrp="1"/>
          </p:cNvSpPr>
          <p:nvPr>
            <p:ph type="sldNum" sz="quarter" idx="12"/>
          </p:nvPr>
        </p:nvSpPr>
        <p:spPr>
          <a:xfrm>
            <a:off x="6457950" y="4807006"/>
            <a:ext cx="2338210" cy="273844"/>
          </a:xfrm>
        </p:spPr>
        <p:txBody>
          <a:bodyPr/>
          <a:lstStyle/>
          <a:p>
            <a:fld id="{0E836345-B243-4000-8050-9A1A9D10D9C9}" type="slidenum">
              <a:rPr lang="de-DE" smtClean="0"/>
              <a:t>14</a:t>
            </a:fld>
            <a:r>
              <a:rPr lang="de-DE" dirty="0"/>
              <a:t> / 12</a:t>
            </a:r>
          </a:p>
        </p:txBody>
      </p:sp>
      <p:sp>
        <p:nvSpPr>
          <p:cNvPr id="12" name="Titel 1">
            <a:extLst>
              <a:ext uri="{FF2B5EF4-FFF2-40B4-BE49-F238E27FC236}">
                <a16:creationId xmlns:a16="http://schemas.microsoft.com/office/drawing/2014/main" id="{81E954D4-F65D-4D0A-86F3-BBAEF3CF2E4C}"/>
              </a:ext>
            </a:extLst>
          </p:cNvPr>
          <p:cNvSpPr txBox="1">
            <a:spLocks/>
          </p:cNvSpPr>
          <p:nvPr/>
        </p:nvSpPr>
        <p:spPr>
          <a:xfrm>
            <a:off x="326356" y="382496"/>
            <a:ext cx="6549399" cy="359255"/>
          </a:xfrm>
          <a:prstGeom prst="rect">
            <a:avLst/>
          </a:prstGeom>
        </p:spPr>
        <p:txBody>
          <a:bodyPr vert="horz" lIns="91440" tIns="45720" rIns="91440" bIns="45720" rtlCol="0" anchor="ctr">
            <a:normAutofit fontScale="67500" lnSpcReduction="20000"/>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3200" b="1" dirty="0" err="1">
                <a:solidFill>
                  <a:srgbClr val="0F172A"/>
                </a:solidFill>
                <a:latin typeface="Cambria" pitchFamily="34" charset="0"/>
                <a:ea typeface="Cambria" pitchFamily="34" charset="-122"/>
              </a:rPr>
              <a:t>Anhang</a:t>
            </a:r>
            <a:r>
              <a:rPr lang="en-US" sz="3200" b="1" dirty="0">
                <a:solidFill>
                  <a:srgbClr val="0F172A"/>
                </a:solidFill>
                <a:latin typeface="Cambria" pitchFamily="34" charset="0"/>
                <a:ea typeface="Cambria" pitchFamily="34" charset="-122"/>
              </a:rPr>
              <a:t> </a:t>
            </a:r>
            <a:endParaRPr lang="en-US" sz="3200" dirty="0"/>
          </a:p>
        </p:txBody>
      </p:sp>
      <p:sp>
        <p:nvSpPr>
          <p:cNvPr id="13" name="Rechteck 12">
            <a:extLst>
              <a:ext uri="{FF2B5EF4-FFF2-40B4-BE49-F238E27FC236}">
                <a16:creationId xmlns:a16="http://schemas.microsoft.com/office/drawing/2014/main" id="{90551C61-1825-4DC6-8EAC-38A3DBDCC535}"/>
              </a:ext>
            </a:extLst>
          </p:cNvPr>
          <p:cNvSpPr/>
          <p:nvPr/>
        </p:nvSpPr>
        <p:spPr>
          <a:xfrm>
            <a:off x="452981" y="1083791"/>
            <a:ext cx="383507" cy="52083"/>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013"/>
          </a:p>
        </p:txBody>
      </p:sp>
      <p:sp>
        <p:nvSpPr>
          <p:cNvPr id="14" name="Titel 1">
            <a:extLst>
              <a:ext uri="{FF2B5EF4-FFF2-40B4-BE49-F238E27FC236}">
                <a16:creationId xmlns:a16="http://schemas.microsoft.com/office/drawing/2014/main" id="{EF21B44B-BFD0-4210-B8E5-DCDC48DDD8EF}"/>
              </a:ext>
            </a:extLst>
          </p:cNvPr>
          <p:cNvSpPr txBox="1">
            <a:spLocks/>
          </p:cNvSpPr>
          <p:nvPr/>
        </p:nvSpPr>
        <p:spPr>
          <a:xfrm>
            <a:off x="345780" y="688385"/>
            <a:ext cx="7767706" cy="35925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sz="1500" dirty="0">
                <a:solidFill>
                  <a:srgbClr val="0F172A"/>
                </a:solidFill>
                <a:latin typeface="Calibri Light" panose="020F0302020204030204" pitchFamily="34" charset="0"/>
                <a:ea typeface="Calibri Light" panose="020F0302020204030204" pitchFamily="34" charset="0"/>
                <a:cs typeface="Calibri Light" panose="020F0302020204030204" pitchFamily="34" charset="0"/>
              </a:rPr>
              <a:t>Vergleich Embedding-Modelle: Auswahl auf Basis von MTEB / RTEB-Multilingual (Retrieval)</a:t>
            </a:r>
          </a:p>
        </p:txBody>
      </p:sp>
      <p:graphicFrame>
        <p:nvGraphicFramePr>
          <p:cNvPr id="8" name="Table 0">
            <a:extLst>
              <a:ext uri="{FF2B5EF4-FFF2-40B4-BE49-F238E27FC236}">
                <a16:creationId xmlns:a16="http://schemas.microsoft.com/office/drawing/2014/main" id="{54FE0DDC-FABA-433D-8E7B-03CBE449E88F}"/>
              </a:ext>
            </a:extLst>
          </p:cNvPr>
          <p:cNvGraphicFramePr>
            <a:graphicFrameLocks noGrp="1"/>
          </p:cNvGraphicFramePr>
          <p:nvPr>
            <p:extLst>
              <p:ext uri="{D42A27DB-BD31-4B8C-83A1-F6EECF244321}">
                <p14:modId xmlns:p14="http://schemas.microsoft.com/office/powerpoint/2010/main" val="2238324477"/>
              </p:ext>
            </p:extLst>
          </p:nvPr>
        </p:nvGraphicFramePr>
        <p:xfrm>
          <a:off x="445770" y="1399575"/>
          <a:ext cx="8435340" cy="1440180"/>
        </p:xfrm>
        <a:graphic>
          <a:graphicData uri="http://schemas.openxmlformats.org/drawingml/2006/table">
            <a:tbl>
              <a:tblPr/>
              <a:tblGrid>
                <a:gridCol w="1988820">
                  <a:extLst>
                    <a:ext uri="{9D8B030D-6E8A-4147-A177-3AD203B41FA5}">
                      <a16:colId xmlns:a16="http://schemas.microsoft.com/office/drawing/2014/main" val="20000"/>
                    </a:ext>
                  </a:extLst>
                </a:gridCol>
                <a:gridCol w="102870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960120">
                  <a:extLst>
                    <a:ext uri="{9D8B030D-6E8A-4147-A177-3AD203B41FA5}">
                      <a16:colId xmlns:a16="http://schemas.microsoft.com/office/drawing/2014/main" val="20004"/>
                    </a:ext>
                  </a:extLst>
                </a:gridCol>
                <a:gridCol w="1165860">
                  <a:extLst>
                    <a:ext uri="{9D8B030D-6E8A-4147-A177-3AD203B41FA5}">
                      <a16:colId xmlns:a16="http://schemas.microsoft.com/office/drawing/2014/main" val="20005"/>
                    </a:ext>
                  </a:extLst>
                </a:gridCol>
                <a:gridCol w="1234440">
                  <a:extLst>
                    <a:ext uri="{9D8B030D-6E8A-4147-A177-3AD203B41FA5}">
                      <a16:colId xmlns:a16="http://schemas.microsoft.com/office/drawing/2014/main" val="20006"/>
                    </a:ext>
                  </a:extLst>
                </a:gridCol>
              </a:tblGrid>
              <a:tr h="288036">
                <a:tc>
                  <a:txBody>
                    <a:bodyPr/>
                    <a:lstStyle/>
                    <a:p>
                      <a:pPr marL="0" indent="0" algn="l">
                        <a:buNone/>
                      </a:pPr>
                      <a:r>
                        <a:rPr lang="en-US" sz="800" b="1" dirty="0">
                          <a:solidFill>
                            <a:srgbClr val="FFFFFF"/>
                          </a:solidFill>
                          <a:latin typeface="Calibri" pitchFamily="34" charset="0"/>
                          <a:ea typeface="Calibri" pitchFamily="34" charset="-122"/>
                          <a:cs typeface="Calibri" pitchFamily="34" charset="-120"/>
                        </a:rPr>
                        <a:t>Modell</a:t>
                      </a:r>
                      <a:endParaRPr lang="en-US" sz="800" dirty="0">
                        <a:latin typeface="Calibri" charset="0"/>
                        <a:ea typeface="Calibri" charset="0"/>
                        <a:cs typeface="Calibri" charset="0"/>
                      </a:endParaRPr>
                    </a:p>
                  </a:txBody>
                  <a:tcPr marL="68580" marR="68580" marT="34290" marB="3429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A2A40"/>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Anbieter</a:t>
                      </a:r>
                      <a:endParaRPr lang="en-US" sz="800" dirty="0">
                        <a:latin typeface="Calibri" charset="0"/>
                        <a:ea typeface="Calibri" charset="0"/>
                        <a:cs typeface="Calibri" charset="0"/>
                      </a:endParaRPr>
                    </a:p>
                  </a:txBody>
                  <a:tcPr marL="68580" marR="68580" marT="34290" marB="3429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A2A40"/>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Parameter</a:t>
                      </a:r>
                      <a:endParaRPr lang="en-US" sz="800" dirty="0">
                        <a:latin typeface="Calibri" charset="0"/>
                        <a:ea typeface="Calibri" charset="0"/>
                        <a:cs typeface="Calibri" charset="0"/>
                      </a:endParaRPr>
                    </a:p>
                  </a:txBody>
                  <a:tcPr marL="68580" marR="68580" marT="34290" marB="3429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A2A40"/>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Dimensionen</a:t>
                      </a:r>
                      <a:endParaRPr lang="en-US" sz="800" dirty="0">
                        <a:latin typeface="Calibri" charset="0"/>
                        <a:ea typeface="Calibri" charset="0"/>
                        <a:cs typeface="Calibri" charset="0"/>
                      </a:endParaRPr>
                    </a:p>
                  </a:txBody>
                  <a:tcPr marL="68580" marR="68580" marT="34290" marB="3429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A2A40"/>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Zero-Shot</a:t>
                      </a:r>
                      <a:endParaRPr lang="en-US" sz="800" dirty="0">
                        <a:latin typeface="Calibri" charset="0"/>
                        <a:ea typeface="Calibri" charset="0"/>
                        <a:cs typeface="Calibri" charset="0"/>
                      </a:endParaRPr>
                    </a:p>
                  </a:txBody>
                  <a:tcPr marL="68580" marR="68580" marT="34290" marB="3429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A2A40"/>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nDCG@10 ↑</a:t>
                      </a:r>
                      <a:endParaRPr lang="en-US" sz="800" dirty="0">
                        <a:latin typeface="Calibri" charset="0"/>
                        <a:ea typeface="Calibri" charset="0"/>
                        <a:cs typeface="Calibri" charset="0"/>
                      </a:endParaRPr>
                    </a:p>
                  </a:txBody>
                  <a:tcPr marL="68580" marR="68580" marT="34290" marB="3429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E8743C"/>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Rang</a:t>
                      </a:r>
                      <a:endParaRPr lang="en-US" sz="800" dirty="0">
                        <a:latin typeface="Calibri" charset="0"/>
                        <a:ea typeface="Calibri" charset="0"/>
                        <a:cs typeface="Calibri" charset="0"/>
                      </a:endParaRPr>
                    </a:p>
                  </a:txBody>
                  <a:tcPr marL="68580" marR="68580" marT="34290" marB="3429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A2A40"/>
                    </a:solidFill>
                  </a:tcPr>
                </a:tc>
                <a:extLst>
                  <a:ext uri="{0D108BD9-81ED-4DB2-BD59-A6C34878D82A}">
                    <a16:rowId xmlns:a16="http://schemas.microsoft.com/office/drawing/2014/main" val="10000"/>
                  </a:ext>
                </a:extLst>
              </a:tr>
              <a:tr h="288036">
                <a:tc>
                  <a:txBody>
                    <a:bodyPr/>
                    <a:lstStyle/>
                    <a:p>
                      <a:pPr marL="0" indent="0" algn="l">
                        <a:buNone/>
                      </a:pPr>
                      <a:r>
                        <a:rPr lang="en-US" sz="800" dirty="0">
                          <a:solidFill>
                            <a:srgbClr val="1A2A40"/>
                          </a:solidFill>
                          <a:latin typeface="Calibri" pitchFamily="34" charset="0"/>
                          <a:ea typeface="Calibri" pitchFamily="34" charset="-122"/>
                          <a:cs typeface="Calibri" pitchFamily="34" charset="-120"/>
                        </a:rPr>
                        <a:t>Qwen3-Embedding-8B</a:t>
                      </a:r>
                      <a:endParaRPr lang="en-US" sz="800" dirty="0">
                        <a:latin typeface="Calibri" charset="0"/>
                        <a:ea typeface="Calibri" charset="0"/>
                        <a:cs typeface="Calibri" charset="0"/>
                      </a:endParaRPr>
                    </a:p>
                  </a:txBody>
                  <a:tcPr marL="38100" marR="38100" marT="38100" marB="381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marL="0" indent="0" algn="ctr">
                        <a:buNone/>
                      </a:pPr>
                      <a:r>
                        <a:rPr lang="en-US" sz="800" dirty="0">
                          <a:solidFill>
                            <a:srgbClr val="1A2A40"/>
                          </a:solidFill>
                          <a:latin typeface="Calibri" pitchFamily="34" charset="0"/>
                          <a:ea typeface="Calibri" pitchFamily="34" charset="-122"/>
                          <a:cs typeface="Calibri" pitchFamily="34" charset="-120"/>
                        </a:rPr>
                        <a:t>Alibaba</a:t>
                      </a:r>
                      <a:endParaRPr lang="en-US" sz="800" dirty="0">
                        <a:latin typeface="Calibri" charset="0"/>
                        <a:ea typeface="Calibri" charset="0"/>
                        <a:cs typeface="Calibri" charset="0"/>
                      </a:endParaRPr>
                    </a:p>
                  </a:txBody>
                  <a:tcPr marL="38100" marR="38100" marT="38100" marB="381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marL="0" indent="0" algn="ctr">
                        <a:buNone/>
                      </a:pPr>
                      <a:r>
                        <a:rPr lang="en-US" sz="800" dirty="0">
                          <a:solidFill>
                            <a:srgbClr val="1A2A40"/>
                          </a:solidFill>
                          <a:latin typeface="Calibri" pitchFamily="34" charset="0"/>
                          <a:ea typeface="Calibri" pitchFamily="34" charset="-122"/>
                          <a:cs typeface="Calibri" pitchFamily="34" charset="-120"/>
                        </a:rPr>
                        <a:t>8.0 B</a:t>
                      </a:r>
                      <a:endParaRPr lang="en-US" sz="800" dirty="0">
                        <a:latin typeface="Calibri" charset="0"/>
                        <a:ea typeface="Calibri" charset="0"/>
                        <a:cs typeface="Calibri" charset="0"/>
                      </a:endParaRPr>
                    </a:p>
                  </a:txBody>
                  <a:tcPr marL="38100" marR="38100" marT="38100" marB="381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marL="0" indent="0" algn="ctr">
                        <a:buNone/>
                      </a:pPr>
                      <a:r>
                        <a:rPr lang="en-US" sz="800" dirty="0">
                          <a:solidFill>
                            <a:srgbClr val="1A2A40"/>
                          </a:solidFill>
                          <a:latin typeface="Calibri" pitchFamily="34" charset="0"/>
                          <a:ea typeface="Calibri" pitchFamily="34" charset="-122"/>
                          <a:cs typeface="Calibri" pitchFamily="34" charset="-120"/>
                        </a:rPr>
                        <a:t>4096</a:t>
                      </a:r>
                      <a:endParaRPr lang="en-US" sz="800" dirty="0">
                        <a:latin typeface="Calibri" charset="0"/>
                        <a:ea typeface="Calibri" charset="0"/>
                        <a:cs typeface="Calibri" charset="0"/>
                      </a:endParaRPr>
                    </a:p>
                  </a:txBody>
                  <a:tcPr marL="38100" marR="38100" marT="38100" marB="381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marL="0" indent="0" algn="ctr">
                        <a:buNone/>
                      </a:pPr>
                      <a:r>
                        <a:rPr lang="en-US" sz="800" dirty="0">
                          <a:solidFill>
                            <a:srgbClr val="2D8659"/>
                          </a:solidFill>
                          <a:latin typeface="Calibri" pitchFamily="34" charset="0"/>
                          <a:ea typeface="Calibri" pitchFamily="34" charset="-122"/>
                          <a:cs typeface="Calibri" pitchFamily="34" charset="-120"/>
                        </a:rPr>
                        <a:t>99 %</a:t>
                      </a:r>
                      <a:endParaRPr lang="en-US" sz="800" dirty="0">
                        <a:latin typeface="Calibri" charset="0"/>
                        <a:ea typeface="Calibri" charset="0"/>
                        <a:cs typeface="Calibri" charset="0"/>
                      </a:endParaRPr>
                    </a:p>
                  </a:txBody>
                  <a:tcPr marL="38100" marR="38100" marT="38100" marB="381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marL="0" indent="0" algn="ctr">
                        <a:buNone/>
                      </a:pPr>
                      <a:r>
                        <a:rPr lang="en-US" sz="800" b="1" dirty="0">
                          <a:solidFill>
                            <a:srgbClr val="1A2A40"/>
                          </a:solidFill>
                          <a:latin typeface="Calibri" pitchFamily="34" charset="0"/>
                          <a:ea typeface="Calibri" pitchFamily="34" charset="-122"/>
                          <a:cs typeface="Calibri" pitchFamily="34" charset="-120"/>
                        </a:rPr>
                        <a:t>70.88</a:t>
                      </a:r>
                      <a:endParaRPr lang="en-US" sz="800" dirty="0">
                        <a:latin typeface="Calibri" charset="0"/>
                        <a:ea typeface="Calibri" charset="0"/>
                        <a:cs typeface="Calibri" charset="0"/>
                      </a:endParaRPr>
                    </a:p>
                  </a:txBody>
                  <a:tcPr marL="38100" marR="38100" marT="38100" marB="381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marL="0" indent="0" algn="ctr">
                        <a:buNone/>
                      </a:pPr>
                      <a:r>
                        <a:rPr lang="en-US" sz="800" dirty="0">
                          <a:solidFill>
                            <a:srgbClr val="1A2A40"/>
                          </a:solidFill>
                          <a:latin typeface="Calibri" pitchFamily="34" charset="0"/>
                          <a:ea typeface="Calibri" pitchFamily="34" charset="-122"/>
                          <a:cs typeface="Calibri" pitchFamily="34" charset="-120"/>
                        </a:rPr>
                        <a:t>2</a:t>
                      </a:r>
                      <a:endParaRPr lang="en-US" sz="800" dirty="0">
                        <a:latin typeface="Calibri" charset="0"/>
                        <a:ea typeface="Calibri" charset="0"/>
                        <a:cs typeface="Calibri" charset="0"/>
                      </a:endParaRPr>
                    </a:p>
                  </a:txBody>
                  <a:tcPr marL="38100" marR="38100" marT="38100" marB="381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extLst>
                  <a:ext uri="{0D108BD9-81ED-4DB2-BD59-A6C34878D82A}">
                    <a16:rowId xmlns:a16="http://schemas.microsoft.com/office/drawing/2014/main" val="10001"/>
                  </a:ext>
                </a:extLst>
              </a:tr>
              <a:tr h="288036">
                <a:tc>
                  <a:txBody>
                    <a:bodyPr/>
                    <a:lstStyle/>
                    <a:p>
                      <a:pPr marL="0" indent="0" algn="l">
                        <a:buNone/>
                      </a:pPr>
                      <a:r>
                        <a:rPr lang="en-US" sz="800" dirty="0">
                          <a:solidFill>
                            <a:srgbClr val="1A2A40"/>
                          </a:solidFill>
                          <a:latin typeface="Calibri" pitchFamily="34" charset="0"/>
                          <a:ea typeface="Calibri" pitchFamily="34" charset="-122"/>
                          <a:cs typeface="Calibri" pitchFamily="34" charset="-120"/>
                        </a:rPr>
                        <a:t>Harrier-OSS-v1-0.6B</a:t>
                      </a:r>
                      <a:endParaRPr lang="en-US" sz="800" dirty="0">
                        <a:latin typeface="Calibri" charset="0"/>
                        <a:ea typeface="Calibri" charset="0"/>
                        <a:cs typeface="Calibri" charset="0"/>
                      </a:endParaRPr>
                    </a:p>
                  </a:txBody>
                  <a:tcPr marL="38100" marR="38100" marT="38100" marB="381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marL="0" indent="0" algn="ctr">
                        <a:buNone/>
                      </a:pPr>
                      <a:r>
                        <a:rPr lang="en-US" sz="800" dirty="0">
                          <a:solidFill>
                            <a:srgbClr val="1A2A40"/>
                          </a:solidFill>
                          <a:latin typeface="Calibri" pitchFamily="34" charset="0"/>
                          <a:ea typeface="Calibri" pitchFamily="34" charset="-122"/>
                          <a:cs typeface="Calibri" pitchFamily="34" charset="-120"/>
                        </a:rPr>
                        <a:t>Microsoft</a:t>
                      </a:r>
                      <a:endParaRPr lang="en-US" sz="800" dirty="0">
                        <a:latin typeface="Calibri" charset="0"/>
                        <a:ea typeface="Calibri" charset="0"/>
                        <a:cs typeface="Calibri" charset="0"/>
                      </a:endParaRPr>
                    </a:p>
                  </a:txBody>
                  <a:tcPr marL="38100" marR="38100" marT="38100" marB="381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marL="0" indent="0" algn="ctr">
                        <a:buNone/>
                      </a:pPr>
                      <a:r>
                        <a:rPr lang="en-US" sz="800" dirty="0">
                          <a:solidFill>
                            <a:srgbClr val="1A2A40"/>
                          </a:solidFill>
                          <a:latin typeface="Calibri" pitchFamily="34" charset="0"/>
                          <a:ea typeface="Calibri" pitchFamily="34" charset="-122"/>
                          <a:cs typeface="Calibri" pitchFamily="34" charset="-120"/>
                        </a:rPr>
                        <a:t>0.6 B</a:t>
                      </a:r>
                      <a:endParaRPr lang="en-US" sz="800" dirty="0">
                        <a:latin typeface="Calibri" charset="0"/>
                        <a:ea typeface="Calibri" charset="0"/>
                        <a:cs typeface="Calibri" charset="0"/>
                      </a:endParaRPr>
                    </a:p>
                  </a:txBody>
                  <a:tcPr marL="38100" marR="38100" marT="38100" marB="381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marL="0" indent="0" algn="ctr">
                        <a:buNone/>
                      </a:pPr>
                      <a:r>
                        <a:rPr lang="en-US" sz="800" dirty="0">
                          <a:solidFill>
                            <a:srgbClr val="1A2A40"/>
                          </a:solidFill>
                          <a:latin typeface="Calibri" pitchFamily="34" charset="0"/>
                          <a:ea typeface="Calibri" pitchFamily="34" charset="-122"/>
                          <a:cs typeface="Calibri" pitchFamily="34" charset="-120"/>
                        </a:rPr>
                        <a:t>1024</a:t>
                      </a:r>
                      <a:endParaRPr lang="en-US" sz="800" dirty="0">
                        <a:latin typeface="Calibri" charset="0"/>
                        <a:ea typeface="Calibri" charset="0"/>
                        <a:cs typeface="Calibri" charset="0"/>
                      </a:endParaRPr>
                    </a:p>
                  </a:txBody>
                  <a:tcPr marL="38100" marR="38100" marT="38100" marB="381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marL="0" indent="0" algn="ctr">
                        <a:buNone/>
                      </a:pPr>
                      <a:r>
                        <a:rPr lang="en-US" sz="800" dirty="0">
                          <a:solidFill>
                            <a:srgbClr val="5A6A7C"/>
                          </a:solidFill>
                          <a:latin typeface="Calibri" pitchFamily="34" charset="0"/>
                          <a:ea typeface="Calibri" pitchFamily="34" charset="-122"/>
                          <a:cs typeface="Calibri" pitchFamily="34" charset="-120"/>
                        </a:rPr>
                        <a:t>78 %</a:t>
                      </a:r>
                      <a:endParaRPr lang="en-US" sz="800" dirty="0">
                        <a:latin typeface="Calibri" charset="0"/>
                        <a:ea typeface="Calibri" charset="0"/>
                        <a:cs typeface="Calibri" charset="0"/>
                      </a:endParaRPr>
                    </a:p>
                  </a:txBody>
                  <a:tcPr marL="38100" marR="38100" marT="38100" marB="381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marL="0" indent="0" algn="ctr">
                        <a:buNone/>
                      </a:pPr>
                      <a:r>
                        <a:rPr lang="en-US" sz="800" dirty="0">
                          <a:solidFill>
                            <a:srgbClr val="1A2A40"/>
                          </a:solidFill>
                          <a:latin typeface="Calibri" pitchFamily="34" charset="0"/>
                          <a:ea typeface="Calibri" pitchFamily="34" charset="-122"/>
                          <a:cs typeface="Calibri" pitchFamily="34" charset="-120"/>
                        </a:rPr>
                        <a:t>70.75</a:t>
                      </a:r>
                      <a:endParaRPr lang="en-US" sz="800" dirty="0">
                        <a:latin typeface="Calibri" charset="0"/>
                        <a:ea typeface="Calibri" charset="0"/>
                        <a:cs typeface="Calibri" charset="0"/>
                      </a:endParaRPr>
                    </a:p>
                  </a:txBody>
                  <a:tcPr marL="38100" marR="38100" marT="38100" marB="381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marL="0" indent="0" algn="ctr">
                        <a:buNone/>
                      </a:pPr>
                      <a:r>
                        <a:rPr lang="en-US" sz="800" dirty="0">
                          <a:solidFill>
                            <a:srgbClr val="1A2A40"/>
                          </a:solidFill>
                          <a:latin typeface="Calibri" pitchFamily="34" charset="0"/>
                          <a:ea typeface="Calibri" pitchFamily="34" charset="-122"/>
                          <a:cs typeface="Calibri" pitchFamily="34" charset="-120"/>
                        </a:rPr>
                        <a:t>3</a:t>
                      </a:r>
                      <a:endParaRPr lang="en-US" sz="800" dirty="0">
                        <a:latin typeface="Calibri" charset="0"/>
                        <a:ea typeface="Calibri" charset="0"/>
                        <a:cs typeface="Calibri" charset="0"/>
                      </a:endParaRPr>
                    </a:p>
                  </a:txBody>
                  <a:tcPr marL="38100" marR="38100" marT="38100" marB="381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extLst>
                  <a:ext uri="{0D108BD9-81ED-4DB2-BD59-A6C34878D82A}">
                    <a16:rowId xmlns:a16="http://schemas.microsoft.com/office/drawing/2014/main" val="10002"/>
                  </a:ext>
                </a:extLst>
              </a:tr>
              <a:tr h="288036">
                <a:tc>
                  <a:txBody>
                    <a:bodyPr/>
                    <a:lstStyle/>
                    <a:p>
                      <a:pPr marL="0" indent="0" algn="l">
                        <a:buNone/>
                      </a:pPr>
                      <a:r>
                        <a:rPr lang="en-US" sz="800" dirty="0">
                          <a:solidFill>
                            <a:srgbClr val="1A2A40"/>
                          </a:solidFill>
                          <a:latin typeface="Calibri" pitchFamily="34" charset="0"/>
                          <a:ea typeface="Calibri" pitchFamily="34" charset="-122"/>
                          <a:cs typeface="Calibri" pitchFamily="34" charset="-120"/>
                        </a:rPr>
                        <a:t>Qwen3-Embedding-4B</a:t>
                      </a:r>
                      <a:endParaRPr lang="en-US" sz="800" dirty="0">
                        <a:latin typeface="Calibri" charset="0"/>
                        <a:ea typeface="Calibri" charset="0"/>
                        <a:cs typeface="Calibri" charset="0"/>
                      </a:endParaRPr>
                    </a:p>
                  </a:txBody>
                  <a:tcPr marL="38100" marR="38100" marT="38100" marB="381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marL="0" indent="0" algn="ctr">
                        <a:buNone/>
                      </a:pPr>
                      <a:r>
                        <a:rPr lang="en-US" sz="800" dirty="0">
                          <a:solidFill>
                            <a:srgbClr val="1A2A40"/>
                          </a:solidFill>
                          <a:latin typeface="Calibri" pitchFamily="34" charset="0"/>
                          <a:ea typeface="Calibri" pitchFamily="34" charset="-122"/>
                          <a:cs typeface="Calibri" pitchFamily="34" charset="-120"/>
                        </a:rPr>
                        <a:t>Alibaba</a:t>
                      </a:r>
                      <a:endParaRPr lang="en-US" sz="800" dirty="0">
                        <a:latin typeface="Calibri" charset="0"/>
                        <a:ea typeface="Calibri" charset="0"/>
                        <a:cs typeface="Calibri" charset="0"/>
                      </a:endParaRPr>
                    </a:p>
                  </a:txBody>
                  <a:tcPr marL="38100" marR="38100" marT="38100" marB="381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marL="0" indent="0" algn="ctr">
                        <a:buNone/>
                      </a:pPr>
                      <a:r>
                        <a:rPr lang="en-US" sz="800" dirty="0">
                          <a:solidFill>
                            <a:srgbClr val="1A2A40"/>
                          </a:solidFill>
                          <a:latin typeface="Calibri" pitchFamily="34" charset="0"/>
                          <a:ea typeface="Calibri" pitchFamily="34" charset="-122"/>
                          <a:cs typeface="Calibri" pitchFamily="34" charset="-120"/>
                        </a:rPr>
                        <a:t>4.0 B</a:t>
                      </a:r>
                      <a:endParaRPr lang="en-US" sz="800" dirty="0">
                        <a:latin typeface="Calibri" charset="0"/>
                        <a:ea typeface="Calibri" charset="0"/>
                        <a:cs typeface="Calibri" charset="0"/>
                      </a:endParaRPr>
                    </a:p>
                  </a:txBody>
                  <a:tcPr marL="38100" marR="38100" marT="38100" marB="381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marL="0" indent="0" algn="ctr">
                        <a:buNone/>
                      </a:pPr>
                      <a:r>
                        <a:rPr lang="en-US" sz="800" dirty="0">
                          <a:solidFill>
                            <a:srgbClr val="1A2A40"/>
                          </a:solidFill>
                          <a:latin typeface="Calibri" pitchFamily="34" charset="0"/>
                          <a:ea typeface="Calibri" pitchFamily="34" charset="-122"/>
                          <a:cs typeface="Calibri" pitchFamily="34" charset="-120"/>
                        </a:rPr>
                        <a:t>2560</a:t>
                      </a:r>
                      <a:endParaRPr lang="en-US" sz="800" dirty="0">
                        <a:latin typeface="Calibri" charset="0"/>
                        <a:ea typeface="Calibri" charset="0"/>
                        <a:cs typeface="Calibri" charset="0"/>
                      </a:endParaRPr>
                    </a:p>
                  </a:txBody>
                  <a:tcPr marL="38100" marR="38100" marT="38100" marB="381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marL="0" indent="0" algn="ctr">
                        <a:buNone/>
                      </a:pPr>
                      <a:r>
                        <a:rPr lang="en-US" sz="800" dirty="0">
                          <a:solidFill>
                            <a:srgbClr val="2D8659"/>
                          </a:solidFill>
                          <a:latin typeface="Calibri" pitchFamily="34" charset="0"/>
                          <a:ea typeface="Calibri" pitchFamily="34" charset="-122"/>
                          <a:cs typeface="Calibri" pitchFamily="34" charset="-120"/>
                        </a:rPr>
                        <a:t>99 %</a:t>
                      </a:r>
                      <a:endParaRPr lang="en-US" sz="800" dirty="0">
                        <a:latin typeface="Calibri" charset="0"/>
                        <a:ea typeface="Calibri" charset="0"/>
                        <a:cs typeface="Calibri" charset="0"/>
                      </a:endParaRPr>
                    </a:p>
                  </a:txBody>
                  <a:tcPr marL="38100" marR="38100" marT="38100" marB="381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marL="0" indent="0" algn="ctr">
                        <a:buNone/>
                      </a:pPr>
                      <a:r>
                        <a:rPr lang="en-US" sz="800" dirty="0">
                          <a:solidFill>
                            <a:srgbClr val="1A2A40"/>
                          </a:solidFill>
                          <a:latin typeface="Calibri" pitchFamily="34" charset="0"/>
                          <a:ea typeface="Calibri" pitchFamily="34" charset="-122"/>
                          <a:cs typeface="Calibri" pitchFamily="34" charset="-120"/>
                        </a:rPr>
                        <a:t>69.60</a:t>
                      </a:r>
                      <a:endParaRPr lang="en-US" sz="800" dirty="0">
                        <a:latin typeface="Calibri" charset="0"/>
                        <a:ea typeface="Calibri" charset="0"/>
                        <a:cs typeface="Calibri" charset="0"/>
                      </a:endParaRPr>
                    </a:p>
                  </a:txBody>
                  <a:tcPr marL="38100" marR="38100" marT="38100" marB="381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marL="0" indent="0" algn="ctr">
                        <a:buNone/>
                      </a:pPr>
                      <a:r>
                        <a:rPr lang="en-US" sz="800" dirty="0">
                          <a:solidFill>
                            <a:srgbClr val="1A2A40"/>
                          </a:solidFill>
                          <a:latin typeface="Calibri" pitchFamily="34" charset="0"/>
                          <a:ea typeface="Calibri" pitchFamily="34" charset="-122"/>
                          <a:cs typeface="Calibri" pitchFamily="34" charset="-120"/>
                        </a:rPr>
                        <a:t>5</a:t>
                      </a:r>
                      <a:endParaRPr lang="en-US" sz="800" dirty="0">
                        <a:latin typeface="Calibri" charset="0"/>
                        <a:ea typeface="Calibri" charset="0"/>
                        <a:cs typeface="Calibri" charset="0"/>
                      </a:endParaRPr>
                    </a:p>
                  </a:txBody>
                  <a:tcPr marL="38100" marR="38100" marT="38100" marB="381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extLst>
                  <a:ext uri="{0D108BD9-81ED-4DB2-BD59-A6C34878D82A}">
                    <a16:rowId xmlns:a16="http://schemas.microsoft.com/office/drawing/2014/main" val="10003"/>
                  </a:ext>
                </a:extLst>
              </a:tr>
              <a:tr h="288036">
                <a:tc>
                  <a:txBody>
                    <a:bodyPr/>
                    <a:lstStyle/>
                    <a:p>
                      <a:pPr marL="0" indent="0" algn="l">
                        <a:buNone/>
                      </a:pPr>
                      <a:r>
                        <a:rPr lang="en-US" sz="800" b="1" dirty="0">
                          <a:solidFill>
                            <a:srgbClr val="E8743C"/>
                          </a:solidFill>
                          <a:latin typeface="Calibri" pitchFamily="34" charset="0"/>
                          <a:ea typeface="Calibri" pitchFamily="34" charset="-122"/>
                          <a:cs typeface="Calibri" pitchFamily="34" charset="-120"/>
                        </a:rPr>
                        <a:t>Qwen3-Embedding-0.6B </a:t>
                      </a:r>
                      <a:endParaRPr lang="en-US" sz="800" dirty="0">
                        <a:latin typeface="Calibri" charset="0"/>
                        <a:ea typeface="Calibri" charset="0"/>
                        <a:cs typeface="Calibri" charset="0"/>
                      </a:endParaRPr>
                    </a:p>
                  </a:txBody>
                  <a:tcPr marL="38100" marR="38100" marT="38100" marB="381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4EC"/>
                    </a:solidFill>
                  </a:tcPr>
                </a:tc>
                <a:tc>
                  <a:txBody>
                    <a:bodyPr/>
                    <a:lstStyle/>
                    <a:p>
                      <a:pPr marL="0" indent="0" algn="ctr">
                        <a:buNone/>
                      </a:pPr>
                      <a:r>
                        <a:rPr lang="en-US" sz="800" b="1" dirty="0">
                          <a:solidFill>
                            <a:srgbClr val="1A2A40"/>
                          </a:solidFill>
                          <a:latin typeface="Calibri" pitchFamily="34" charset="0"/>
                          <a:ea typeface="Calibri" pitchFamily="34" charset="-122"/>
                          <a:cs typeface="Calibri" pitchFamily="34" charset="-120"/>
                        </a:rPr>
                        <a:t>Alibaba</a:t>
                      </a:r>
                      <a:endParaRPr lang="en-US" sz="800" dirty="0">
                        <a:latin typeface="Calibri" charset="0"/>
                        <a:ea typeface="Calibri" charset="0"/>
                        <a:cs typeface="Calibri" charset="0"/>
                      </a:endParaRPr>
                    </a:p>
                  </a:txBody>
                  <a:tcPr marL="38100" marR="38100" marT="38100" marB="381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4EC"/>
                    </a:solidFill>
                  </a:tcPr>
                </a:tc>
                <a:tc>
                  <a:txBody>
                    <a:bodyPr/>
                    <a:lstStyle/>
                    <a:p>
                      <a:pPr marL="0" indent="0" algn="ctr">
                        <a:buNone/>
                      </a:pPr>
                      <a:r>
                        <a:rPr lang="en-US" sz="800" b="1" dirty="0">
                          <a:solidFill>
                            <a:srgbClr val="1A2A40"/>
                          </a:solidFill>
                          <a:latin typeface="Calibri" pitchFamily="34" charset="0"/>
                          <a:ea typeface="Calibri" pitchFamily="34" charset="-122"/>
                          <a:cs typeface="Calibri" pitchFamily="34" charset="-120"/>
                        </a:rPr>
                        <a:t>0.6 B</a:t>
                      </a:r>
                      <a:endParaRPr lang="en-US" sz="800" dirty="0">
                        <a:latin typeface="Calibri" charset="0"/>
                        <a:ea typeface="Calibri" charset="0"/>
                        <a:cs typeface="Calibri" charset="0"/>
                      </a:endParaRPr>
                    </a:p>
                  </a:txBody>
                  <a:tcPr marL="38100" marR="38100" marT="38100" marB="381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4EC"/>
                    </a:solidFill>
                  </a:tcPr>
                </a:tc>
                <a:tc>
                  <a:txBody>
                    <a:bodyPr/>
                    <a:lstStyle/>
                    <a:p>
                      <a:pPr marL="0" indent="0" algn="ctr">
                        <a:buNone/>
                      </a:pPr>
                      <a:r>
                        <a:rPr lang="en-US" sz="800" b="1" dirty="0">
                          <a:solidFill>
                            <a:srgbClr val="1A2A40"/>
                          </a:solidFill>
                          <a:latin typeface="Calibri" pitchFamily="34" charset="0"/>
                          <a:ea typeface="Calibri" pitchFamily="34" charset="-122"/>
                          <a:cs typeface="Calibri" pitchFamily="34" charset="-120"/>
                        </a:rPr>
                        <a:t>1024</a:t>
                      </a:r>
                      <a:endParaRPr lang="en-US" sz="800" dirty="0">
                        <a:latin typeface="Calibri" charset="0"/>
                        <a:ea typeface="Calibri" charset="0"/>
                        <a:cs typeface="Calibri" charset="0"/>
                      </a:endParaRPr>
                    </a:p>
                  </a:txBody>
                  <a:tcPr marL="38100" marR="38100" marT="38100" marB="381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4EC"/>
                    </a:solidFill>
                  </a:tcPr>
                </a:tc>
                <a:tc>
                  <a:txBody>
                    <a:bodyPr/>
                    <a:lstStyle/>
                    <a:p>
                      <a:pPr marL="0" indent="0" algn="ctr">
                        <a:buNone/>
                      </a:pPr>
                      <a:r>
                        <a:rPr lang="en-US" sz="800" b="1" dirty="0">
                          <a:solidFill>
                            <a:srgbClr val="2D8659"/>
                          </a:solidFill>
                          <a:latin typeface="Calibri" pitchFamily="34" charset="0"/>
                          <a:ea typeface="Calibri" pitchFamily="34" charset="-122"/>
                          <a:cs typeface="Calibri" pitchFamily="34" charset="-120"/>
                        </a:rPr>
                        <a:t>99 %</a:t>
                      </a:r>
                      <a:endParaRPr lang="en-US" sz="800" dirty="0">
                        <a:latin typeface="Calibri" charset="0"/>
                        <a:ea typeface="Calibri" charset="0"/>
                        <a:cs typeface="Calibri" charset="0"/>
                      </a:endParaRPr>
                    </a:p>
                  </a:txBody>
                  <a:tcPr marL="38100" marR="38100" marT="38100" marB="381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4EC"/>
                    </a:solidFill>
                  </a:tcPr>
                </a:tc>
                <a:tc>
                  <a:txBody>
                    <a:bodyPr/>
                    <a:lstStyle/>
                    <a:p>
                      <a:pPr marL="0" indent="0" algn="ctr">
                        <a:buNone/>
                      </a:pPr>
                      <a:r>
                        <a:rPr lang="en-US" sz="800" b="1" dirty="0">
                          <a:solidFill>
                            <a:srgbClr val="1A2A40"/>
                          </a:solidFill>
                          <a:latin typeface="Calibri" pitchFamily="34" charset="0"/>
                          <a:ea typeface="Calibri" pitchFamily="34" charset="-122"/>
                          <a:cs typeface="Calibri" pitchFamily="34" charset="-120"/>
                        </a:rPr>
                        <a:t>64.84</a:t>
                      </a:r>
                      <a:endParaRPr lang="en-US" sz="800" dirty="0">
                        <a:latin typeface="Calibri" charset="0"/>
                        <a:ea typeface="Calibri" charset="0"/>
                        <a:cs typeface="Calibri" charset="0"/>
                      </a:endParaRPr>
                    </a:p>
                  </a:txBody>
                  <a:tcPr marL="38100" marR="38100" marT="38100" marB="381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4EC"/>
                    </a:solidFill>
                  </a:tcPr>
                </a:tc>
                <a:tc>
                  <a:txBody>
                    <a:bodyPr/>
                    <a:lstStyle/>
                    <a:p>
                      <a:pPr marL="0" indent="0" algn="ctr">
                        <a:buNone/>
                      </a:pPr>
                      <a:r>
                        <a:rPr lang="en-US" sz="800" b="1" dirty="0">
                          <a:solidFill>
                            <a:srgbClr val="1A2A40"/>
                          </a:solidFill>
                          <a:latin typeface="Calibri" pitchFamily="34" charset="0"/>
                          <a:ea typeface="Calibri" pitchFamily="34" charset="-122"/>
                          <a:cs typeface="Calibri" pitchFamily="34" charset="-120"/>
                        </a:rPr>
                        <a:t>14</a:t>
                      </a:r>
                      <a:endParaRPr lang="en-US" sz="800" dirty="0">
                        <a:latin typeface="Calibri" charset="0"/>
                        <a:ea typeface="Calibri" charset="0"/>
                        <a:cs typeface="Calibri" charset="0"/>
                      </a:endParaRPr>
                    </a:p>
                  </a:txBody>
                  <a:tcPr marL="38100" marR="38100" marT="38100" marB="381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4EC"/>
                    </a:solidFill>
                  </a:tcPr>
                </a:tc>
                <a:extLst>
                  <a:ext uri="{0D108BD9-81ED-4DB2-BD59-A6C34878D82A}">
                    <a16:rowId xmlns:a16="http://schemas.microsoft.com/office/drawing/2014/main" val="10004"/>
                  </a:ext>
                </a:extLst>
              </a:tr>
            </a:tbl>
          </a:graphicData>
        </a:graphic>
      </p:graphicFrame>
      <p:sp>
        <p:nvSpPr>
          <p:cNvPr id="9" name="Shape 5">
            <a:extLst>
              <a:ext uri="{FF2B5EF4-FFF2-40B4-BE49-F238E27FC236}">
                <a16:creationId xmlns:a16="http://schemas.microsoft.com/office/drawing/2014/main" id="{6AB7B873-8A8B-4706-A7A7-FA90AF43CEF6}"/>
              </a:ext>
            </a:extLst>
          </p:cNvPr>
          <p:cNvSpPr/>
          <p:nvPr/>
        </p:nvSpPr>
        <p:spPr>
          <a:xfrm>
            <a:off x="445770" y="3374290"/>
            <a:ext cx="4114800" cy="1200150"/>
          </a:xfrm>
          <a:prstGeom prst="rect">
            <a:avLst/>
          </a:prstGeom>
          <a:solidFill>
            <a:srgbClr val="F7F9FB"/>
          </a:solidFill>
          <a:ln/>
        </p:spPr>
      </p:sp>
      <p:sp>
        <p:nvSpPr>
          <p:cNvPr id="10" name="Shape 6">
            <a:extLst>
              <a:ext uri="{FF2B5EF4-FFF2-40B4-BE49-F238E27FC236}">
                <a16:creationId xmlns:a16="http://schemas.microsoft.com/office/drawing/2014/main" id="{37008A8A-9509-48EC-A1A7-B00CE84C65B4}"/>
              </a:ext>
            </a:extLst>
          </p:cNvPr>
          <p:cNvSpPr/>
          <p:nvPr/>
        </p:nvSpPr>
        <p:spPr>
          <a:xfrm>
            <a:off x="445770" y="3374290"/>
            <a:ext cx="54864" cy="1200150"/>
          </a:xfrm>
          <a:prstGeom prst="rect">
            <a:avLst/>
          </a:prstGeom>
          <a:solidFill>
            <a:srgbClr val="E8743C"/>
          </a:solidFill>
          <a:ln/>
        </p:spPr>
      </p:sp>
      <p:sp>
        <p:nvSpPr>
          <p:cNvPr id="11" name="Text 7">
            <a:extLst>
              <a:ext uri="{FF2B5EF4-FFF2-40B4-BE49-F238E27FC236}">
                <a16:creationId xmlns:a16="http://schemas.microsoft.com/office/drawing/2014/main" id="{41435100-D134-49BE-96AE-A25FFEA9DB51}"/>
              </a:ext>
            </a:extLst>
          </p:cNvPr>
          <p:cNvSpPr/>
          <p:nvPr/>
        </p:nvSpPr>
        <p:spPr>
          <a:xfrm>
            <a:off x="617220" y="3442870"/>
            <a:ext cx="3840480" cy="219456"/>
          </a:xfrm>
          <a:prstGeom prst="rect">
            <a:avLst/>
          </a:prstGeom>
          <a:noFill/>
          <a:ln/>
        </p:spPr>
        <p:txBody>
          <a:bodyPr wrap="square" lIns="0" tIns="0" rIns="0" bIns="0" rtlCol="0" anchor="ctr"/>
          <a:lstStyle/>
          <a:p>
            <a:r>
              <a:rPr lang="en-US" sz="975" b="1" dirty="0">
                <a:solidFill>
                  <a:srgbClr val="1A2A40"/>
                </a:solidFill>
                <a:latin typeface="Calibri" pitchFamily="34" charset="0"/>
                <a:ea typeface="Calibri" pitchFamily="34" charset="-122"/>
                <a:cs typeface="Calibri" pitchFamily="34" charset="-120"/>
              </a:rPr>
              <a:t>★  Empfehlung: Qwen3-Embedding-0.6B</a:t>
            </a:r>
            <a:endParaRPr lang="en-US" sz="975" dirty="0"/>
          </a:p>
        </p:txBody>
      </p:sp>
      <p:sp>
        <p:nvSpPr>
          <p:cNvPr id="15" name="Text 8">
            <a:extLst>
              <a:ext uri="{FF2B5EF4-FFF2-40B4-BE49-F238E27FC236}">
                <a16:creationId xmlns:a16="http://schemas.microsoft.com/office/drawing/2014/main" id="{D5F21746-6CF7-4842-A220-17DC71F60B4C}"/>
              </a:ext>
            </a:extLst>
          </p:cNvPr>
          <p:cNvSpPr/>
          <p:nvPr/>
        </p:nvSpPr>
        <p:spPr>
          <a:xfrm>
            <a:off x="617220" y="3682900"/>
            <a:ext cx="3806190" cy="822960"/>
          </a:xfrm>
          <a:prstGeom prst="rect">
            <a:avLst/>
          </a:prstGeom>
          <a:noFill/>
          <a:ln/>
        </p:spPr>
        <p:txBody>
          <a:bodyPr wrap="square" lIns="0" tIns="0" rIns="0" bIns="0" rtlCol="0" anchor="ctr"/>
          <a:lstStyle/>
          <a:p>
            <a:r>
              <a:rPr lang="en-US" sz="825" dirty="0">
                <a:solidFill>
                  <a:srgbClr val="1A2A40"/>
                </a:solidFill>
                <a:latin typeface="Calibri" pitchFamily="34" charset="0"/>
                <a:ea typeface="Calibri" pitchFamily="34" charset="-122"/>
                <a:cs typeface="Calibri" pitchFamily="34" charset="-120"/>
              </a:rPr>
              <a:t>Bestes Verhältnis aus Retrieval-Qualität, Modellgröße und Inferenzkosten. Liefert </a:t>
            </a:r>
            <a:r>
              <a:rPr lang="en-US" sz="825" b="1" dirty="0">
                <a:solidFill>
                  <a:srgbClr val="1A2A40"/>
                </a:solidFill>
                <a:latin typeface="Calibri" pitchFamily="34" charset="0"/>
                <a:ea typeface="Calibri" pitchFamily="34" charset="-122"/>
                <a:cs typeface="Calibri" pitchFamily="34" charset="-120"/>
              </a:rPr>
              <a:t>91 % der nDCG@10 </a:t>
            </a:r>
            <a:r>
              <a:rPr lang="en-US" sz="825" dirty="0">
                <a:solidFill>
                  <a:srgbClr val="1A2A40"/>
                </a:solidFill>
                <a:latin typeface="Calibri" pitchFamily="34" charset="0"/>
                <a:ea typeface="Calibri" pitchFamily="34" charset="-122"/>
                <a:cs typeface="Calibri" pitchFamily="34" charset="-120"/>
              </a:rPr>
              <a:t>des 13× größeren 8B-Geschwistermodells bei deutlich geringerem Speicher- und Compute-</a:t>
            </a:r>
            <a:r>
              <a:rPr lang="en-US" sz="825" dirty="0" err="1">
                <a:solidFill>
                  <a:srgbClr val="1A2A40"/>
                </a:solidFill>
                <a:latin typeface="Calibri" pitchFamily="34" charset="0"/>
                <a:ea typeface="Calibri" pitchFamily="34" charset="-122"/>
                <a:cs typeface="Calibri" pitchFamily="34" charset="-120"/>
              </a:rPr>
              <a:t>Bedarf</a:t>
            </a:r>
            <a:r>
              <a:rPr lang="en-US" sz="825" dirty="0">
                <a:solidFill>
                  <a:srgbClr val="1A2A40"/>
                </a:solidFill>
                <a:latin typeface="Calibri" pitchFamily="34" charset="0"/>
                <a:ea typeface="Calibri" pitchFamily="34" charset="-122"/>
                <a:cs typeface="Calibri" pitchFamily="34" charset="-120"/>
              </a:rPr>
              <a:t> - relevant für Ingestion großer Dokumentmengen.</a:t>
            </a:r>
            <a:endParaRPr lang="en-US" sz="825" dirty="0"/>
          </a:p>
        </p:txBody>
      </p:sp>
      <p:sp>
        <p:nvSpPr>
          <p:cNvPr id="16" name="Shape 9">
            <a:extLst>
              <a:ext uri="{FF2B5EF4-FFF2-40B4-BE49-F238E27FC236}">
                <a16:creationId xmlns:a16="http://schemas.microsoft.com/office/drawing/2014/main" id="{AF374624-A415-4301-A876-2A26E0BCCA5C}"/>
              </a:ext>
            </a:extLst>
          </p:cNvPr>
          <p:cNvSpPr/>
          <p:nvPr/>
        </p:nvSpPr>
        <p:spPr>
          <a:xfrm>
            <a:off x="4766310" y="3374290"/>
            <a:ext cx="4114800" cy="1200150"/>
          </a:xfrm>
          <a:prstGeom prst="rect">
            <a:avLst/>
          </a:prstGeom>
          <a:solidFill>
            <a:srgbClr val="F7F9FB"/>
          </a:solidFill>
          <a:ln/>
        </p:spPr>
      </p:sp>
      <p:sp>
        <p:nvSpPr>
          <p:cNvPr id="17" name="Shape 10">
            <a:extLst>
              <a:ext uri="{FF2B5EF4-FFF2-40B4-BE49-F238E27FC236}">
                <a16:creationId xmlns:a16="http://schemas.microsoft.com/office/drawing/2014/main" id="{BF136372-4158-4CD3-BC3B-15045685A26B}"/>
              </a:ext>
            </a:extLst>
          </p:cNvPr>
          <p:cNvSpPr/>
          <p:nvPr/>
        </p:nvSpPr>
        <p:spPr>
          <a:xfrm>
            <a:off x="4766310" y="3374290"/>
            <a:ext cx="54864" cy="1200150"/>
          </a:xfrm>
          <a:prstGeom prst="rect">
            <a:avLst/>
          </a:prstGeom>
          <a:solidFill>
            <a:srgbClr val="2C3E5C"/>
          </a:solidFill>
          <a:ln/>
        </p:spPr>
      </p:sp>
      <p:sp>
        <p:nvSpPr>
          <p:cNvPr id="18" name="Text 11">
            <a:extLst>
              <a:ext uri="{FF2B5EF4-FFF2-40B4-BE49-F238E27FC236}">
                <a16:creationId xmlns:a16="http://schemas.microsoft.com/office/drawing/2014/main" id="{862EE64A-4AB1-45E3-9AE5-66DA678A64FE}"/>
              </a:ext>
            </a:extLst>
          </p:cNvPr>
          <p:cNvSpPr/>
          <p:nvPr/>
        </p:nvSpPr>
        <p:spPr>
          <a:xfrm>
            <a:off x="4937760" y="3442870"/>
            <a:ext cx="3840480" cy="219456"/>
          </a:xfrm>
          <a:prstGeom prst="rect">
            <a:avLst/>
          </a:prstGeom>
          <a:noFill/>
          <a:ln/>
        </p:spPr>
        <p:txBody>
          <a:bodyPr wrap="square" lIns="0" tIns="0" rIns="0" bIns="0" rtlCol="0" anchor="ctr"/>
          <a:lstStyle/>
          <a:p>
            <a:r>
              <a:rPr lang="en-US" sz="975" b="1" dirty="0">
                <a:solidFill>
                  <a:srgbClr val="1A2A40"/>
                </a:solidFill>
                <a:latin typeface="Calibri" pitchFamily="34" charset="0"/>
                <a:ea typeface="Calibri" pitchFamily="34" charset="-122"/>
                <a:cs typeface="Calibri" pitchFamily="34" charset="-120"/>
              </a:rPr>
              <a:t>Methodische Anmerkungen</a:t>
            </a:r>
            <a:endParaRPr lang="en-US" sz="975" dirty="0"/>
          </a:p>
        </p:txBody>
      </p:sp>
      <p:sp>
        <p:nvSpPr>
          <p:cNvPr id="19" name="Text 12">
            <a:extLst>
              <a:ext uri="{FF2B5EF4-FFF2-40B4-BE49-F238E27FC236}">
                <a16:creationId xmlns:a16="http://schemas.microsoft.com/office/drawing/2014/main" id="{194EB282-7795-4A2E-823D-644BC27C2524}"/>
              </a:ext>
            </a:extLst>
          </p:cNvPr>
          <p:cNvSpPr/>
          <p:nvPr/>
        </p:nvSpPr>
        <p:spPr>
          <a:xfrm>
            <a:off x="4937760" y="3682900"/>
            <a:ext cx="3806190" cy="822960"/>
          </a:xfrm>
          <a:prstGeom prst="rect">
            <a:avLst/>
          </a:prstGeom>
          <a:noFill/>
          <a:ln/>
        </p:spPr>
        <p:txBody>
          <a:bodyPr wrap="square" lIns="0" tIns="0" rIns="0" bIns="0" rtlCol="0" anchor="ctr"/>
          <a:lstStyle/>
          <a:p>
            <a:r>
              <a:rPr lang="en-US" sz="788" b="1" dirty="0">
                <a:solidFill>
                  <a:srgbClr val="1A2A40"/>
                </a:solidFill>
                <a:latin typeface="Calibri" pitchFamily="34" charset="0"/>
                <a:ea typeface="Calibri" pitchFamily="34" charset="-122"/>
                <a:cs typeface="Calibri" pitchFamily="34" charset="-120"/>
              </a:rPr>
              <a:t>Zero-Shot </a:t>
            </a:r>
            <a:r>
              <a:rPr lang="en-US" sz="788" dirty="0">
                <a:solidFill>
                  <a:srgbClr val="1A2A40"/>
                </a:solidFill>
                <a:latin typeface="Calibri" pitchFamily="34" charset="0"/>
                <a:ea typeface="Calibri" pitchFamily="34" charset="-122"/>
                <a:cs typeface="Calibri" pitchFamily="34" charset="-120"/>
              </a:rPr>
              <a:t>= Modell wurde nicht auf den Trainingsdaten des Benchmarks trainiert. Ein hoher Wert ist Voraussetzung für aussagekräftige Vergleiche.</a:t>
            </a:r>
            <a:endParaRPr lang="en-US" sz="788" dirty="0"/>
          </a:p>
          <a:p>
            <a:r>
              <a:rPr lang="en-US" sz="788" dirty="0">
                <a:solidFill>
                  <a:srgbClr val="1A2A40"/>
                </a:solidFill>
                <a:latin typeface="Calibri" pitchFamily="34" charset="0"/>
                <a:ea typeface="Calibri" pitchFamily="34" charset="-122"/>
                <a:cs typeface="Calibri" pitchFamily="34" charset="-120"/>
              </a:rPr>
              <a:t> </a:t>
            </a:r>
            <a:endParaRPr lang="en-US" sz="788" dirty="0"/>
          </a:p>
          <a:p>
            <a:r>
              <a:rPr lang="en-US" sz="788" dirty="0" err="1">
                <a:solidFill>
                  <a:srgbClr val="1A2A40"/>
                </a:solidFill>
                <a:latin typeface="Calibri" pitchFamily="34" charset="0"/>
                <a:ea typeface="Calibri" pitchFamily="34" charset="-122"/>
                <a:cs typeface="Calibri" pitchFamily="34" charset="-120"/>
              </a:rPr>
              <a:t>Unbekanntere</a:t>
            </a:r>
            <a:r>
              <a:rPr lang="en-US" sz="788" dirty="0">
                <a:solidFill>
                  <a:srgbClr val="1A2A40"/>
                </a:solidFill>
                <a:latin typeface="Calibri" pitchFamily="34" charset="0"/>
                <a:ea typeface="Calibri" pitchFamily="34" charset="-122"/>
                <a:cs typeface="Calibri" pitchFamily="34" charset="-120"/>
              </a:rPr>
              <a:t> </a:t>
            </a:r>
            <a:r>
              <a:rPr lang="en-US" sz="788" dirty="0" err="1">
                <a:solidFill>
                  <a:srgbClr val="1A2A40"/>
                </a:solidFill>
                <a:latin typeface="Calibri" pitchFamily="34" charset="0"/>
                <a:ea typeface="Calibri" pitchFamily="34" charset="-122"/>
                <a:cs typeface="Calibri" pitchFamily="34" charset="-120"/>
              </a:rPr>
              <a:t>Spitzenmodelle</a:t>
            </a:r>
            <a:r>
              <a:rPr lang="en-US" sz="788" dirty="0">
                <a:solidFill>
                  <a:srgbClr val="1A2A40"/>
                </a:solidFill>
                <a:latin typeface="Calibri" pitchFamily="34" charset="0"/>
                <a:ea typeface="Calibri" pitchFamily="34" charset="-122"/>
                <a:cs typeface="Calibri" pitchFamily="34" charset="-120"/>
              </a:rPr>
              <a:t> (</a:t>
            </a:r>
            <a:r>
              <a:rPr lang="en-US" sz="788" dirty="0" err="1">
                <a:solidFill>
                  <a:srgbClr val="1A2A40"/>
                </a:solidFill>
                <a:latin typeface="Calibri" pitchFamily="34" charset="0"/>
                <a:ea typeface="Calibri" pitchFamily="34" charset="-122"/>
                <a:cs typeface="Calibri" pitchFamily="34" charset="-120"/>
              </a:rPr>
              <a:t>zb</a:t>
            </a:r>
            <a:r>
              <a:rPr lang="en-US" sz="788" dirty="0">
                <a:solidFill>
                  <a:srgbClr val="1A2A40"/>
                </a:solidFill>
                <a:latin typeface="Calibri" pitchFamily="34" charset="0"/>
                <a:ea typeface="Calibri" pitchFamily="34" charset="-122"/>
                <a:cs typeface="Calibri" pitchFamily="34" charset="-120"/>
              </a:rPr>
              <a:t>. </a:t>
            </a:r>
            <a:r>
              <a:rPr lang="en-US" sz="788" dirty="0" err="1">
                <a:solidFill>
                  <a:srgbClr val="1A2A40"/>
                </a:solidFill>
                <a:latin typeface="Calibri" pitchFamily="34" charset="0"/>
                <a:ea typeface="Calibri" pitchFamily="34" charset="-122"/>
                <a:cs typeface="Calibri" pitchFamily="34" charset="-120"/>
              </a:rPr>
              <a:t>Octen</a:t>
            </a:r>
            <a:r>
              <a:rPr lang="en-US" sz="788" dirty="0">
                <a:solidFill>
                  <a:srgbClr val="1A2A40"/>
                </a:solidFill>
                <a:latin typeface="Calibri" pitchFamily="34" charset="0"/>
                <a:ea typeface="Calibri" pitchFamily="34" charset="-122"/>
                <a:cs typeface="Calibri" pitchFamily="34" charset="-120"/>
              </a:rPr>
              <a:t>-Embedding) wurden ausgeschlossen: hohe Werte, aber kaum Adoption – </a:t>
            </a:r>
            <a:r>
              <a:rPr lang="en-US" sz="788" dirty="0" err="1">
                <a:solidFill>
                  <a:srgbClr val="1A2A40"/>
                </a:solidFill>
                <a:latin typeface="Calibri" pitchFamily="34" charset="0"/>
                <a:ea typeface="Calibri" pitchFamily="34" charset="-122"/>
                <a:cs typeface="Calibri" pitchFamily="34" charset="-120"/>
              </a:rPr>
              <a:t>evtl</a:t>
            </a:r>
            <a:r>
              <a:rPr lang="en-US" sz="788" dirty="0">
                <a:solidFill>
                  <a:srgbClr val="1A2A40"/>
                </a:solidFill>
                <a:latin typeface="Calibri" pitchFamily="34" charset="0"/>
                <a:ea typeface="Calibri" pitchFamily="34" charset="-122"/>
                <a:cs typeface="Calibri" pitchFamily="34" charset="-120"/>
              </a:rPr>
              <a:t>. </a:t>
            </a:r>
            <a:r>
              <a:rPr lang="en-US" sz="788" dirty="0" err="1">
                <a:solidFill>
                  <a:srgbClr val="1A2A40"/>
                </a:solidFill>
                <a:latin typeface="Calibri" pitchFamily="34" charset="0"/>
                <a:ea typeface="Calibri" pitchFamily="34" charset="-122"/>
                <a:cs typeface="Calibri" pitchFamily="34" charset="-120"/>
              </a:rPr>
              <a:t>Risiko</a:t>
            </a:r>
            <a:r>
              <a:rPr lang="en-US" sz="788" dirty="0">
                <a:solidFill>
                  <a:srgbClr val="1A2A40"/>
                </a:solidFill>
                <a:latin typeface="Calibri" pitchFamily="34" charset="0"/>
                <a:ea typeface="Calibri" pitchFamily="34" charset="-122"/>
                <a:cs typeface="Calibri" pitchFamily="34" charset="-120"/>
              </a:rPr>
              <a:t> von Benchmark-Overfitting.</a:t>
            </a:r>
            <a:endParaRPr lang="en-US" sz="788" dirty="0"/>
          </a:p>
        </p:txBody>
      </p:sp>
    </p:spTree>
    <p:extLst>
      <p:ext uri="{BB962C8B-B14F-4D97-AF65-F5344CB8AC3E}">
        <p14:creationId xmlns:p14="http://schemas.microsoft.com/office/powerpoint/2010/main" val="1782036269"/>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3880</Words>
  <Application>Microsoft Office PowerPoint</Application>
  <PresentationFormat>Bildschirmpräsentation (16:9)</PresentationFormat>
  <Paragraphs>463</Paragraphs>
  <Slides>14</Slides>
  <Notes>14</Notes>
  <HiddenSlides>0</HiddenSlides>
  <MMClips>0</MMClips>
  <ScaleCrop>false</ScaleCrop>
  <HeadingPairs>
    <vt:vector size="8" baseType="variant">
      <vt:variant>
        <vt:lpstr>Verwendete Schriftarten</vt:lpstr>
      </vt:variant>
      <vt:variant>
        <vt:i4>5</vt:i4>
      </vt:variant>
      <vt:variant>
        <vt:lpstr>Design</vt:lpstr>
      </vt:variant>
      <vt:variant>
        <vt:i4>1</vt:i4>
      </vt:variant>
      <vt:variant>
        <vt:lpstr>Folientitel</vt:lpstr>
      </vt:variant>
      <vt:variant>
        <vt:i4>14</vt:i4>
      </vt:variant>
      <vt:variant>
        <vt:lpstr>Zielgruppenorientierte Präsentationen</vt:lpstr>
      </vt:variant>
      <vt:variant>
        <vt:i4>1</vt:i4>
      </vt:variant>
    </vt:vector>
  </HeadingPairs>
  <TitlesOfParts>
    <vt:vector size="21" baseType="lpstr">
      <vt:lpstr>Arial</vt:lpstr>
      <vt:lpstr>Calibri</vt:lpstr>
      <vt:lpstr>Calibri Light</vt:lpstr>
      <vt:lpstr>Cambria</vt:lpstr>
      <vt:lpstr>Consolas</vt:lpstr>
      <vt:lpstr>Office</vt:lpstr>
      <vt:lpstr>PowerPoint-Präsentation</vt:lpstr>
      <vt:lpstr>Wozu brauchen wir Vektoren?</vt:lpstr>
      <vt:lpstr>Wie entstehen Wortvektoren?</vt:lpstr>
      <vt:lpstr>Wie entstehen Wortvektoren?</vt:lpstr>
      <vt:lpstr>Bedeutung als Geometrie</vt:lpstr>
      <vt:lpstr>Vektordatenbank vs. relationale DB</vt:lpstr>
      <vt:lpstr>Retrieval</vt:lpstr>
      <vt:lpstr>Wo Vektorsuche allein versagt</vt:lpstr>
      <vt:lpstr>Architekturvorschlag </vt:lpstr>
      <vt:lpstr>PowerPoint-Präsentation</vt:lpstr>
      <vt:lpstr>PowerPoint-Präsentation</vt:lpstr>
      <vt:lpstr>PowerPoint-Präsentation</vt:lpstr>
      <vt:lpstr>PowerPoint-Präsentation</vt:lpstr>
      <vt:lpstr>PowerPoint-Präsentation</vt:lpstr>
      <vt:lpstr>Vortrag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Vektorendatenbanken</dc:title>
  <dc:creator>Jan Kahnes</dc:creator>
  <cp:lastModifiedBy>Jan Kahnes</cp:lastModifiedBy>
  <cp:revision>47</cp:revision>
  <dcterms:created xsi:type="dcterms:W3CDTF">2026-04-23T01:57:39Z</dcterms:created>
  <dcterms:modified xsi:type="dcterms:W3CDTF">2026-05-04T21:01:07Z</dcterms:modified>
</cp:coreProperties>
</file>